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8288000" cy="10287000"/>
  <p:notesSz cx="6858000" cy="9144000"/>
  <p:embeddedFontLst>
    <p:embeddedFont>
      <p:font typeface="Aptos Bold" panose="020B0604020202020204" charset="0"/>
      <p:regular r:id="rId28"/>
    </p:embeddedFont>
    <p:embeddedFont>
      <p:font typeface="Consolas" panose="020B0609020204030204" pitchFamily="49" charset="0"/>
      <p:regular r:id="rId29"/>
      <p:bold r:id="rId30"/>
      <p:italic r:id="rId31"/>
      <p:boldItalic r:id="rId32"/>
    </p:embeddedFont>
    <p:embeddedFont>
      <p:font typeface="Consolas Bold" panose="020B0709020204030204" pitchFamily="49" charset="0"/>
      <p:regular r:id="rId33"/>
      <p:bold r:id="rId34"/>
    </p:embeddedFont>
    <p:embeddedFont>
      <p:font typeface="Montserrat Bold" panose="020B0604020202020204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4440" y="1371600"/>
            <a:ext cx="9601200" cy="411480"/>
            <a:chOff x="0" y="0"/>
            <a:chExt cx="128016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01600" cy="548640"/>
            </a:xfrm>
            <a:custGeom>
              <a:avLst/>
              <a:gdLst/>
              <a:ahLst/>
              <a:cxnLst/>
              <a:rect l="l" t="t" r="r" b="b"/>
              <a:pathLst>
                <a:path w="12801600" h="54864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4650" b="-40465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28016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599">
                  <a:solidFill>
                    <a:srgbClr val="C8A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MYSQL DATABASE PROJECT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34440" y="2047875"/>
            <a:ext cx="10424160" cy="3027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1">
                <a:solidFill>
                  <a:srgbClr val="F7F3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LIBRARY</a:t>
            </a:r>
          </a:p>
          <a:p>
            <a:pPr algn="l">
              <a:lnSpc>
                <a:spcPts val="7920"/>
              </a:lnSpc>
            </a:pPr>
            <a:r>
              <a:rPr lang="en-US" sz="6600" b="1">
                <a:solidFill>
                  <a:srgbClr val="F7F3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MANAGEMENT SYSTEM</a:t>
            </a:r>
          </a:p>
        </p:txBody>
      </p:sp>
      <p:sp>
        <p:nvSpPr>
          <p:cNvPr id="6" name="AutoShape 6"/>
          <p:cNvSpPr/>
          <p:nvPr/>
        </p:nvSpPr>
        <p:spPr>
          <a:xfrm rot="42840">
            <a:off x="1215276" y="5408295"/>
            <a:ext cx="3055858" cy="0"/>
          </a:xfrm>
          <a:prstGeom prst="line">
            <a:avLst/>
          </a:prstGeom>
          <a:ln w="19050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234440" y="5692140"/>
            <a:ext cx="9601200" cy="109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7F3E8"/>
                </a:solidFill>
                <a:latin typeface="Aptos"/>
                <a:ea typeface="Aptos"/>
                <a:cs typeface="Aptos"/>
                <a:sym typeface="Aptos"/>
              </a:rPr>
              <a:t>A Relational Database for Books, Members, Loans, Authors &amp; Fines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34440" y="7406640"/>
            <a:ext cx="8229600" cy="1508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C8A96B"/>
                </a:solidFill>
                <a:latin typeface="Aptos Bold"/>
                <a:ea typeface="Aptos Bold"/>
                <a:cs typeface="Aptos Bold"/>
                <a:sym typeface="Aptos Bold"/>
              </a:rPr>
              <a:t>Sujal Upadhyay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8A96B"/>
                </a:solidFill>
                <a:latin typeface="Aptos"/>
                <a:ea typeface="Aptos"/>
                <a:cs typeface="Aptos"/>
                <a:sym typeface="Aptos"/>
              </a:rPr>
              <a:t>MySQL — Project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8A96B"/>
                </a:solidFill>
                <a:latin typeface="Aptos"/>
                <a:ea typeface="Aptos"/>
                <a:cs typeface="Aptos"/>
                <a:sym typeface="Aptos"/>
              </a:rPr>
              <a:t>2026–27</a:t>
            </a:r>
          </a:p>
        </p:txBody>
      </p:sp>
      <p:sp>
        <p:nvSpPr>
          <p:cNvPr id="9" name="AutoShape 9"/>
          <p:cNvSpPr/>
          <p:nvPr/>
        </p:nvSpPr>
        <p:spPr>
          <a:xfrm rot="1605720">
            <a:off x="13436537" y="2560129"/>
            <a:ext cx="2479167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3331380" y="1768792"/>
            <a:ext cx="494919" cy="494919"/>
            <a:chOff x="0" y="0"/>
            <a:chExt cx="659892" cy="6598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59892" cy="659892"/>
            </a:xfrm>
            <a:custGeom>
              <a:avLst/>
              <a:gdLst/>
              <a:ahLst/>
              <a:cxnLst/>
              <a:rect l="l" t="t" r="r" b="b"/>
              <a:pathLst>
                <a:path w="659892" h="659892">
                  <a:moveTo>
                    <a:pt x="0" y="329946"/>
                  </a:moveTo>
                  <a:cubicBezTo>
                    <a:pt x="0" y="147701"/>
                    <a:pt x="147701" y="0"/>
                    <a:pt x="329946" y="0"/>
                  </a:cubicBezTo>
                  <a:cubicBezTo>
                    <a:pt x="512191" y="0"/>
                    <a:pt x="659892" y="147701"/>
                    <a:pt x="659892" y="329946"/>
                  </a:cubicBezTo>
                  <a:cubicBezTo>
                    <a:pt x="659892" y="512191"/>
                    <a:pt x="512191" y="659892"/>
                    <a:pt x="329946" y="659892"/>
                  </a:cubicBezTo>
                  <a:cubicBezTo>
                    <a:pt x="147701" y="659892"/>
                    <a:pt x="0" y="512191"/>
                    <a:pt x="0" y="329946"/>
                  </a:cubicBezTo>
                  <a:close/>
                </a:path>
              </a:pathLst>
            </a:custGeom>
            <a:solidFill>
              <a:srgbClr val="14213D"/>
            </a:solidFill>
            <a:ln w="28575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5525940" y="2866072"/>
            <a:ext cx="494919" cy="494919"/>
            <a:chOff x="0" y="0"/>
            <a:chExt cx="659892" cy="65989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59892" cy="659892"/>
            </a:xfrm>
            <a:custGeom>
              <a:avLst/>
              <a:gdLst/>
              <a:ahLst/>
              <a:cxnLst/>
              <a:rect l="l" t="t" r="r" b="b"/>
              <a:pathLst>
                <a:path w="659892" h="659892">
                  <a:moveTo>
                    <a:pt x="0" y="329946"/>
                  </a:moveTo>
                  <a:cubicBezTo>
                    <a:pt x="0" y="147701"/>
                    <a:pt x="147701" y="0"/>
                    <a:pt x="329946" y="0"/>
                  </a:cubicBezTo>
                  <a:cubicBezTo>
                    <a:pt x="512191" y="0"/>
                    <a:pt x="659892" y="147701"/>
                    <a:pt x="659892" y="329946"/>
                  </a:cubicBezTo>
                  <a:cubicBezTo>
                    <a:pt x="659892" y="512191"/>
                    <a:pt x="512191" y="659892"/>
                    <a:pt x="329946" y="659892"/>
                  </a:cubicBezTo>
                  <a:cubicBezTo>
                    <a:pt x="147701" y="659892"/>
                    <a:pt x="0" y="512191"/>
                    <a:pt x="0" y="329946"/>
                  </a:cubicBezTo>
                  <a:close/>
                </a:path>
              </a:pathLst>
            </a:custGeom>
            <a:solidFill>
              <a:srgbClr val="14213D"/>
            </a:solidFill>
            <a:ln w="28575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4291500" y="4100512"/>
            <a:ext cx="494919" cy="494919"/>
            <a:chOff x="0" y="0"/>
            <a:chExt cx="659892" cy="65989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9892" cy="659892"/>
            </a:xfrm>
            <a:custGeom>
              <a:avLst/>
              <a:gdLst/>
              <a:ahLst/>
              <a:cxnLst/>
              <a:rect l="l" t="t" r="r" b="b"/>
              <a:pathLst>
                <a:path w="659892" h="659892">
                  <a:moveTo>
                    <a:pt x="0" y="329946"/>
                  </a:moveTo>
                  <a:cubicBezTo>
                    <a:pt x="0" y="147701"/>
                    <a:pt x="147701" y="0"/>
                    <a:pt x="329946" y="0"/>
                  </a:cubicBezTo>
                  <a:cubicBezTo>
                    <a:pt x="512191" y="0"/>
                    <a:pt x="659892" y="147701"/>
                    <a:pt x="659892" y="329946"/>
                  </a:cubicBezTo>
                  <a:cubicBezTo>
                    <a:pt x="659892" y="512191"/>
                    <a:pt x="512191" y="659892"/>
                    <a:pt x="329946" y="659892"/>
                  </a:cubicBezTo>
                  <a:cubicBezTo>
                    <a:pt x="147701" y="659892"/>
                    <a:pt x="0" y="512191"/>
                    <a:pt x="0" y="329946"/>
                  </a:cubicBezTo>
                  <a:close/>
                </a:path>
              </a:pathLst>
            </a:custGeom>
            <a:solidFill>
              <a:srgbClr val="14213D"/>
            </a:solidFill>
            <a:ln w="28575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2202478" y="5893118"/>
            <a:ext cx="585597" cy="2752725"/>
            <a:chOff x="0" y="0"/>
            <a:chExt cx="780796" cy="36703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80796" cy="3670300"/>
            </a:xfrm>
            <a:custGeom>
              <a:avLst/>
              <a:gdLst/>
              <a:ahLst/>
              <a:cxnLst/>
              <a:rect l="l" t="t" r="r" b="b"/>
              <a:pathLst>
                <a:path w="780796" h="3670300">
                  <a:moveTo>
                    <a:pt x="0" y="74422"/>
                  </a:moveTo>
                  <a:cubicBezTo>
                    <a:pt x="0" y="33274"/>
                    <a:pt x="33274" y="0"/>
                    <a:pt x="74422" y="0"/>
                  </a:cubicBezTo>
                  <a:lnTo>
                    <a:pt x="706374" y="0"/>
                  </a:lnTo>
                  <a:cubicBezTo>
                    <a:pt x="747395" y="0"/>
                    <a:pt x="780796" y="33274"/>
                    <a:pt x="780796" y="74422"/>
                  </a:cubicBezTo>
                  <a:lnTo>
                    <a:pt x="780796" y="3595878"/>
                  </a:lnTo>
                  <a:cubicBezTo>
                    <a:pt x="780796" y="3636899"/>
                    <a:pt x="747522" y="3670300"/>
                    <a:pt x="706374" y="3670300"/>
                  </a:cubicBezTo>
                  <a:lnTo>
                    <a:pt x="74422" y="3670300"/>
                  </a:lnTo>
                  <a:cubicBezTo>
                    <a:pt x="33274" y="3670300"/>
                    <a:pt x="0" y="3637026"/>
                    <a:pt x="0" y="3595878"/>
                  </a:cubicBezTo>
                  <a:close/>
                </a:path>
              </a:pathLst>
            </a:custGeom>
            <a:solidFill>
              <a:srgbClr val="1F3A5F"/>
            </a:solidFill>
            <a:ln w="9525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2915710" y="5207318"/>
            <a:ext cx="475869" cy="3438525"/>
            <a:chOff x="0" y="0"/>
            <a:chExt cx="634492" cy="45847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4492" cy="4584700"/>
            </a:xfrm>
            <a:custGeom>
              <a:avLst/>
              <a:gdLst/>
              <a:ahLst/>
              <a:cxnLst/>
              <a:rect l="l" t="t" r="r" b="b"/>
              <a:pathLst>
                <a:path w="634492" h="4584700">
                  <a:moveTo>
                    <a:pt x="0" y="74676"/>
                  </a:moveTo>
                  <a:cubicBezTo>
                    <a:pt x="0" y="33401"/>
                    <a:pt x="33401" y="0"/>
                    <a:pt x="74676" y="0"/>
                  </a:cubicBezTo>
                  <a:lnTo>
                    <a:pt x="559816" y="0"/>
                  </a:lnTo>
                  <a:cubicBezTo>
                    <a:pt x="601091" y="0"/>
                    <a:pt x="634492" y="33401"/>
                    <a:pt x="634492" y="74676"/>
                  </a:cubicBezTo>
                  <a:lnTo>
                    <a:pt x="634492" y="4510024"/>
                  </a:lnTo>
                  <a:cubicBezTo>
                    <a:pt x="634492" y="4551299"/>
                    <a:pt x="601091" y="4584700"/>
                    <a:pt x="559816" y="4584700"/>
                  </a:cubicBezTo>
                  <a:lnTo>
                    <a:pt x="74676" y="4584700"/>
                  </a:lnTo>
                  <a:cubicBezTo>
                    <a:pt x="33401" y="4584700"/>
                    <a:pt x="0" y="4551299"/>
                    <a:pt x="0" y="4510024"/>
                  </a:cubicBezTo>
                  <a:close/>
                </a:path>
              </a:pathLst>
            </a:custGeom>
            <a:solidFill>
              <a:srgbClr val="C8A96B"/>
            </a:solidFill>
            <a:ln w="9525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3519213" y="5618797"/>
            <a:ext cx="640461" cy="3027045"/>
            <a:chOff x="0" y="0"/>
            <a:chExt cx="853948" cy="40360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53948" cy="4036060"/>
            </a:xfrm>
            <a:custGeom>
              <a:avLst/>
              <a:gdLst/>
              <a:ahLst/>
              <a:cxnLst/>
              <a:rect l="l" t="t" r="r" b="b"/>
              <a:pathLst>
                <a:path w="853948" h="4036060">
                  <a:moveTo>
                    <a:pt x="0" y="74295"/>
                  </a:moveTo>
                  <a:cubicBezTo>
                    <a:pt x="0" y="33274"/>
                    <a:pt x="33274" y="0"/>
                    <a:pt x="74295" y="0"/>
                  </a:cubicBezTo>
                  <a:lnTo>
                    <a:pt x="779653" y="0"/>
                  </a:lnTo>
                  <a:cubicBezTo>
                    <a:pt x="820674" y="0"/>
                    <a:pt x="853948" y="33274"/>
                    <a:pt x="853948" y="74295"/>
                  </a:cubicBezTo>
                  <a:lnTo>
                    <a:pt x="853948" y="3961765"/>
                  </a:lnTo>
                  <a:cubicBezTo>
                    <a:pt x="853948" y="4002786"/>
                    <a:pt x="820674" y="4036060"/>
                    <a:pt x="779653" y="4036060"/>
                  </a:cubicBezTo>
                  <a:lnTo>
                    <a:pt x="74295" y="4036060"/>
                  </a:lnTo>
                  <a:cubicBezTo>
                    <a:pt x="33274" y="4036060"/>
                    <a:pt x="0" y="4002786"/>
                    <a:pt x="0" y="3961765"/>
                  </a:cubicBezTo>
                  <a:close/>
                </a:path>
              </a:pathLst>
            </a:custGeom>
            <a:solidFill>
              <a:srgbClr val="667085"/>
            </a:solidFill>
            <a:ln w="9525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4287310" y="4795838"/>
            <a:ext cx="530733" cy="3850005"/>
            <a:chOff x="0" y="0"/>
            <a:chExt cx="707644" cy="51333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07644" cy="5133340"/>
            </a:xfrm>
            <a:custGeom>
              <a:avLst/>
              <a:gdLst/>
              <a:ahLst/>
              <a:cxnLst/>
              <a:rect l="l" t="t" r="r" b="b"/>
              <a:pathLst>
                <a:path w="707644" h="5133340">
                  <a:moveTo>
                    <a:pt x="0" y="74549"/>
                  </a:moveTo>
                  <a:cubicBezTo>
                    <a:pt x="0" y="33401"/>
                    <a:pt x="33401" y="0"/>
                    <a:pt x="74549" y="0"/>
                  </a:cubicBezTo>
                  <a:lnTo>
                    <a:pt x="633095" y="0"/>
                  </a:lnTo>
                  <a:cubicBezTo>
                    <a:pt x="674243" y="0"/>
                    <a:pt x="707644" y="33401"/>
                    <a:pt x="707644" y="74549"/>
                  </a:cubicBezTo>
                  <a:lnTo>
                    <a:pt x="707644" y="5058791"/>
                  </a:lnTo>
                  <a:cubicBezTo>
                    <a:pt x="707644" y="5099939"/>
                    <a:pt x="674243" y="5133340"/>
                    <a:pt x="633095" y="5133340"/>
                  </a:cubicBezTo>
                  <a:lnTo>
                    <a:pt x="74549" y="5133340"/>
                  </a:lnTo>
                  <a:cubicBezTo>
                    <a:pt x="33401" y="5133340"/>
                    <a:pt x="0" y="5099939"/>
                    <a:pt x="0" y="5058791"/>
                  </a:cubicBezTo>
                  <a:close/>
                </a:path>
              </a:pathLst>
            </a:custGeom>
            <a:solidFill>
              <a:srgbClr val="1F3A5F"/>
            </a:solidFill>
            <a:ln w="9525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4945677" y="5481638"/>
            <a:ext cx="613029" cy="3164205"/>
            <a:chOff x="0" y="0"/>
            <a:chExt cx="817372" cy="42189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7372" cy="4218940"/>
            </a:xfrm>
            <a:custGeom>
              <a:avLst/>
              <a:gdLst/>
              <a:ahLst/>
              <a:cxnLst/>
              <a:rect l="l" t="t" r="r" b="b"/>
              <a:pathLst>
                <a:path w="817372" h="4218940">
                  <a:moveTo>
                    <a:pt x="0" y="74295"/>
                  </a:moveTo>
                  <a:cubicBezTo>
                    <a:pt x="0" y="33274"/>
                    <a:pt x="33274" y="0"/>
                    <a:pt x="74295" y="0"/>
                  </a:cubicBezTo>
                  <a:lnTo>
                    <a:pt x="743077" y="0"/>
                  </a:lnTo>
                  <a:cubicBezTo>
                    <a:pt x="784098" y="0"/>
                    <a:pt x="817372" y="33274"/>
                    <a:pt x="817372" y="74295"/>
                  </a:cubicBezTo>
                  <a:lnTo>
                    <a:pt x="817372" y="4144645"/>
                  </a:lnTo>
                  <a:cubicBezTo>
                    <a:pt x="817372" y="4185666"/>
                    <a:pt x="784098" y="4218940"/>
                    <a:pt x="743077" y="4218940"/>
                  </a:cubicBezTo>
                  <a:lnTo>
                    <a:pt x="74295" y="4218940"/>
                  </a:lnTo>
                  <a:cubicBezTo>
                    <a:pt x="33274" y="4218940"/>
                    <a:pt x="0" y="4185666"/>
                    <a:pt x="0" y="4144645"/>
                  </a:cubicBezTo>
                  <a:close/>
                </a:path>
              </a:pathLst>
            </a:custGeom>
            <a:solidFill>
              <a:srgbClr val="C8A96B"/>
            </a:solidFill>
            <a:ln w="9525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5686342" y="5070158"/>
            <a:ext cx="475869" cy="3575685"/>
            <a:chOff x="0" y="0"/>
            <a:chExt cx="634492" cy="47675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34492" cy="4767580"/>
            </a:xfrm>
            <a:custGeom>
              <a:avLst/>
              <a:gdLst/>
              <a:ahLst/>
              <a:cxnLst/>
              <a:rect l="l" t="t" r="r" b="b"/>
              <a:pathLst>
                <a:path w="634492" h="4767580">
                  <a:moveTo>
                    <a:pt x="0" y="74676"/>
                  </a:moveTo>
                  <a:cubicBezTo>
                    <a:pt x="0" y="33401"/>
                    <a:pt x="33401" y="0"/>
                    <a:pt x="74676" y="0"/>
                  </a:cubicBezTo>
                  <a:lnTo>
                    <a:pt x="559816" y="0"/>
                  </a:lnTo>
                  <a:cubicBezTo>
                    <a:pt x="601091" y="0"/>
                    <a:pt x="634492" y="33401"/>
                    <a:pt x="634492" y="74676"/>
                  </a:cubicBezTo>
                  <a:lnTo>
                    <a:pt x="634492" y="4692904"/>
                  </a:lnTo>
                  <a:cubicBezTo>
                    <a:pt x="634492" y="4734179"/>
                    <a:pt x="601091" y="4767580"/>
                    <a:pt x="559816" y="4767580"/>
                  </a:cubicBezTo>
                  <a:lnTo>
                    <a:pt x="74676" y="4767580"/>
                  </a:lnTo>
                  <a:cubicBezTo>
                    <a:pt x="33401" y="4767580"/>
                    <a:pt x="0" y="4734179"/>
                    <a:pt x="0" y="4692904"/>
                  </a:cubicBezTo>
                  <a:close/>
                </a:path>
              </a:pathLst>
            </a:custGeom>
            <a:solidFill>
              <a:srgbClr val="667085"/>
            </a:solidFill>
            <a:ln w="9525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6289846" y="5755958"/>
            <a:ext cx="585597" cy="2889885"/>
            <a:chOff x="0" y="0"/>
            <a:chExt cx="780796" cy="38531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80796" cy="3853180"/>
            </a:xfrm>
            <a:custGeom>
              <a:avLst/>
              <a:gdLst/>
              <a:ahLst/>
              <a:cxnLst/>
              <a:rect l="l" t="t" r="r" b="b"/>
              <a:pathLst>
                <a:path w="780796" h="3853180">
                  <a:moveTo>
                    <a:pt x="0" y="74422"/>
                  </a:moveTo>
                  <a:cubicBezTo>
                    <a:pt x="0" y="33274"/>
                    <a:pt x="33274" y="0"/>
                    <a:pt x="74422" y="0"/>
                  </a:cubicBezTo>
                  <a:lnTo>
                    <a:pt x="706374" y="0"/>
                  </a:lnTo>
                  <a:cubicBezTo>
                    <a:pt x="747395" y="0"/>
                    <a:pt x="780796" y="33274"/>
                    <a:pt x="780796" y="74422"/>
                  </a:cubicBezTo>
                  <a:lnTo>
                    <a:pt x="780796" y="3778758"/>
                  </a:lnTo>
                  <a:cubicBezTo>
                    <a:pt x="780796" y="3819779"/>
                    <a:pt x="747522" y="3853180"/>
                    <a:pt x="706374" y="3853180"/>
                  </a:cubicBezTo>
                  <a:lnTo>
                    <a:pt x="74422" y="3853180"/>
                  </a:lnTo>
                  <a:cubicBezTo>
                    <a:pt x="33401" y="3853180"/>
                    <a:pt x="0" y="3819906"/>
                    <a:pt x="0" y="3778758"/>
                  </a:cubicBezTo>
                  <a:close/>
                </a:path>
              </a:pathLst>
            </a:custGeom>
            <a:solidFill>
              <a:srgbClr val="1F3A5F"/>
            </a:solidFill>
            <a:ln w="9525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11923395" y="8631555"/>
            <a:ext cx="5368290" cy="128778"/>
            <a:chOff x="0" y="0"/>
            <a:chExt cx="7157720" cy="17170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157720" cy="171704"/>
            </a:xfrm>
            <a:custGeom>
              <a:avLst/>
              <a:gdLst/>
              <a:ahLst/>
              <a:cxnLst/>
              <a:rect l="l" t="t" r="r" b="b"/>
              <a:pathLst>
                <a:path w="7157720" h="171704">
                  <a:moveTo>
                    <a:pt x="0" y="0"/>
                  </a:moveTo>
                  <a:lnTo>
                    <a:pt x="7157720" y="0"/>
                  </a:lnTo>
                  <a:lnTo>
                    <a:pt x="7157720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920">
            <a:off x="811044" y="1805750"/>
            <a:ext cx="16661340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2940">
            <a:off x="815816" y="9569006"/>
            <a:ext cx="16651805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22960" y="9683496"/>
            <a:ext cx="10972800" cy="342900"/>
            <a:chOff x="0" y="0"/>
            <a:chExt cx="146304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1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LIBRARY MANAGEMENT SYSTEM  ·  MYSQL DATABASE PROJECT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850392"/>
            <a:ext cx="16637508" cy="850392"/>
            <a:chOff x="0" y="0"/>
            <a:chExt cx="22183344" cy="11338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3344" cy="1133856"/>
            </a:xfrm>
            <a:custGeom>
              <a:avLst/>
              <a:gdLst/>
              <a:ahLst/>
              <a:cxnLst/>
              <a:rect l="l" t="t" r="r" b="b"/>
              <a:pathLst>
                <a:path w="22183344" h="1133856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1215" b="-33121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2183344" cy="1124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Project Overview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2960" y="466344"/>
            <a:ext cx="10972800" cy="342900"/>
            <a:chOff x="0" y="0"/>
            <a:chExt cx="1463040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INTRODUCTION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73400" y="9683496"/>
            <a:ext cx="1687068" cy="342900"/>
            <a:chOff x="0" y="0"/>
            <a:chExt cx="2249424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4" cy="457200"/>
            </a:xfrm>
            <a:custGeom>
              <a:avLst/>
              <a:gdLst/>
              <a:ahLst/>
              <a:cxnLst/>
              <a:rect l="l" t="t" r="r" b="b"/>
              <a:pathLst>
                <a:path w="2249424" h="457200">
                  <a:moveTo>
                    <a:pt x="0" y="0"/>
                  </a:moveTo>
                  <a:lnTo>
                    <a:pt x="2249424" y="0"/>
                  </a:lnTo>
                  <a:lnTo>
                    <a:pt x="22494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866" b="-4586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2494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2 / 25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15816" y="2187416"/>
            <a:ext cx="4952047" cy="7009447"/>
            <a:chOff x="0" y="0"/>
            <a:chExt cx="6602730" cy="934593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602730" cy="9345930"/>
            </a:xfrm>
            <a:custGeom>
              <a:avLst/>
              <a:gdLst/>
              <a:ahLst/>
              <a:cxnLst/>
              <a:rect l="l" t="t" r="r" b="b"/>
              <a:pathLst>
                <a:path w="6602730" h="9345930">
                  <a:moveTo>
                    <a:pt x="0" y="183388"/>
                  </a:moveTo>
                  <a:cubicBezTo>
                    <a:pt x="0" y="82169"/>
                    <a:pt x="82169" y="0"/>
                    <a:pt x="183388" y="0"/>
                  </a:cubicBezTo>
                  <a:lnTo>
                    <a:pt x="6419342" y="0"/>
                  </a:lnTo>
                  <a:cubicBezTo>
                    <a:pt x="6520688" y="0"/>
                    <a:pt x="6602730" y="82169"/>
                    <a:pt x="6602730" y="183388"/>
                  </a:cubicBezTo>
                  <a:lnTo>
                    <a:pt x="6602730" y="9162542"/>
                  </a:lnTo>
                  <a:cubicBezTo>
                    <a:pt x="6602730" y="9263888"/>
                    <a:pt x="6520561" y="9345930"/>
                    <a:pt x="6419342" y="9345930"/>
                  </a:cubicBezTo>
                  <a:lnTo>
                    <a:pt x="183388" y="9345930"/>
                  </a:lnTo>
                  <a:cubicBezTo>
                    <a:pt x="82169" y="9345930"/>
                    <a:pt x="0" y="9263761"/>
                    <a:pt x="0" y="9162542"/>
                  </a:cubicBezTo>
                  <a:close/>
                </a:path>
              </a:pathLst>
            </a:custGeom>
            <a:solidFill>
              <a:srgbClr val="14213D"/>
            </a:solidFill>
            <a:ln w="14288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303020" y="3017520"/>
            <a:ext cx="4114800" cy="411480"/>
            <a:chOff x="0" y="0"/>
            <a:chExt cx="5486400" cy="5486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54864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449">
                  <a:solidFill>
                    <a:srgbClr val="C8A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SYSTEM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303020" y="3566160"/>
            <a:ext cx="3977640" cy="164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7F3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 relational database for the whole library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03020" y="5417820"/>
            <a:ext cx="3977640" cy="164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7F3E8"/>
                </a:solidFill>
                <a:latin typeface="Aptos"/>
                <a:ea typeface="Aptos"/>
                <a:cs typeface="Aptos"/>
                <a:sym typeface="Aptos"/>
              </a:rPr>
              <a:t>Designed in MySQL to manage books, members, authors, book loans and fines.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303020" y="7543800"/>
            <a:ext cx="3977640" cy="548640"/>
            <a:chOff x="0" y="0"/>
            <a:chExt cx="5303520" cy="7315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303520" cy="731520"/>
            </a:xfrm>
            <a:custGeom>
              <a:avLst/>
              <a:gdLst/>
              <a:ahLst/>
              <a:cxnLst/>
              <a:rect l="l" t="t" r="r" b="b"/>
              <a:pathLst>
                <a:path w="5303520" h="731520">
                  <a:moveTo>
                    <a:pt x="0" y="0"/>
                  </a:moveTo>
                  <a:lnTo>
                    <a:pt x="5303520" y="0"/>
                  </a:lnTo>
                  <a:lnTo>
                    <a:pt x="5303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266" b="-91266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53035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C8A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 tables · 15 queries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96476" y="2187416"/>
            <a:ext cx="5555552" cy="2140267"/>
            <a:chOff x="0" y="0"/>
            <a:chExt cx="7407402" cy="285369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407402" cy="2853690"/>
            </a:xfrm>
            <a:custGeom>
              <a:avLst/>
              <a:gdLst/>
              <a:ahLst/>
              <a:cxnLst/>
              <a:rect l="l" t="t" r="r" b="b"/>
              <a:pathLst>
                <a:path w="7407402" h="285369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7223252" y="0"/>
                  </a:lnTo>
                  <a:cubicBezTo>
                    <a:pt x="7324979" y="0"/>
                    <a:pt x="7407402" y="82423"/>
                    <a:pt x="7407402" y="184150"/>
                  </a:cubicBezTo>
                  <a:lnTo>
                    <a:pt x="7407402" y="2669540"/>
                  </a:lnTo>
                  <a:cubicBezTo>
                    <a:pt x="7407402" y="2771267"/>
                    <a:pt x="7324979" y="2853690"/>
                    <a:pt x="7223252" y="2853690"/>
                  </a:cubicBezTo>
                  <a:lnTo>
                    <a:pt x="184150" y="2853690"/>
                  </a:lnTo>
                  <a:cubicBezTo>
                    <a:pt x="82423" y="2853690"/>
                    <a:pt x="0" y="2771267"/>
                    <a:pt x="0" y="266954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6446520" y="2468880"/>
            <a:ext cx="960120" cy="480060"/>
            <a:chOff x="0" y="0"/>
            <a:chExt cx="1280160" cy="6400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80160" cy="640080"/>
            </a:xfrm>
            <a:custGeom>
              <a:avLst/>
              <a:gdLst/>
              <a:ahLst/>
              <a:cxnLst/>
              <a:rect l="l" t="t" r="r" b="b"/>
              <a:pathLst>
                <a:path w="1280160" h="640080">
                  <a:moveTo>
                    <a:pt x="0" y="0"/>
                  </a:moveTo>
                  <a:lnTo>
                    <a:pt x="1280160" y="0"/>
                  </a:lnTo>
                  <a:lnTo>
                    <a:pt x="1280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128016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446520" y="3017520"/>
            <a:ext cx="4937760" cy="480060"/>
            <a:chOff x="0" y="0"/>
            <a:chExt cx="6583680" cy="64008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583680" cy="640080"/>
            </a:xfrm>
            <a:custGeom>
              <a:avLst/>
              <a:gdLst/>
              <a:ahLst/>
              <a:cxnLst/>
              <a:rect l="l" t="t" r="r" b="b"/>
              <a:pathLst>
                <a:path w="6583680" h="6400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0417" b="-150417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658368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Book Management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446520" y="3525012"/>
            <a:ext cx="4937760" cy="480060"/>
            <a:chOff x="0" y="0"/>
            <a:chExt cx="6583680" cy="64008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583680" cy="640080"/>
            </a:xfrm>
            <a:custGeom>
              <a:avLst/>
              <a:gdLst/>
              <a:ahLst/>
              <a:cxnLst/>
              <a:rect l="l" t="t" r="r" b="b"/>
              <a:pathLst>
                <a:path w="6583680" h="6400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0417" b="-150417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658368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Titles, genres, publication years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912060" y="2187416"/>
            <a:ext cx="5555552" cy="2140267"/>
            <a:chOff x="0" y="0"/>
            <a:chExt cx="7407402" cy="285369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407402" cy="2853690"/>
            </a:xfrm>
            <a:custGeom>
              <a:avLst/>
              <a:gdLst/>
              <a:ahLst/>
              <a:cxnLst/>
              <a:rect l="l" t="t" r="r" b="b"/>
              <a:pathLst>
                <a:path w="7407402" h="285369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7223252" y="0"/>
                  </a:lnTo>
                  <a:cubicBezTo>
                    <a:pt x="7324979" y="0"/>
                    <a:pt x="7407402" y="82423"/>
                    <a:pt x="7407402" y="184150"/>
                  </a:cubicBezTo>
                  <a:lnTo>
                    <a:pt x="7407402" y="2669540"/>
                  </a:lnTo>
                  <a:cubicBezTo>
                    <a:pt x="7407402" y="2771267"/>
                    <a:pt x="7324979" y="2853690"/>
                    <a:pt x="7223252" y="2853690"/>
                  </a:cubicBezTo>
                  <a:lnTo>
                    <a:pt x="184150" y="2853690"/>
                  </a:lnTo>
                  <a:cubicBezTo>
                    <a:pt x="82423" y="2853690"/>
                    <a:pt x="0" y="2771267"/>
                    <a:pt x="0" y="266954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12262104" y="2468880"/>
            <a:ext cx="960120" cy="480060"/>
            <a:chOff x="0" y="0"/>
            <a:chExt cx="1280160" cy="64008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280160" cy="640080"/>
            </a:xfrm>
            <a:custGeom>
              <a:avLst/>
              <a:gdLst/>
              <a:ahLst/>
              <a:cxnLst/>
              <a:rect l="l" t="t" r="r" b="b"/>
              <a:pathLst>
                <a:path w="1280160" h="640080">
                  <a:moveTo>
                    <a:pt x="0" y="0"/>
                  </a:moveTo>
                  <a:lnTo>
                    <a:pt x="1280160" y="0"/>
                  </a:lnTo>
                  <a:lnTo>
                    <a:pt x="1280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128016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2262104" y="3017520"/>
            <a:ext cx="4937760" cy="480060"/>
            <a:chOff x="0" y="0"/>
            <a:chExt cx="6583680" cy="64008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583680" cy="640080"/>
            </a:xfrm>
            <a:custGeom>
              <a:avLst/>
              <a:gdLst/>
              <a:ahLst/>
              <a:cxnLst/>
              <a:rect l="l" t="t" r="r" b="b"/>
              <a:pathLst>
                <a:path w="6583680" h="6400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0417" b="-150417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658368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Member Management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262104" y="3525012"/>
            <a:ext cx="4937760" cy="480060"/>
            <a:chOff x="0" y="0"/>
            <a:chExt cx="6583680" cy="64008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583680" cy="640080"/>
            </a:xfrm>
            <a:custGeom>
              <a:avLst/>
              <a:gdLst/>
              <a:ahLst/>
              <a:cxnLst/>
              <a:rect l="l" t="t" r="r" b="b"/>
              <a:pathLst>
                <a:path w="6583680" h="6400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0417" b="-150417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9525"/>
              <a:ext cx="658368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Profiles and membership dates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96476" y="4587716"/>
            <a:ext cx="5555552" cy="2140267"/>
            <a:chOff x="0" y="0"/>
            <a:chExt cx="7407402" cy="285369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407402" cy="2853690"/>
            </a:xfrm>
            <a:custGeom>
              <a:avLst/>
              <a:gdLst/>
              <a:ahLst/>
              <a:cxnLst/>
              <a:rect l="l" t="t" r="r" b="b"/>
              <a:pathLst>
                <a:path w="7407402" h="285369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7223252" y="0"/>
                  </a:lnTo>
                  <a:cubicBezTo>
                    <a:pt x="7324979" y="0"/>
                    <a:pt x="7407402" y="82423"/>
                    <a:pt x="7407402" y="184150"/>
                  </a:cubicBezTo>
                  <a:lnTo>
                    <a:pt x="7407402" y="2669540"/>
                  </a:lnTo>
                  <a:cubicBezTo>
                    <a:pt x="7407402" y="2771267"/>
                    <a:pt x="7324979" y="2853690"/>
                    <a:pt x="7223252" y="2853690"/>
                  </a:cubicBezTo>
                  <a:lnTo>
                    <a:pt x="184150" y="2853690"/>
                  </a:lnTo>
                  <a:cubicBezTo>
                    <a:pt x="82423" y="2853690"/>
                    <a:pt x="0" y="2771267"/>
                    <a:pt x="0" y="266954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6446520" y="4869180"/>
            <a:ext cx="960120" cy="480060"/>
            <a:chOff x="0" y="0"/>
            <a:chExt cx="1280160" cy="64008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280160" cy="640080"/>
            </a:xfrm>
            <a:custGeom>
              <a:avLst/>
              <a:gdLst/>
              <a:ahLst/>
              <a:cxnLst/>
              <a:rect l="l" t="t" r="r" b="b"/>
              <a:pathLst>
                <a:path w="1280160" h="640080">
                  <a:moveTo>
                    <a:pt x="0" y="0"/>
                  </a:moveTo>
                  <a:lnTo>
                    <a:pt x="1280160" y="0"/>
                  </a:lnTo>
                  <a:lnTo>
                    <a:pt x="1280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128016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446520" y="5417820"/>
            <a:ext cx="4937760" cy="480060"/>
            <a:chOff x="0" y="0"/>
            <a:chExt cx="6583680" cy="64008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583680" cy="640080"/>
            </a:xfrm>
            <a:custGeom>
              <a:avLst/>
              <a:gdLst/>
              <a:ahLst/>
              <a:cxnLst/>
              <a:rect l="l" t="t" r="r" b="b"/>
              <a:pathLst>
                <a:path w="6583680" h="6400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0417" b="-150417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0"/>
              <a:ext cx="658368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Loan Tracking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446520" y="5925312"/>
            <a:ext cx="4937760" cy="480060"/>
            <a:chOff x="0" y="0"/>
            <a:chExt cx="6583680" cy="64008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583680" cy="640080"/>
            </a:xfrm>
            <a:custGeom>
              <a:avLst/>
              <a:gdLst/>
              <a:ahLst/>
              <a:cxnLst/>
              <a:rect l="l" t="t" r="r" b="b"/>
              <a:pathLst>
                <a:path w="6583680" h="6400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0417" b="-150417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658368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Issue and return records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1912060" y="4587716"/>
            <a:ext cx="5555552" cy="2140267"/>
            <a:chOff x="0" y="0"/>
            <a:chExt cx="7407402" cy="285369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7407402" cy="2853690"/>
            </a:xfrm>
            <a:custGeom>
              <a:avLst/>
              <a:gdLst/>
              <a:ahLst/>
              <a:cxnLst/>
              <a:rect l="l" t="t" r="r" b="b"/>
              <a:pathLst>
                <a:path w="7407402" h="285369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7223252" y="0"/>
                  </a:lnTo>
                  <a:cubicBezTo>
                    <a:pt x="7324979" y="0"/>
                    <a:pt x="7407402" y="82423"/>
                    <a:pt x="7407402" y="184150"/>
                  </a:cubicBezTo>
                  <a:lnTo>
                    <a:pt x="7407402" y="2669540"/>
                  </a:lnTo>
                  <a:cubicBezTo>
                    <a:pt x="7407402" y="2771267"/>
                    <a:pt x="7324979" y="2853690"/>
                    <a:pt x="7223252" y="2853690"/>
                  </a:cubicBezTo>
                  <a:lnTo>
                    <a:pt x="184150" y="2853690"/>
                  </a:lnTo>
                  <a:cubicBezTo>
                    <a:pt x="82423" y="2853690"/>
                    <a:pt x="0" y="2771267"/>
                    <a:pt x="0" y="266954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12262104" y="4869180"/>
            <a:ext cx="960120" cy="480060"/>
            <a:chOff x="0" y="0"/>
            <a:chExt cx="1280160" cy="64008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280160" cy="640080"/>
            </a:xfrm>
            <a:custGeom>
              <a:avLst/>
              <a:gdLst/>
              <a:ahLst/>
              <a:cxnLst/>
              <a:rect l="l" t="t" r="r" b="b"/>
              <a:pathLst>
                <a:path w="1280160" h="640080">
                  <a:moveTo>
                    <a:pt x="0" y="0"/>
                  </a:moveTo>
                  <a:lnTo>
                    <a:pt x="1280160" y="0"/>
                  </a:lnTo>
                  <a:lnTo>
                    <a:pt x="1280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0"/>
              <a:ext cx="128016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2262104" y="5417820"/>
            <a:ext cx="4937760" cy="480060"/>
            <a:chOff x="0" y="0"/>
            <a:chExt cx="6583680" cy="64008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583680" cy="640080"/>
            </a:xfrm>
            <a:custGeom>
              <a:avLst/>
              <a:gdLst/>
              <a:ahLst/>
              <a:cxnLst/>
              <a:rect l="l" t="t" r="r" b="b"/>
              <a:pathLst>
                <a:path w="6583680" h="6400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0417" b="-150417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0"/>
              <a:ext cx="658368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Author Management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2262104" y="5925312"/>
            <a:ext cx="4937760" cy="480060"/>
            <a:chOff x="0" y="0"/>
            <a:chExt cx="6583680" cy="64008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6583680" cy="640080"/>
            </a:xfrm>
            <a:custGeom>
              <a:avLst/>
              <a:gdLst/>
              <a:ahLst/>
              <a:cxnLst/>
              <a:rect l="l" t="t" r="r" b="b"/>
              <a:pathLst>
                <a:path w="6583680" h="6400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0417" b="-150417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9525"/>
              <a:ext cx="658368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Authors linked to books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096476" y="6988016"/>
            <a:ext cx="5555552" cy="2140267"/>
            <a:chOff x="0" y="0"/>
            <a:chExt cx="7407402" cy="285369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7407402" cy="2853690"/>
            </a:xfrm>
            <a:custGeom>
              <a:avLst/>
              <a:gdLst/>
              <a:ahLst/>
              <a:cxnLst/>
              <a:rect l="l" t="t" r="r" b="b"/>
              <a:pathLst>
                <a:path w="7407402" h="285369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7223252" y="0"/>
                  </a:lnTo>
                  <a:cubicBezTo>
                    <a:pt x="7324979" y="0"/>
                    <a:pt x="7407402" y="82423"/>
                    <a:pt x="7407402" y="184150"/>
                  </a:cubicBezTo>
                  <a:lnTo>
                    <a:pt x="7407402" y="2669540"/>
                  </a:lnTo>
                  <a:cubicBezTo>
                    <a:pt x="7407402" y="2771267"/>
                    <a:pt x="7324979" y="2853690"/>
                    <a:pt x="7223252" y="2853690"/>
                  </a:cubicBezTo>
                  <a:lnTo>
                    <a:pt x="184150" y="2853690"/>
                  </a:lnTo>
                  <a:cubicBezTo>
                    <a:pt x="82423" y="2853690"/>
                    <a:pt x="0" y="2771267"/>
                    <a:pt x="0" y="266954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6446520" y="7269480"/>
            <a:ext cx="960120" cy="480060"/>
            <a:chOff x="0" y="0"/>
            <a:chExt cx="1280160" cy="64008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280160" cy="640080"/>
            </a:xfrm>
            <a:custGeom>
              <a:avLst/>
              <a:gdLst/>
              <a:ahLst/>
              <a:cxnLst/>
              <a:rect l="l" t="t" r="r" b="b"/>
              <a:pathLst>
                <a:path w="1280160" h="640080">
                  <a:moveTo>
                    <a:pt x="0" y="0"/>
                  </a:moveTo>
                  <a:lnTo>
                    <a:pt x="1280160" y="0"/>
                  </a:lnTo>
                  <a:lnTo>
                    <a:pt x="1280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0"/>
              <a:ext cx="128016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05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446520" y="7818120"/>
            <a:ext cx="4937760" cy="480060"/>
            <a:chOff x="0" y="0"/>
            <a:chExt cx="6583680" cy="64008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6583680" cy="640080"/>
            </a:xfrm>
            <a:custGeom>
              <a:avLst/>
              <a:gdLst/>
              <a:ahLst/>
              <a:cxnLst/>
              <a:rect l="l" t="t" r="r" b="b"/>
              <a:pathLst>
                <a:path w="6583680" h="6400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0417" b="-150417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0"/>
              <a:ext cx="658368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Fine Management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446520" y="8325612"/>
            <a:ext cx="4937760" cy="480060"/>
            <a:chOff x="0" y="0"/>
            <a:chExt cx="6583680" cy="64008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6583680" cy="640080"/>
            </a:xfrm>
            <a:custGeom>
              <a:avLst/>
              <a:gdLst/>
              <a:ahLst/>
              <a:cxnLst/>
              <a:rect l="l" t="t" r="r" b="b"/>
              <a:pathLst>
                <a:path w="6583680" h="6400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0417" b="-150417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9525"/>
              <a:ext cx="658368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Fine amounts and payments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1912060" y="6988016"/>
            <a:ext cx="5555552" cy="2140267"/>
            <a:chOff x="0" y="0"/>
            <a:chExt cx="7407402" cy="285369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7407402" cy="2853690"/>
            </a:xfrm>
            <a:custGeom>
              <a:avLst/>
              <a:gdLst/>
              <a:ahLst/>
              <a:cxnLst/>
              <a:rect l="l" t="t" r="r" b="b"/>
              <a:pathLst>
                <a:path w="7407402" h="285369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7223252" y="0"/>
                  </a:lnTo>
                  <a:cubicBezTo>
                    <a:pt x="7324979" y="0"/>
                    <a:pt x="7407402" y="82423"/>
                    <a:pt x="7407402" y="184150"/>
                  </a:cubicBezTo>
                  <a:lnTo>
                    <a:pt x="7407402" y="2669540"/>
                  </a:lnTo>
                  <a:cubicBezTo>
                    <a:pt x="7407402" y="2771267"/>
                    <a:pt x="7324979" y="2853690"/>
                    <a:pt x="7223252" y="2853690"/>
                  </a:cubicBezTo>
                  <a:lnTo>
                    <a:pt x="184150" y="2853690"/>
                  </a:lnTo>
                  <a:cubicBezTo>
                    <a:pt x="82423" y="2853690"/>
                    <a:pt x="0" y="2771267"/>
                    <a:pt x="0" y="266954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83" name="Group 83"/>
          <p:cNvGrpSpPr/>
          <p:nvPr/>
        </p:nvGrpSpPr>
        <p:grpSpPr>
          <a:xfrm>
            <a:off x="12262104" y="7269480"/>
            <a:ext cx="960120" cy="480060"/>
            <a:chOff x="0" y="0"/>
            <a:chExt cx="1280160" cy="64008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1280160" cy="640080"/>
            </a:xfrm>
            <a:custGeom>
              <a:avLst/>
              <a:gdLst/>
              <a:ahLst/>
              <a:cxnLst/>
              <a:rect l="l" t="t" r="r" b="b"/>
              <a:pathLst>
                <a:path w="1280160" h="640080">
                  <a:moveTo>
                    <a:pt x="0" y="0"/>
                  </a:moveTo>
                  <a:lnTo>
                    <a:pt x="1280160" y="0"/>
                  </a:lnTo>
                  <a:lnTo>
                    <a:pt x="1280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0"/>
              <a:ext cx="128016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06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2262104" y="7818120"/>
            <a:ext cx="4937760" cy="480060"/>
            <a:chOff x="0" y="0"/>
            <a:chExt cx="6583680" cy="64008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583680" cy="640080"/>
            </a:xfrm>
            <a:custGeom>
              <a:avLst/>
              <a:gdLst/>
              <a:ahLst/>
              <a:cxnLst/>
              <a:rect l="l" t="t" r="r" b="b"/>
              <a:pathLst>
                <a:path w="6583680" h="6400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0417" b="-150417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0"/>
              <a:ext cx="658368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Library Analysis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2262104" y="8325612"/>
            <a:ext cx="4937760" cy="480060"/>
            <a:chOff x="0" y="0"/>
            <a:chExt cx="6583680" cy="64008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6583680" cy="640080"/>
            </a:xfrm>
            <a:custGeom>
              <a:avLst/>
              <a:gdLst/>
              <a:ahLst/>
              <a:cxnLst/>
              <a:rect l="l" t="t" r="r" b="b"/>
              <a:pathLst>
                <a:path w="6583680" h="6400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0417" b="-150417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9525"/>
              <a:ext cx="658368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Popular books, active members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920">
            <a:off x="811044" y="1805750"/>
            <a:ext cx="16661340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2940">
            <a:off x="815816" y="9569006"/>
            <a:ext cx="16651805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22960" y="9683496"/>
            <a:ext cx="10972800" cy="342900"/>
            <a:chOff x="0" y="0"/>
            <a:chExt cx="146304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1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LIBRARY MANAGEMENT SYSTEM  ·  MYSQL DATABASE PROJECT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850392"/>
            <a:ext cx="16637508" cy="850392"/>
            <a:chOff x="0" y="0"/>
            <a:chExt cx="22183344" cy="11338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3344" cy="1133856"/>
            </a:xfrm>
            <a:custGeom>
              <a:avLst/>
              <a:gdLst/>
              <a:ahLst/>
              <a:cxnLst/>
              <a:rect l="l" t="t" r="r" b="b"/>
              <a:pathLst>
                <a:path w="22183344" h="1133856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1215" b="-33121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2183344" cy="1124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Problem Statement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2960" y="466344"/>
            <a:ext cx="10972800" cy="342900"/>
            <a:chOff x="0" y="0"/>
            <a:chExt cx="1463040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INTRODUCTION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73400" y="9683496"/>
            <a:ext cx="1687068" cy="342900"/>
            <a:chOff x="0" y="0"/>
            <a:chExt cx="2249424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4" cy="457200"/>
            </a:xfrm>
            <a:custGeom>
              <a:avLst/>
              <a:gdLst/>
              <a:ahLst/>
              <a:cxnLst/>
              <a:rect l="l" t="t" r="r" b="b"/>
              <a:pathLst>
                <a:path w="2249424" h="457200">
                  <a:moveTo>
                    <a:pt x="0" y="0"/>
                  </a:moveTo>
                  <a:lnTo>
                    <a:pt x="2249424" y="0"/>
                  </a:lnTo>
                  <a:lnTo>
                    <a:pt x="22494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866" b="-4586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2494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3 / 25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15816" y="2187416"/>
            <a:ext cx="10164128" cy="4952047"/>
            <a:chOff x="0" y="0"/>
            <a:chExt cx="13552170" cy="660273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552171" cy="6602730"/>
            </a:xfrm>
            <a:custGeom>
              <a:avLst/>
              <a:gdLst/>
              <a:ahLst/>
              <a:cxnLst/>
              <a:rect l="l" t="t" r="r" b="b"/>
              <a:pathLst>
                <a:path w="13552171" h="6602730">
                  <a:moveTo>
                    <a:pt x="0" y="183388"/>
                  </a:moveTo>
                  <a:cubicBezTo>
                    <a:pt x="0" y="82169"/>
                    <a:pt x="82169" y="0"/>
                    <a:pt x="183388" y="0"/>
                  </a:cubicBezTo>
                  <a:lnTo>
                    <a:pt x="13368782" y="0"/>
                  </a:lnTo>
                  <a:cubicBezTo>
                    <a:pt x="13470128" y="0"/>
                    <a:pt x="13552171" y="82169"/>
                    <a:pt x="13552171" y="183388"/>
                  </a:cubicBezTo>
                  <a:lnTo>
                    <a:pt x="13552171" y="6419342"/>
                  </a:lnTo>
                  <a:cubicBezTo>
                    <a:pt x="13552171" y="6520688"/>
                    <a:pt x="13470001" y="6602730"/>
                    <a:pt x="13368782" y="6602730"/>
                  </a:cubicBezTo>
                  <a:lnTo>
                    <a:pt x="183388" y="6602730"/>
                  </a:lnTo>
                  <a:cubicBezTo>
                    <a:pt x="82169" y="6602730"/>
                    <a:pt x="0" y="6520561"/>
                    <a:pt x="0" y="641934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303020" y="2468880"/>
            <a:ext cx="8915400" cy="548640"/>
            <a:chOff x="0" y="0"/>
            <a:chExt cx="11887200" cy="7315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887200" cy="731520"/>
            </a:xfrm>
            <a:custGeom>
              <a:avLst/>
              <a:gdLst/>
              <a:ahLst/>
              <a:cxnLst/>
              <a:rect l="l" t="t" r="r" b="b"/>
              <a:pathLst>
                <a:path w="11887200" h="731520">
                  <a:moveTo>
                    <a:pt x="0" y="0"/>
                  </a:moveTo>
                  <a:lnTo>
                    <a:pt x="11887200" y="0"/>
                  </a:lnTo>
                  <a:lnTo>
                    <a:pt x="1188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6631" b="-266631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118872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F3A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Manual management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03020" y="3223260"/>
            <a:ext cx="411480" cy="548640"/>
            <a:chOff x="0" y="0"/>
            <a:chExt cx="548640" cy="7315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48640" cy="731520"/>
            </a:xfrm>
            <a:custGeom>
              <a:avLst/>
              <a:gdLst/>
              <a:ahLst/>
              <a:cxnLst/>
              <a:rect l="l" t="t" r="r" b="b"/>
              <a:pathLst>
                <a:path w="548640" h="731520">
                  <a:moveTo>
                    <a:pt x="0" y="0"/>
                  </a:moveTo>
                  <a:lnTo>
                    <a:pt x="548640" y="0"/>
                  </a:lnTo>
                  <a:lnTo>
                    <a:pt x="548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r="-121071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5486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C8A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✕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51660" y="3223260"/>
            <a:ext cx="8778240" cy="548640"/>
            <a:chOff x="0" y="0"/>
            <a:chExt cx="11704320" cy="7315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704320" cy="731520"/>
            </a:xfrm>
            <a:custGeom>
              <a:avLst/>
              <a:gdLst/>
              <a:ahLst/>
              <a:cxnLst/>
              <a:rect l="l" t="t" r="r" b="b"/>
              <a:pathLst>
                <a:path w="11704320" h="731520">
                  <a:moveTo>
                    <a:pt x="0" y="0"/>
                  </a:moveTo>
                  <a:lnTo>
                    <a:pt x="11704320" y="0"/>
                  </a:lnTo>
                  <a:lnTo>
                    <a:pt x="11704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117043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Difficult to track book availability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03020" y="3867912"/>
            <a:ext cx="411480" cy="548640"/>
            <a:chOff x="0" y="0"/>
            <a:chExt cx="548640" cy="7315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48640" cy="731520"/>
            </a:xfrm>
            <a:custGeom>
              <a:avLst/>
              <a:gdLst/>
              <a:ahLst/>
              <a:cxnLst/>
              <a:rect l="l" t="t" r="r" b="b"/>
              <a:pathLst>
                <a:path w="548640" h="731520">
                  <a:moveTo>
                    <a:pt x="0" y="0"/>
                  </a:moveTo>
                  <a:lnTo>
                    <a:pt x="548640" y="0"/>
                  </a:lnTo>
                  <a:lnTo>
                    <a:pt x="548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r="-121071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5486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C8A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✕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851660" y="3867912"/>
            <a:ext cx="8778240" cy="548640"/>
            <a:chOff x="0" y="0"/>
            <a:chExt cx="11704320" cy="7315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704320" cy="731520"/>
            </a:xfrm>
            <a:custGeom>
              <a:avLst/>
              <a:gdLst/>
              <a:ahLst/>
              <a:cxnLst/>
              <a:rect l="l" t="t" r="r" b="b"/>
              <a:pathLst>
                <a:path w="11704320" h="731520">
                  <a:moveTo>
                    <a:pt x="0" y="0"/>
                  </a:moveTo>
                  <a:lnTo>
                    <a:pt x="11704320" y="0"/>
                  </a:lnTo>
                  <a:lnTo>
                    <a:pt x="11704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117043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Manual recording of member information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03020" y="4512564"/>
            <a:ext cx="411480" cy="548640"/>
            <a:chOff x="0" y="0"/>
            <a:chExt cx="548640" cy="7315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48640" cy="731520"/>
            </a:xfrm>
            <a:custGeom>
              <a:avLst/>
              <a:gdLst/>
              <a:ahLst/>
              <a:cxnLst/>
              <a:rect l="l" t="t" r="r" b="b"/>
              <a:pathLst>
                <a:path w="548640" h="731520">
                  <a:moveTo>
                    <a:pt x="0" y="0"/>
                  </a:moveTo>
                  <a:lnTo>
                    <a:pt x="548640" y="0"/>
                  </a:lnTo>
                  <a:lnTo>
                    <a:pt x="548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r="-121071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5486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C8A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✕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851660" y="4512564"/>
            <a:ext cx="8778240" cy="548640"/>
            <a:chOff x="0" y="0"/>
            <a:chExt cx="11704320" cy="7315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704320" cy="731520"/>
            </a:xfrm>
            <a:custGeom>
              <a:avLst/>
              <a:gdLst/>
              <a:ahLst/>
              <a:cxnLst/>
              <a:rect l="l" t="t" r="r" b="b"/>
              <a:pathLst>
                <a:path w="11704320" h="731520">
                  <a:moveTo>
                    <a:pt x="0" y="0"/>
                  </a:moveTo>
                  <a:lnTo>
                    <a:pt x="11704320" y="0"/>
                  </a:lnTo>
                  <a:lnTo>
                    <a:pt x="11704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117043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Hard to monitor borrowed and returned books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303020" y="5157216"/>
            <a:ext cx="411480" cy="548640"/>
            <a:chOff x="0" y="0"/>
            <a:chExt cx="548640" cy="7315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48640" cy="731520"/>
            </a:xfrm>
            <a:custGeom>
              <a:avLst/>
              <a:gdLst/>
              <a:ahLst/>
              <a:cxnLst/>
              <a:rect l="l" t="t" r="r" b="b"/>
              <a:pathLst>
                <a:path w="548640" h="731520">
                  <a:moveTo>
                    <a:pt x="0" y="0"/>
                  </a:moveTo>
                  <a:lnTo>
                    <a:pt x="548640" y="0"/>
                  </a:lnTo>
                  <a:lnTo>
                    <a:pt x="548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r="-121071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5486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C8A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✕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851660" y="5157216"/>
            <a:ext cx="8778240" cy="548640"/>
            <a:chOff x="0" y="0"/>
            <a:chExt cx="11704320" cy="7315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704320" cy="731520"/>
            </a:xfrm>
            <a:custGeom>
              <a:avLst/>
              <a:gdLst/>
              <a:ahLst/>
              <a:cxnLst/>
              <a:rect l="l" t="t" r="r" b="b"/>
              <a:pathLst>
                <a:path w="11704320" h="731520">
                  <a:moveTo>
                    <a:pt x="0" y="0"/>
                  </a:moveTo>
                  <a:lnTo>
                    <a:pt x="11704320" y="0"/>
                  </a:lnTo>
                  <a:lnTo>
                    <a:pt x="11704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117043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Hard to calculate and track fines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303020" y="5801868"/>
            <a:ext cx="411480" cy="548640"/>
            <a:chOff x="0" y="0"/>
            <a:chExt cx="548640" cy="73152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48640" cy="731520"/>
            </a:xfrm>
            <a:custGeom>
              <a:avLst/>
              <a:gdLst/>
              <a:ahLst/>
              <a:cxnLst/>
              <a:rect l="l" t="t" r="r" b="b"/>
              <a:pathLst>
                <a:path w="548640" h="731520">
                  <a:moveTo>
                    <a:pt x="0" y="0"/>
                  </a:moveTo>
                  <a:lnTo>
                    <a:pt x="548640" y="0"/>
                  </a:lnTo>
                  <a:lnTo>
                    <a:pt x="548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r="-121071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5486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C8A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✕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851660" y="5801868"/>
            <a:ext cx="8778240" cy="548640"/>
            <a:chOff x="0" y="0"/>
            <a:chExt cx="11704320" cy="73152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1704320" cy="731520"/>
            </a:xfrm>
            <a:custGeom>
              <a:avLst/>
              <a:gdLst/>
              <a:ahLst/>
              <a:cxnLst/>
              <a:rect l="l" t="t" r="r" b="b"/>
              <a:pathLst>
                <a:path w="11704320" h="731520">
                  <a:moveTo>
                    <a:pt x="0" y="0"/>
                  </a:moveTo>
                  <a:lnTo>
                    <a:pt x="11704320" y="0"/>
                  </a:lnTo>
                  <a:lnTo>
                    <a:pt x="11704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117043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Limited analysis of borrowing patterns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303020" y="6446520"/>
            <a:ext cx="411480" cy="548640"/>
            <a:chOff x="0" y="0"/>
            <a:chExt cx="548640" cy="73152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48640" cy="731520"/>
            </a:xfrm>
            <a:custGeom>
              <a:avLst/>
              <a:gdLst/>
              <a:ahLst/>
              <a:cxnLst/>
              <a:rect l="l" t="t" r="r" b="b"/>
              <a:pathLst>
                <a:path w="548640" h="731520">
                  <a:moveTo>
                    <a:pt x="0" y="0"/>
                  </a:moveTo>
                  <a:lnTo>
                    <a:pt x="548640" y="0"/>
                  </a:lnTo>
                  <a:lnTo>
                    <a:pt x="548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r="-121071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5486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C8A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✕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851660" y="6446520"/>
            <a:ext cx="8778240" cy="548640"/>
            <a:chOff x="0" y="0"/>
            <a:chExt cx="11704320" cy="73152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1704320" cy="731520"/>
            </a:xfrm>
            <a:custGeom>
              <a:avLst/>
              <a:gdLst/>
              <a:ahLst/>
              <a:cxnLst/>
              <a:rect l="l" t="t" r="r" b="b"/>
              <a:pathLst>
                <a:path w="11704320" h="731520">
                  <a:moveTo>
                    <a:pt x="0" y="0"/>
                  </a:moveTo>
                  <a:lnTo>
                    <a:pt x="11704320" y="0"/>
                  </a:lnTo>
                  <a:lnTo>
                    <a:pt x="11704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117043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Duplicate or inconsistent records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1239976" y="2187416"/>
            <a:ext cx="6227636" cy="4952047"/>
            <a:chOff x="0" y="0"/>
            <a:chExt cx="8303514" cy="660273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303514" cy="6602730"/>
            </a:xfrm>
            <a:custGeom>
              <a:avLst/>
              <a:gdLst/>
              <a:ahLst/>
              <a:cxnLst/>
              <a:rect l="l" t="t" r="r" b="b"/>
              <a:pathLst>
                <a:path w="8303514" h="6602730">
                  <a:moveTo>
                    <a:pt x="0" y="183388"/>
                  </a:moveTo>
                  <a:cubicBezTo>
                    <a:pt x="0" y="82169"/>
                    <a:pt x="82169" y="0"/>
                    <a:pt x="183388" y="0"/>
                  </a:cubicBezTo>
                  <a:lnTo>
                    <a:pt x="8120126" y="0"/>
                  </a:lnTo>
                  <a:cubicBezTo>
                    <a:pt x="8221472" y="0"/>
                    <a:pt x="8303514" y="82169"/>
                    <a:pt x="8303514" y="183388"/>
                  </a:cubicBezTo>
                  <a:lnTo>
                    <a:pt x="8303514" y="6419342"/>
                  </a:lnTo>
                  <a:cubicBezTo>
                    <a:pt x="8303514" y="6520688"/>
                    <a:pt x="8221345" y="6602730"/>
                    <a:pt x="8120126" y="6602730"/>
                  </a:cubicBezTo>
                  <a:lnTo>
                    <a:pt x="183388" y="6602730"/>
                  </a:lnTo>
                  <a:cubicBezTo>
                    <a:pt x="82169" y="6602730"/>
                    <a:pt x="0" y="6520561"/>
                    <a:pt x="0" y="6419342"/>
                  </a:cubicBezTo>
                  <a:close/>
                </a:path>
              </a:pathLst>
            </a:custGeom>
            <a:solidFill>
              <a:srgbClr val="14213D"/>
            </a:solidFill>
            <a:ln w="14288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11727180" y="3017520"/>
            <a:ext cx="5212080" cy="411480"/>
            <a:chOff x="0" y="0"/>
            <a:chExt cx="6949440" cy="54864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949440" cy="548640"/>
            </a:xfrm>
            <a:custGeom>
              <a:avLst/>
              <a:gdLst/>
              <a:ahLst/>
              <a:cxnLst/>
              <a:rect l="l" t="t" r="r" b="b"/>
              <a:pathLst>
                <a:path w="6949440" h="548640">
                  <a:moveTo>
                    <a:pt x="0" y="0"/>
                  </a:moveTo>
                  <a:lnTo>
                    <a:pt x="6949440" y="0"/>
                  </a:lnTo>
                  <a:lnTo>
                    <a:pt x="6949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810" b="-196810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0"/>
              <a:ext cx="69494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449">
                  <a:solidFill>
                    <a:srgbClr val="C8A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SOLUTION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1727180" y="3566160"/>
            <a:ext cx="5212080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7F3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Centralized MySQL database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727180" y="5006340"/>
            <a:ext cx="5212080" cy="164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7F3E8"/>
                </a:solidFill>
                <a:latin typeface="Aptos"/>
                <a:ea typeface="Aptos"/>
                <a:cs typeface="Aptos"/>
                <a:sym typeface="Aptos"/>
              </a:rPr>
              <a:t>Connects books, members, authors, loans and fines in one consistent structure.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815816" y="7536656"/>
            <a:ext cx="7558088" cy="1317308"/>
            <a:chOff x="0" y="0"/>
            <a:chExt cx="10077450" cy="175641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0077450" cy="1756410"/>
            </a:xfrm>
            <a:custGeom>
              <a:avLst/>
              <a:gdLst/>
              <a:ahLst/>
              <a:cxnLst/>
              <a:rect l="l" t="t" r="r" b="b"/>
              <a:pathLst>
                <a:path w="10077450" h="1756410">
                  <a:moveTo>
                    <a:pt x="0" y="184912"/>
                  </a:moveTo>
                  <a:cubicBezTo>
                    <a:pt x="0" y="82804"/>
                    <a:pt x="82804" y="0"/>
                    <a:pt x="184912" y="0"/>
                  </a:cubicBezTo>
                  <a:lnTo>
                    <a:pt x="9892538" y="0"/>
                  </a:lnTo>
                  <a:cubicBezTo>
                    <a:pt x="9994646" y="0"/>
                    <a:pt x="10077450" y="82804"/>
                    <a:pt x="10077450" y="184912"/>
                  </a:cubicBezTo>
                  <a:lnTo>
                    <a:pt x="10077450" y="1571498"/>
                  </a:lnTo>
                  <a:cubicBezTo>
                    <a:pt x="10077450" y="1673606"/>
                    <a:pt x="9994646" y="1756410"/>
                    <a:pt x="9892538" y="1756410"/>
                  </a:cubicBezTo>
                  <a:lnTo>
                    <a:pt x="184912" y="1756410"/>
                  </a:lnTo>
                  <a:cubicBezTo>
                    <a:pt x="82804" y="1756410"/>
                    <a:pt x="0" y="1673606"/>
                    <a:pt x="0" y="157149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822960" y="7543800"/>
            <a:ext cx="7543800" cy="1303020"/>
            <a:chOff x="0" y="0"/>
            <a:chExt cx="10058400" cy="173736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0058400" cy="1737360"/>
            </a:xfrm>
            <a:custGeom>
              <a:avLst/>
              <a:gdLst/>
              <a:ahLst/>
              <a:cxnLst/>
              <a:rect l="l" t="t" r="r" b="b"/>
              <a:pathLst>
                <a:path w="10058400" h="1737360">
                  <a:moveTo>
                    <a:pt x="0" y="0"/>
                  </a:moveTo>
                  <a:lnTo>
                    <a:pt x="10058400" y="0"/>
                  </a:lnTo>
                  <a:lnTo>
                    <a:pt x="100584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808" b="-62808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0"/>
              <a:ext cx="10058400" cy="1737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Manual Library Management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8503920" y="7543800"/>
            <a:ext cx="1234440" cy="1303020"/>
            <a:chOff x="0" y="0"/>
            <a:chExt cx="1645920" cy="173736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645920" cy="1737360"/>
            </a:xfrm>
            <a:custGeom>
              <a:avLst/>
              <a:gdLst/>
              <a:ahLst/>
              <a:cxnLst/>
              <a:rect l="l" t="t" r="r" b="b"/>
              <a:pathLst>
                <a:path w="1645920" h="1737360">
                  <a:moveTo>
                    <a:pt x="0" y="0"/>
                  </a:moveTo>
                  <a:lnTo>
                    <a:pt x="1645920" y="0"/>
                  </a:lnTo>
                  <a:lnTo>
                    <a:pt x="16459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431" r="-85431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0"/>
              <a:ext cx="1645920" cy="1737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80"/>
                </a:lnSpc>
              </a:pPr>
              <a:r>
                <a:rPr lang="en-US" sz="3900" b="1">
                  <a:solidFill>
                    <a:srgbClr val="C8A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➜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9909524" y="7536656"/>
            <a:ext cx="7558088" cy="1317308"/>
            <a:chOff x="0" y="0"/>
            <a:chExt cx="10077450" cy="175641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0077450" cy="1756410"/>
            </a:xfrm>
            <a:custGeom>
              <a:avLst/>
              <a:gdLst/>
              <a:ahLst/>
              <a:cxnLst/>
              <a:rect l="l" t="t" r="r" b="b"/>
              <a:pathLst>
                <a:path w="10077450" h="1756410">
                  <a:moveTo>
                    <a:pt x="0" y="184912"/>
                  </a:moveTo>
                  <a:cubicBezTo>
                    <a:pt x="0" y="82804"/>
                    <a:pt x="82804" y="0"/>
                    <a:pt x="184912" y="0"/>
                  </a:cubicBezTo>
                  <a:lnTo>
                    <a:pt x="9892538" y="0"/>
                  </a:lnTo>
                  <a:cubicBezTo>
                    <a:pt x="9994646" y="0"/>
                    <a:pt x="10077450" y="82804"/>
                    <a:pt x="10077450" y="184912"/>
                  </a:cubicBezTo>
                  <a:lnTo>
                    <a:pt x="10077450" y="1571498"/>
                  </a:lnTo>
                  <a:cubicBezTo>
                    <a:pt x="10077450" y="1673606"/>
                    <a:pt x="9994646" y="1756410"/>
                    <a:pt x="9892538" y="1756410"/>
                  </a:cubicBezTo>
                  <a:lnTo>
                    <a:pt x="184912" y="1756410"/>
                  </a:lnTo>
                  <a:cubicBezTo>
                    <a:pt x="82804" y="1756410"/>
                    <a:pt x="0" y="1673606"/>
                    <a:pt x="0" y="1571498"/>
                  </a:cubicBezTo>
                  <a:close/>
                </a:path>
              </a:pathLst>
            </a:custGeom>
            <a:solidFill>
              <a:srgbClr val="14213D"/>
            </a:solidFill>
            <a:ln w="14288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74" name="Group 74"/>
          <p:cNvGrpSpPr/>
          <p:nvPr/>
        </p:nvGrpSpPr>
        <p:grpSpPr>
          <a:xfrm>
            <a:off x="9916668" y="7543800"/>
            <a:ext cx="7543800" cy="1303020"/>
            <a:chOff x="0" y="0"/>
            <a:chExt cx="10058400" cy="173736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0058400" cy="1737360"/>
            </a:xfrm>
            <a:custGeom>
              <a:avLst/>
              <a:gdLst/>
              <a:ahLst/>
              <a:cxnLst/>
              <a:rect l="l" t="t" r="r" b="b"/>
              <a:pathLst>
                <a:path w="10058400" h="1737360">
                  <a:moveTo>
                    <a:pt x="0" y="0"/>
                  </a:moveTo>
                  <a:lnTo>
                    <a:pt x="10058400" y="0"/>
                  </a:lnTo>
                  <a:lnTo>
                    <a:pt x="100584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808" b="-62808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0"/>
              <a:ext cx="10058400" cy="1737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F7F3E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MySQL-Based Library Management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920">
            <a:off x="811044" y="1805750"/>
            <a:ext cx="16661340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2940">
            <a:off x="815816" y="9569006"/>
            <a:ext cx="16651805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22960" y="9683496"/>
            <a:ext cx="10972800" cy="342900"/>
            <a:chOff x="0" y="0"/>
            <a:chExt cx="146304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1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LIBRARY MANAGEMENT SYSTEM  ·  MYSQL DATABASE PROJECT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850392"/>
            <a:ext cx="16637508" cy="850392"/>
            <a:chOff x="0" y="0"/>
            <a:chExt cx="22183344" cy="11338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3344" cy="1133856"/>
            </a:xfrm>
            <a:custGeom>
              <a:avLst/>
              <a:gdLst/>
              <a:ahLst/>
              <a:cxnLst/>
              <a:rect l="l" t="t" r="r" b="b"/>
              <a:pathLst>
                <a:path w="22183344" h="1133856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1215" b="-33121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2183344" cy="1124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Project Objectives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2960" y="466344"/>
            <a:ext cx="10972800" cy="342900"/>
            <a:chOff x="0" y="0"/>
            <a:chExt cx="1463040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INTRODUCTION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73400" y="9683496"/>
            <a:ext cx="1687068" cy="342900"/>
            <a:chOff x="0" y="0"/>
            <a:chExt cx="2249424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4" cy="457200"/>
            </a:xfrm>
            <a:custGeom>
              <a:avLst/>
              <a:gdLst/>
              <a:ahLst/>
              <a:cxnLst/>
              <a:rect l="l" t="t" r="r" b="b"/>
              <a:pathLst>
                <a:path w="2249424" h="457200">
                  <a:moveTo>
                    <a:pt x="0" y="0"/>
                  </a:moveTo>
                  <a:lnTo>
                    <a:pt x="2249424" y="0"/>
                  </a:lnTo>
                  <a:lnTo>
                    <a:pt x="22494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866" b="-4586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2494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4 / 25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15816" y="2187416"/>
            <a:ext cx="5363528" cy="3306128"/>
            <a:chOff x="0" y="0"/>
            <a:chExt cx="7151370" cy="440817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51370" cy="4408170"/>
            </a:xfrm>
            <a:custGeom>
              <a:avLst/>
              <a:gdLst/>
              <a:ahLst/>
              <a:cxnLst/>
              <a:rect l="l" t="t" r="r" b="b"/>
              <a:pathLst>
                <a:path w="7151370" h="4408170">
                  <a:moveTo>
                    <a:pt x="0" y="183642"/>
                  </a:moveTo>
                  <a:cubicBezTo>
                    <a:pt x="0" y="82296"/>
                    <a:pt x="82296" y="0"/>
                    <a:pt x="183642" y="0"/>
                  </a:cubicBezTo>
                  <a:lnTo>
                    <a:pt x="6967728" y="0"/>
                  </a:lnTo>
                  <a:cubicBezTo>
                    <a:pt x="7069201" y="0"/>
                    <a:pt x="7151370" y="82296"/>
                    <a:pt x="7151370" y="183642"/>
                  </a:cubicBezTo>
                  <a:lnTo>
                    <a:pt x="7151370" y="4224528"/>
                  </a:lnTo>
                  <a:cubicBezTo>
                    <a:pt x="7151370" y="4326001"/>
                    <a:pt x="7069074" y="4408170"/>
                    <a:pt x="6967728" y="4408170"/>
                  </a:cubicBezTo>
                  <a:lnTo>
                    <a:pt x="183642" y="4408170"/>
                  </a:lnTo>
                  <a:cubicBezTo>
                    <a:pt x="82296" y="4408170"/>
                    <a:pt x="0" y="4325874"/>
                    <a:pt x="0" y="422452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234440" y="2537460"/>
            <a:ext cx="1371600" cy="685800"/>
            <a:chOff x="0" y="0"/>
            <a:chExt cx="1828800" cy="914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828800" cy="914400"/>
            </a:xfrm>
            <a:custGeom>
              <a:avLst/>
              <a:gdLst/>
              <a:ahLst/>
              <a:cxnLst/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18288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34440" y="3429000"/>
            <a:ext cx="4526280" cy="548640"/>
            <a:chOff x="0" y="0"/>
            <a:chExt cx="6035040" cy="7315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035040" cy="731520"/>
            </a:xfrm>
            <a:custGeom>
              <a:avLst/>
              <a:gdLst/>
              <a:ahLst/>
              <a:cxnLst/>
              <a:rect l="l" t="t" r="r" b="b"/>
              <a:pathLst>
                <a:path w="6035040" h="731520">
                  <a:moveTo>
                    <a:pt x="0" y="0"/>
                  </a:moveTo>
                  <a:lnTo>
                    <a:pt x="6035040" y="0"/>
                  </a:lnTo>
                  <a:lnTo>
                    <a:pt x="6035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751" b="-110751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60350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Manage Books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34440" y="4046220"/>
            <a:ext cx="4526280" cy="109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667085"/>
                </a:solidFill>
                <a:latin typeface="Aptos"/>
                <a:ea typeface="Aptos"/>
                <a:cs typeface="Aptos"/>
                <a:sym typeface="Aptos"/>
              </a:rPr>
              <a:t>Store book details, publication year and genre.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459950" y="2187416"/>
            <a:ext cx="5363528" cy="3306128"/>
            <a:chOff x="0" y="0"/>
            <a:chExt cx="7151370" cy="440817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151370" cy="4408170"/>
            </a:xfrm>
            <a:custGeom>
              <a:avLst/>
              <a:gdLst/>
              <a:ahLst/>
              <a:cxnLst/>
              <a:rect l="l" t="t" r="r" b="b"/>
              <a:pathLst>
                <a:path w="7151370" h="4408170">
                  <a:moveTo>
                    <a:pt x="0" y="183642"/>
                  </a:moveTo>
                  <a:cubicBezTo>
                    <a:pt x="0" y="82296"/>
                    <a:pt x="82296" y="0"/>
                    <a:pt x="183642" y="0"/>
                  </a:cubicBezTo>
                  <a:lnTo>
                    <a:pt x="6967728" y="0"/>
                  </a:lnTo>
                  <a:cubicBezTo>
                    <a:pt x="7069201" y="0"/>
                    <a:pt x="7151370" y="82296"/>
                    <a:pt x="7151370" y="183642"/>
                  </a:cubicBezTo>
                  <a:lnTo>
                    <a:pt x="7151370" y="4224528"/>
                  </a:lnTo>
                  <a:cubicBezTo>
                    <a:pt x="7151370" y="4326001"/>
                    <a:pt x="7069074" y="4408170"/>
                    <a:pt x="6967728" y="4408170"/>
                  </a:cubicBezTo>
                  <a:lnTo>
                    <a:pt x="183642" y="4408170"/>
                  </a:lnTo>
                  <a:cubicBezTo>
                    <a:pt x="82296" y="4408170"/>
                    <a:pt x="0" y="4325874"/>
                    <a:pt x="0" y="422452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878574" y="2537460"/>
            <a:ext cx="1371600" cy="685800"/>
            <a:chOff x="0" y="0"/>
            <a:chExt cx="1828800" cy="914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28800" cy="914400"/>
            </a:xfrm>
            <a:custGeom>
              <a:avLst/>
              <a:gdLst/>
              <a:ahLst/>
              <a:cxnLst/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18288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878574" y="3429000"/>
            <a:ext cx="4526280" cy="548640"/>
            <a:chOff x="0" y="0"/>
            <a:chExt cx="6035040" cy="7315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035040" cy="731520"/>
            </a:xfrm>
            <a:custGeom>
              <a:avLst/>
              <a:gdLst/>
              <a:ahLst/>
              <a:cxnLst/>
              <a:rect l="l" t="t" r="r" b="b"/>
              <a:pathLst>
                <a:path w="6035040" h="731520">
                  <a:moveTo>
                    <a:pt x="0" y="0"/>
                  </a:moveTo>
                  <a:lnTo>
                    <a:pt x="6035040" y="0"/>
                  </a:lnTo>
                  <a:lnTo>
                    <a:pt x="6035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751" b="-110751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60350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Manage Members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878574" y="4046220"/>
            <a:ext cx="4526280" cy="109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667085"/>
                </a:solidFill>
                <a:latin typeface="Aptos"/>
                <a:ea typeface="Aptos"/>
                <a:cs typeface="Aptos"/>
                <a:sym typeface="Aptos"/>
              </a:rPr>
              <a:t>Maintain member information and membership dates.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2104084" y="2187416"/>
            <a:ext cx="5363528" cy="3306128"/>
            <a:chOff x="0" y="0"/>
            <a:chExt cx="7151370" cy="440817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151370" cy="4408170"/>
            </a:xfrm>
            <a:custGeom>
              <a:avLst/>
              <a:gdLst/>
              <a:ahLst/>
              <a:cxnLst/>
              <a:rect l="l" t="t" r="r" b="b"/>
              <a:pathLst>
                <a:path w="7151370" h="4408170">
                  <a:moveTo>
                    <a:pt x="0" y="183642"/>
                  </a:moveTo>
                  <a:cubicBezTo>
                    <a:pt x="0" y="82296"/>
                    <a:pt x="82296" y="0"/>
                    <a:pt x="183642" y="0"/>
                  </a:cubicBezTo>
                  <a:lnTo>
                    <a:pt x="6967728" y="0"/>
                  </a:lnTo>
                  <a:cubicBezTo>
                    <a:pt x="7069201" y="0"/>
                    <a:pt x="7151370" y="82296"/>
                    <a:pt x="7151370" y="183642"/>
                  </a:cubicBezTo>
                  <a:lnTo>
                    <a:pt x="7151370" y="4224528"/>
                  </a:lnTo>
                  <a:cubicBezTo>
                    <a:pt x="7151370" y="4326001"/>
                    <a:pt x="7069074" y="4408170"/>
                    <a:pt x="6967728" y="4408170"/>
                  </a:cubicBezTo>
                  <a:lnTo>
                    <a:pt x="183642" y="4408170"/>
                  </a:lnTo>
                  <a:cubicBezTo>
                    <a:pt x="82296" y="4408170"/>
                    <a:pt x="0" y="4325874"/>
                    <a:pt x="0" y="422452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2522708" y="2537460"/>
            <a:ext cx="1371600" cy="685800"/>
            <a:chOff x="0" y="0"/>
            <a:chExt cx="1828800" cy="9144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828800" cy="914400"/>
            </a:xfrm>
            <a:custGeom>
              <a:avLst/>
              <a:gdLst/>
              <a:ahLst/>
              <a:cxnLst/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18288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522708" y="3429000"/>
            <a:ext cx="4526280" cy="548640"/>
            <a:chOff x="0" y="0"/>
            <a:chExt cx="6035040" cy="7315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035040" cy="731520"/>
            </a:xfrm>
            <a:custGeom>
              <a:avLst/>
              <a:gdLst/>
              <a:ahLst/>
              <a:cxnLst/>
              <a:rect l="l" t="t" r="r" b="b"/>
              <a:pathLst>
                <a:path w="6035040" h="731520">
                  <a:moveTo>
                    <a:pt x="0" y="0"/>
                  </a:moveTo>
                  <a:lnTo>
                    <a:pt x="6035040" y="0"/>
                  </a:lnTo>
                  <a:lnTo>
                    <a:pt x="6035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751" b="-110751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60350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Track Loans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2522708" y="4046220"/>
            <a:ext cx="4526280" cy="109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667085"/>
                </a:solidFill>
                <a:latin typeface="Aptos"/>
                <a:ea typeface="Aptos"/>
                <a:cs typeface="Aptos"/>
                <a:sym typeface="Aptos"/>
              </a:rPr>
              <a:t>Record issued books, loan dates and return dates.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815816" y="5753576"/>
            <a:ext cx="5363528" cy="3306128"/>
            <a:chOff x="0" y="0"/>
            <a:chExt cx="7151370" cy="440817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151370" cy="4408170"/>
            </a:xfrm>
            <a:custGeom>
              <a:avLst/>
              <a:gdLst/>
              <a:ahLst/>
              <a:cxnLst/>
              <a:rect l="l" t="t" r="r" b="b"/>
              <a:pathLst>
                <a:path w="7151370" h="4408170">
                  <a:moveTo>
                    <a:pt x="0" y="183642"/>
                  </a:moveTo>
                  <a:cubicBezTo>
                    <a:pt x="0" y="82296"/>
                    <a:pt x="82296" y="0"/>
                    <a:pt x="183642" y="0"/>
                  </a:cubicBezTo>
                  <a:lnTo>
                    <a:pt x="6967728" y="0"/>
                  </a:lnTo>
                  <a:cubicBezTo>
                    <a:pt x="7069201" y="0"/>
                    <a:pt x="7151370" y="82296"/>
                    <a:pt x="7151370" y="183642"/>
                  </a:cubicBezTo>
                  <a:lnTo>
                    <a:pt x="7151370" y="4224528"/>
                  </a:lnTo>
                  <a:cubicBezTo>
                    <a:pt x="7151370" y="4326001"/>
                    <a:pt x="7069074" y="4408170"/>
                    <a:pt x="6967728" y="4408170"/>
                  </a:cubicBezTo>
                  <a:lnTo>
                    <a:pt x="183642" y="4408170"/>
                  </a:lnTo>
                  <a:cubicBezTo>
                    <a:pt x="82296" y="4408170"/>
                    <a:pt x="0" y="4325874"/>
                    <a:pt x="0" y="422452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1234440" y="6103620"/>
            <a:ext cx="1371600" cy="685800"/>
            <a:chOff x="0" y="0"/>
            <a:chExt cx="1828800" cy="9144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828800" cy="914400"/>
            </a:xfrm>
            <a:custGeom>
              <a:avLst/>
              <a:gdLst/>
              <a:ahLst/>
              <a:cxnLst/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18288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34440" y="6995160"/>
            <a:ext cx="4526280" cy="548640"/>
            <a:chOff x="0" y="0"/>
            <a:chExt cx="6035040" cy="73152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035040" cy="731520"/>
            </a:xfrm>
            <a:custGeom>
              <a:avLst/>
              <a:gdLst/>
              <a:ahLst/>
              <a:cxnLst/>
              <a:rect l="l" t="t" r="r" b="b"/>
              <a:pathLst>
                <a:path w="6035040" h="731520">
                  <a:moveTo>
                    <a:pt x="0" y="0"/>
                  </a:moveTo>
                  <a:lnTo>
                    <a:pt x="6035040" y="0"/>
                  </a:lnTo>
                  <a:lnTo>
                    <a:pt x="6035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751" b="-110751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60350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Manage Authors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234440" y="7612380"/>
            <a:ext cx="4526280" cy="109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667085"/>
                </a:solidFill>
                <a:latin typeface="Aptos"/>
                <a:ea typeface="Aptos"/>
                <a:cs typeface="Aptos"/>
                <a:sym typeface="Aptos"/>
              </a:rPr>
              <a:t>Maintain author information and book relationships.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6459950" y="5753576"/>
            <a:ext cx="5363528" cy="3306128"/>
            <a:chOff x="0" y="0"/>
            <a:chExt cx="7151370" cy="440817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151370" cy="4408170"/>
            </a:xfrm>
            <a:custGeom>
              <a:avLst/>
              <a:gdLst/>
              <a:ahLst/>
              <a:cxnLst/>
              <a:rect l="l" t="t" r="r" b="b"/>
              <a:pathLst>
                <a:path w="7151370" h="4408170">
                  <a:moveTo>
                    <a:pt x="0" y="183642"/>
                  </a:moveTo>
                  <a:cubicBezTo>
                    <a:pt x="0" y="82296"/>
                    <a:pt x="82296" y="0"/>
                    <a:pt x="183642" y="0"/>
                  </a:cubicBezTo>
                  <a:lnTo>
                    <a:pt x="6967728" y="0"/>
                  </a:lnTo>
                  <a:cubicBezTo>
                    <a:pt x="7069201" y="0"/>
                    <a:pt x="7151370" y="82296"/>
                    <a:pt x="7151370" y="183642"/>
                  </a:cubicBezTo>
                  <a:lnTo>
                    <a:pt x="7151370" y="4224528"/>
                  </a:lnTo>
                  <a:cubicBezTo>
                    <a:pt x="7151370" y="4326001"/>
                    <a:pt x="7069074" y="4408170"/>
                    <a:pt x="6967728" y="4408170"/>
                  </a:cubicBezTo>
                  <a:lnTo>
                    <a:pt x="183642" y="4408170"/>
                  </a:lnTo>
                  <a:cubicBezTo>
                    <a:pt x="82296" y="4408170"/>
                    <a:pt x="0" y="4325874"/>
                    <a:pt x="0" y="422452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6878574" y="6103620"/>
            <a:ext cx="1371600" cy="685800"/>
            <a:chOff x="0" y="0"/>
            <a:chExt cx="1828800" cy="9144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828800" cy="914400"/>
            </a:xfrm>
            <a:custGeom>
              <a:avLst/>
              <a:gdLst/>
              <a:ahLst/>
              <a:cxnLst/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18288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05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878574" y="6995160"/>
            <a:ext cx="4526280" cy="548640"/>
            <a:chOff x="0" y="0"/>
            <a:chExt cx="6035040" cy="73152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035040" cy="731520"/>
            </a:xfrm>
            <a:custGeom>
              <a:avLst/>
              <a:gdLst/>
              <a:ahLst/>
              <a:cxnLst/>
              <a:rect l="l" t="t" r="r" b="b"/>
              <a:pathLst>
                <a:path w="6035040" h="731520">
                  <a:moveTo>
                    <a:pt x="0" y="0"/>
                  </a:moveTo>
                  <a:lnTo>
                    <a:pt x="6035040" y="0"/>
                  </a:lnTo>
                  <a:lnTo>
                    <a:pt x="6035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751" b="-110751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60350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Manage Fines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6878574" y="7612380"/>
            <a:ext cx="4526280" cy="109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667085"/>
                </a:solidFill>
                <a:latin typeface="Aptos"/>
                <a:ea typeface="Aptos"/>
                <a:cs typeface="Aptos"/>
                <a:sym typeface="Aptos"/>
              </a:rPr>
              <a:t>Track fine amounts and payment dates.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12104084" y="5753576"/>
            <a:ext cx="5363528" cy="3306128"/>
            <a:chOff x="0" y="0"/>
            <a:chExt cx="7151370" cy="440817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7151370" cy="4408170"/>
            </a:xfrm>
            <a:custGeom>
              <a:avLst/>
              <a:gdLst/>
              <a:ahLst/>
              <a:cxnLst/>
              <a:rect l="l" t="t" r="r" b="b"/>
              <a:pathLst>
                <a:path w="7151370" h="4408170">
                  <a:moveTo>
                    <a:pt x="0" y="183642"/>
                  </a:moveTo>
                  <a:cubicBezTo>
                    <a:pt x="0" y="82296"/>
                    <a:pt x="82296" y="0"/>
                    <a:pt x="183642" y="0"/>
                  </a:cubicBezTo>
                  <a:lnTo>
                    <a:pt x="6967728" y="0"/>
                  </a:lnTo>
                  <a:cubicBezTo>
                    <a:pt x="7069201" y="0"/>
                    <a:pt x="7151370" y="82296"/>
                    <a:pt x="7151370" y="183642"/>
                  </a:cubicBezTo>
                  <a:lnTo>
                    <a:pt x="7151370" y="4224528"/>
                  </a:lnTo>
                  <a:cubicBezTo>
                    <a:pt x="7151370" y="4326001"/>
                    <a:pt x="7069074" y="4408170"/>
                    <a:pt x="6967728" y="4408170"/>
                  </a:cubicBezTo>
                  <a:lnTo>
                    <a:pt x="183642" y="4408170"/>
                  </a:lnTo>
                  <a:cubicBezTo>
                    <a:pt x="82296" y="4408170"/>
                    <a:pt x="0" y="4325874"/>
                    <a:pt x="0" y="422452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12522708" y="6103620"/>
            <a:ext cx="1371600" cy="685800"/>
            <a:chOff x="0" y="0"/>
            <a:chExt cx="1828800" cy="9144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828800" cy="914400"/>
            </a:xfrm>
            <a:custGeom>
              <a:avLst/>
              <a:gdLst/>
              <a:ahLst/>
              <a:cxnLst/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0"/>
              <a:ext cx="18288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06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2522708" y="6995160"/>
            <a:ext cx="4526280" cy="548640"/>
            <a:chOff x="0" y="0"/>
            <a:chExt cx="6035040" cy="73152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6035040" cy="731520"/>
            </a:xfrm>
            <a:custGeom>
              <a:avLst/>
              <a:gdLst/>
              <a:ahLst/>
              <a:cxnLst/>
              <a:rect l="l" t="t" r="r" b="b"/>
              <a:pathLst>
                <a:path w="6035040" h="731520">
                  <a:moveTo>
                    <a:pt x="0" y="0"/>
                  </a:moveTo>
                  <a:lnTo>
                    <a:pt x="6035040" y="0"/>
                  </a:lnTo>
                  <a:lnTo>
                    <a:pt x="6035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751" b="-110751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0"/>
              <a:ext cx="60350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Generate Insights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2522708" y="7612380"/>
            <a:ext cx="4526280" cy="109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667085"/>
                </a:solidFill>
                <a:latin typeface="Aptos"/>
                <a:ea typeface="Aptos"/>
                <a:cs typeface="Aptos"/>
                <a:sym typeface="Aptos"/>
              </a:rPr>
              <a:t>Analyze borrowing patterns, popular books and member activity.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920">
            <a:off x="811044" y="1805750"/>
            <a:ext cx="16661340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2940">
            <a:off x="815816" y="9569006"/>
            <a:ext cx="16651805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22960" y="9683496"/>
            <a:ext cx="10972800" cy="342900"/>
            <a:chOff x="0" y="0"/>
            <a:chExt cx="146304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1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LIBRARY MANAGEMENT SYSTEM  ·  MYSQL DATABASE PROJECT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850392"/>
            <a:ext cx="16637508" cy="850392"/>
            <a:chOff x="0" y="0"/>
            <a:chExt cx="22183344" cy="11338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3344" cy="1133856"/>
            </a:xfrm>
            <a:custGeom>
              <a:avLst/>
              <a:gdLst/>
              <a:ahLst/>
              <a:cxnLst/>
              <a:rect l="l" t="t" r="r" b="b"/>
              <a:pathLst>
                <a:path w="22183344" h="1133856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1215" b="-33121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2183344" cy="1124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Database Architecture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2960" y="466344"/>
            <a:ext cx="10972800" cy="342900"/>
            <a:chOff x="0" y="0"/>
            <a:chExt cx="1463040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DATABASE DESIGN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73400" y="9683496"/>
            <a:ext cx="1687068" cy="342900"/>
            <a:chOff x="0" y="0"/>
            <a:chExt cx="2249424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4" cy="457200"/>
            </a:xfrm>
            <a:custGeom>
              <a:avLst/>
              <a:gdLst/>
              <a:ahLst/>
              <a:cxnLst/>
              <a:rect l="l" t="t" r="r" b="b"/>
              <a:pathLst>
                <a:path w="2249424" h="457200">
                  <a:moveTo>
                    <a:pt x="0" y="0"/>
                  </a:moveTo>
                  <a:lnTo>
                    <a:pt x="2249424" y="0"/>
                  </a:lnTo>
                  <a:lnTo>
                    <a:pt x="22494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866" b="-4586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2494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5 / 25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15816" y="2118836"/>
            <a:ext cx="16651796" cy="7146607"/>
            <a:chOff x="0" y="0"/>
            <a:chExt cx="22202394" cy="952881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202395" cy="9528810"/>
            </a:xfrm>
            <a:custGeom>
              <a:avLst/>
              <a:gdLst/>
              <a:ahLst/>
              <a:cxnLst/>
              <a:rect l="l" t="t" r="r" b="b"/>
              <a:pathLst>
                <a:path w="22202395" h="9528810">
                  <a:moveTo>
                    <a:pt x="0" y="183261"/>
                  </a:moveTo>
                  <a:cubicBezTo>
                    <a:pt x="0" y="82042"/>
                    <a:pt x="82042" y="0"/>
                    <a:pt x="183261" y="0"/>
                  </a:cubicBezTo>
                  <a:lnTo>
                    <a:pt x="22019133" y="0"/>
                  </a:lnTo>
                  <a:cubicBezTo>
                    <a:pt x="22120352" y="0"/>
                    <a:pt x="22202395" y="82042"/>
                    <a:pt x="22202395" y="183261"/>
                  </a:cubicBezTo>
                  <a:lnTo>
                    <a:pt x="22202395" y="9345549"/>
                  </a:lnTo>
                  <a:cubicBezTo>
                    <a:pt x="22202395" y="9446768"/>
                    <a:pt x="22120352" y="9528810"/>
                    <a:pt x="22019133" y="9528810"/>
                  </a:cubicBezTo>
                  <a:lnTo>
                    <a:pt x="183261" y="9528810"/>
                  </a:lnTo>
                  <a:cubicBezTo>
                    <a:pt x="82042" y="9528810"/>
                    <a:pt x="0" y="9446768"/>
                    <a:pt x="0" y="934554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097280" y="2598125"/>
            <a:ext cx="16088868" cy="6188031"/>
            <a:chOff x="0" y="0"/>
            <a:chExt cx="21451824" cy="8250707"/>
          </a:xfrm>
        </p:grpSpPr>
        <p:sp>
          <p:nvSpPr>
            <p:cNvPr id="19" name="Freeform 19" descr="MySQL Workbench screenshot: er"/>
            <p:cNvSpPr/>
            <p:nvPr/>
          </p:nvSpPr>
          <p:spPr>
            <a:xfrm>
              <a:off x="0" y="0"/>
              <a:ext cx="21451824" cy="8250682"/>
            </a:xfrm>
            <a:custGeom>
              <a:avLst/>
              <a:gdLst/>
              <a:ahLst/>
              <a:cxnLst/>
              <a:rect l="l" t="t" r="r" b="b"/>
              <a:pathLst>
                <a:path w="21451824" h="8250682">
                  <a:moveTo>
                    <a:pt x="0" y="0"/>
                  </a:moveTo>
                  <a:lnTo>
                    <a:pt x="21451824" y="0"/>
                  </a:lnTo>
                  <a:lnTo>
                    <a:pt x="21451824" y="8250682"/>
                  </a:lnTo>
                  <a:lnTo>
                    <a:pt x="0" y="8250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9" b="-19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920">
            <a:off x="811044" y="1805750"/>
            <a:ext cx="16661340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2940">
            <a:off x="815816" y="9569006"/>
            <a:ext cx="16651805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22960" y="9683496"/>
            <a:ext cx="10972800" cy="342900"/>
            <a:chOff x="0" y="0"/>
            <a:chExt cx="146304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1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LIBRARY MANAGEMENT SYSTEM  ·  MYSQL DATABASE PROJECT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850392"/>
            <a:ext cx="16637508" cy="850392"/>
            <a:chOff x="0" y="0"/>
            <a:chExt cx="22183344" cy="11338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3344" cy="1133856"/>
            </a:xfrm>
            <a:custGeom>
              <a:avLst/>
              <a:gdLst/>
              <a:ahLst/>
              <a:cxnLst/>
              <a:rect l="l" t="t" r="r" b="b"/>
              <a:pathLst>
                <a:path w="22183344" h="1133856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1215" b="-33121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2183344" cy="1124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Database Schema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2960" y="466344"/>
            <a:ext cx="10972800" cy="342900"/>
            <a:chOff x="0" y="0"/>
            <a:chExt cx="1463040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DATABASE DESIGN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73400" y="9683496"/>
            <a:ext cx="1687068" cy="342900"/>
            <a:chOff x="0" y="0"/>
            <a:chExt cx="2249424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4" cy="457200"/>
            </a:xfrm>
            <a:custGeom>
              <a:avLst/>
              <a:gdLst/>
              <a:ahLst/>
              <a:cxnLst/>
              <a:rect l="l" t="t" r="r" b="b"/>
              <a:pathLst>
                <a:path w="2249424" h="457200">
                  <a:moveTo>
                    <a:pt x="0" y="0"/>
                  </a:moveTo>
                  <a:lnTo>
                    <a:pt x="2249424" y="0"/>
                  </a:lnTo>
                  <a:lnTo>
                    <a:pt x="22494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866" b="-4586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2494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6 / 25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15816" y="2118836"/>
            <a:ext cx="5363528" cy="3237548"/>
            <a:chOff x="0" y="0"/>
            <a:chExt cx="7151370" cy="431673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51370" cy="4316730"/>
            </a:xfrm>
            <a:custGeom>
              <a:avLst/>
              <a:gdLst/>
              <a:ahLst/>
              <a:cxnLst/>
              <a:rect l="l" t="t" r="r" b="b"/>
              <a:pathLst>
                <a:path w="7151370" h="4316730">
                  <a:moveTo>
                    <a:pt x="0" y="183642"/>
                  </a:moveTo>
                  <a:cubicBezTo>
                    <a:pt x="0" y="82296"/>
                    <a:pt x="82296" y="0"/>
                    <a:pt x="183642" y="0"/>
                  </a:cubicBezTo>
                  <a:lnTo>
                    <a:pt x="6967728" y="0"/>
                  </a:lnTo>
                  <a:cubicBezTo>
                    <a:pt x="7069201" y="0"/>
                    <a:pt x="7151370" y="82296"/>
                    <a:pt x="7151370" y="183642"/>
                  </a:cubicBezTo>
                  <a:lnTo>
                    <a:pt x="7151370" y="4133088"/>
                  </a:lnTo>
                  <a:cubicBezTo>
                    <a:pt x="7151370" y="4234561"/>
                    <a:pt x="7069074" y="4316730"/>
                    <a:pt x="6967728" y="4316730"/>
                  </a:cubicBezTo>
                  <a:lnTo>
                    <a:pt x="183642" y="4316730"/>
                  </a:lnTo>
                  <a:cubicBezTo>
                    <a:pt x="82296" y="4316730"/>
                    <a:pt x="0" y="4234434"/>
                    <a:pt x="0" y="4133088"/>
                  </a:cubicBezTo>
                  <a:close/>
                </a:path>
              </a:pathLst>
            </a:custGeom>
            <a:solidFill>
              <a:srgbClr val="F7F3E8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840867" y="2143887"/>
            <a:ext cx="5313426" cy="704850"/>
            <a:chOff x="0" y="0"/>
            <a:chExt cx="7084568" cy="939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084568" cy="939800"/>
            </a:xfrm>
            <a:custGeom>
              <a:avLst/>
              <a:gdLst/>
              <a:ahLst/>
              <a:cxnLst/>
              <a:rect l="l" t="t" r="r" b="b"/>
              <a:pathLst>
                <a:path w="7084568" h="939800">
                  <a:moveTo>
                    <a:pt x="0" y="0"/>
                  </a:moveTo>
                  <a:lnTo>
                    <a:pt x="7084568" y="0"/>
                  </a:lnTo>
                  <a:lnTo>
                    <a:pt x="7084568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14213D"/>
            </a:solidFill>
            <a:ln w="1905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097280" y="2153412"/>
            <a:ext cx="4663440" cy="685800"/>
            <a:chOff x="0" y="0"/>
            <a:chExt cx="6217920" cy="914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217920" cy="914400"/>
            </a:xfrm>
            <a:custGeom>
              <a:avLst/>
              <a:gdLst/>
              <a:ahLst/>
              <a:cxnLst/>
              <a:rect l="l" t="t" r="r" b="b"/>
              <a:pathLst>
                <a:path w="6217920" h="914400">
                  <a:moveTo>
                    <a:pt x="0" y="0"/>
                  </a:moveTo>
                  <a:lnTo>
                    <a:pt x="6217920" y="0"/>
                  </a:lnTo>
                  <a:lnTo>
                    <a:pt x="6217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498" b="-82498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621792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7F3E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Members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87755" y="2994279"/>
            <a:ext cx="677418" cy="375666"/>
            <a:chOff x="0" y="0"/>
            <a:chExt cx="903224" cy="50088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03224" cy="500888"/>
            </a:xfrm>
            <a:custGeom>
              <a:avLst/>
              <a:gdLst/>
              <a:ahLst/>
              <a:cxnLst/>
              <a:rect l="l" t="t" r="r" b="b"/>
              <a:pathLst>
                <a:path w="903224" h="500888">
                  <a:moveTo>
                    <a:pt x="0" y="115570"/>
                  </a:moveTo>
                  <a:cubicBezTo>
                    <a:pt x="0" y="51689"/>
                    <a:pt x="51689" y="0"/>
                    <a:pt x="115570" y="0"/>
                  </a:cubicBezTo>
                  <a:lnTo>
                    <a:pt x="787654" y="0"/>
                  </a:lnTo>
                  <a:cubicBezTo>
                    <a:pt x="851535" y="0"/>
                    <a:pt x="903224" y="51689"/>
                    <a:pt x="903224" y="115570"/>
                  </a:cubicBezTo>
                  <a:lnTo>
                    <a:pt x="903224" y="385318"/>
                  </a:lnTo>
                  <a:cubicBezTo>
                    <a:pt x="903224" y="449199"/>
                    <a:pt x="851535" y="500888"/>
                    <a:pt x="787654" y="500888"/>
                  </a:cubicBezTo>
                  <a:lnTo>
                    <a:pt x="115570" y="500888"/>
                  </a:lnTo>
                  <a:cubicBezTo>
                    <a:pt x="51689" y="500888"/>
                    <a:pt x="0" y="449199"/>
                    <a:pt x="0" y="385318"/>
                  </a:cubicBezTo>
                  <a:close/>
                </a:path>
              </a:pathLst>
            </a:custGeom>
            <a:solidFill>
              <a:srgbClr val="14213D"/>
            </a:solidFill>
            <a:ln w="1905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097280" y="3003804"/>
            <a:ext cx="658368" cy="356616"/>
            <a:chOff x="0" y="0"/>
            <a:chExt cx="877824" cy="47548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77824" cy="475488"/>
            </a:xfrm>
            <a:custGeom>
              <a:avLst/>
              <a:gdLst/>
              <a:ahLst/>
              <a:cxnLst/>
              <a:rect l="l" t="t" r="r" b="b"/>
              <a:pathLst>
                <a:path w="877824" h="475488">
                  <a:moveTo>
                    <a:pt x="0" y="0"/>
                  </a:moveTo>
                  <a:lnTo>
                    <a:pt x="877824" y="0"/>
                  </a:lnTo>
                  <a:lnTo>
                    <a:pt x="877824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r="-19497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877824" cy="475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F7F3E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PK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988820" y="2976372"/>
            <a:ext cx="3840480" cy="411480"/>
            <a:chOff x="0" y="0"/>
            <a:chExt cx="5120640" cy="5486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120640" cy="548640"/>
            </a:xfrm>
            <a:custGeom>
              <a:avLst/>
              <a:gdLst/>
              <a:ahLst/>
              <a:cxnLst/>
              <a:rect l="l" t="t" r="r" b="b"/>
              <a:pathLst>
                <a:path w="5120640" h="548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5120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MemberID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988820" y="3442716"/>
            <a:ext cx="3840480" cy="411480"/>
            <a:chOff x="0" y="0"/>
            <a:chExt cx="5120640" cy="5486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120640" cy="548640"/>
            </a:xfrm>
            <a:custGeom>
              <a:avLst/>
              <a:gdLst/>
              <a:ahLst/>
              <a:cxnLst/>
              <a:rect l="l" t="t" r="r" b="b"/>
              <a:pathLst>
                <a:path w="5120640" h="548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5120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FirstName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988820" y="3909060"/>
            <a:ext cx="3840480" cy="411480"/>
            <a:chOff x="0" y="0"/>
            <a:chExt cx="5120640" cy="5486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120640" cy="548640"/>
            </a:xfrm>
            <a:custGeom>
              <a:avLst/>
              <a:gdLst/>
              <a:ahLst/>
              <a:cxnLst/>
              <a:rect l="l" t="t" r="r" b="b"/>
              <a:pathLst>
                <a:path w="5120640" h="548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5120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LastName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988820" y="4375404"/>
            <a:ext cx="3840480" cy="411480"/>
            <a:chOff x="0" y="0"/>
            <a:chExt cx="5120640" cy="54864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120640" cy="548640"/>
            </a:xfrm>
            <a:custGeom>
              <a:avLst/>
              <a:gdLst/>
              <a:ahLst/>
              <a:cxnLst/>
              <a:rect l="l" t="t" r="r" b="b"/>
              <a:pathLst>
                <a:path w="5120640" h="548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5120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Email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988820" y="4841748"/>
            <a:ext cx="3840480" cy="411480"/>
            <a:chOff x="0" y="0"/>
            <a:chExt cx="5120640" cy="54864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120640" cy="548640"/>
            </a:xfrm>
            <a:custGeom>
              <a:avLst/>
              <a:gdLst/>
              <a:ahLst/>
              <a:cxnLst/>
              <a:rect l="l" t="t" r="r" b="b"/>
              <a:pathLst>
                <a:path w="5120640" h="548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5120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MembershipDate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459950" y="2118836"/>
            <a:ext cx="5363528" cy="3237548"/>
            <a:chOff x="0" y="0"/>
            <a:chExt cx="7151370" cy="431673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151370" cy="4316730"/>
            </a:xfrm>
            <a:custGeom>
              <a:avLst/>
              <a:gdLst/>
              <a:ahLst/>
              <a:cxnLst/>
              <a:rect l="l" t="t" r="r" b="b"/>
              <a:pathLst>
                <a:path w="7151370" h="4316730">
                  <a:moveTo>
                    <a:pt x="0" y="183642"/>
                  </a:moveTo>
                  <a:cubicBezTo>
                    <a:pt x="0" y="82296"/>
                    <a:pt x="82296" y="0"/>
                    <a:pt x="183642" y="0"/>
                  </a:cubicBezTo>
                  <a:lnTo>
                    <a:pt x="6967728" y="0"/>
                  </a:lnTo>
                  <a:cubicBezTo>
                    <a:pt x="7069201" y="0"/>
                    <a:pt x="7151370" y="82296"/>
                    <a:pt x="7151370" y="183642"/>
                  </a:cubicBezTo>
                  <a:lnTo>
                    <a:pt x="7151370" y="4133088"/>
                  </a:lnTo>
                  <a:cubicBezTo>
                    <a:pt x="7151370" y="4234561"/>
                    <a:pt x="7069074" y="4316730"/>
                    <a:pt x="6967728" y="4316730"/>
                  </a:cubicBezTo>
                  <a:lnTo>
                    <a:pt x="183642" y="4316730"/>
                  </a:lnTo>
                  <a:cubicBezTo>
                    <a:pt x="82296" y="4316730"/>
                    <a:pt x="0" y="4234434"/>
                    <a:pt x="0" y="4133088"/>
                  </a:cubicBezTo>
                  <a:close/>
                </a:path>
              </a:pathLst>
            </a:custGeom>
            <a:solidFill>
              <a:srgbClr val="F7F3E8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6485001" y="2143887"/>
            <a:ext cx="5313426" cy="704850"/>
            <a:chOff x="0" y="0"/>
            <a:chExt cx="7084568" cy="939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084568" cy="939800"/>
            </a:xfrm>
            <a:custGeom>
              <a:avLst/>
              <a:gdLst/>
              <a:ahLst/>
              <a:cxnLst/>
              <a:rect l="l" t="t" r="r" b="b"/>
              <a:pathLst>
                <a:path w="7084568" h="939800">
                  <a:moveTo>
                    <a:pt x="0" y="0"/>
                  </a:moveTo>
                  <a:lnTo>
                    <a:pt x="7084568" y="0"/>
                  </a:lnTo>
                  <a:lnTo>
                    <a:pt x="7084568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14213D"/>
            </a:solidFill>
            <a:ln w="1905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6741414" y="2153412"/>
            <a:ext cx="4663440" cy="685800"/>
            <a:chOff x="0" y="0"/>
            <a:chExt cx="6217920" cy="9144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217920" cy="914400"/>
            </a:xfrm>
            <a:custGeom>
              <a:avLst/>
              <a:gdLst/>
              <a:ahLst/>
              <a:cxnLst/>
              <a:rect l="l" t="t" r="r" b="b"/>
              <a:pathLst>
                <a:path w="6217920" h="914400">
                  <a:moveTo>
                    <a:pt x="0" y="0"/>
                  </a:moveTo>
                  <a:lnTo>
                    <a:pt x="6217920" y="0"/>
                  </a:lnTo>
                  <a:lnTo>
                    <a:pt x="6217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498" b="-82498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0"/>
              <a:ext cx="621792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7F3E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Books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731889" y="2994279"/>
            <a:ext cx="677418" cy="375666"/>
            <a:chOff x="0" y="0"/>
            <a:chExt cx="903224" cy="50088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03224" cy="500888"/>
            </a:xfrm>
            <a:custGeom>
              <a:avLst/>
              <a:gdLst/>
              <a:ahLst/>
              <a:cxnLst/>
              <a:rect l="l" t="t" r="r" b="b"/>
              <a:pathLst>
                <a:path w="903224" h="500888">
                  <a:moveTo>
                    <a:pt x="0" y="115570"/>
                  </a:moveTo>
                  <a:cubicBezTo>
                    <a:pt x="0" y="51689"/>
                    <a:pt x="51689" y="0"/>
                    <a:pt x="115570" y="0"/>
                  </a:cubicBezTo>
                  <a:lnTo>
                    <a:pt x="787654" y="0"/>
                  </a:lnTo>
                  <a:cubicBezTo>
                    <a:pt x="851535" y="0"/>
                    <a:pt x="903224" y="51689"/>
                    <a:pt x="903224" y="115570"/>
                  </a:cubicBezTo>
                  <a:lnTo>
                    <a:pt x="903224" y="385318"/>
                  </a:lnTo>
                  <a:cubicBezTo>
                    <a:pt x="903224" y="449199"/>
                    <a:pt x="851535" y="500888"/>
                    <a:pt x="787654" y="500888"/>
                  </a:cubicBezTo>
                  <a:lnTo>
                    <a:pt x="115570" y="500888"/>
                  </a:lnTo>
                  <a:cubicBezTo>
                    <a:pt x="51689" y="500888"/>
                    <a:pt x="0" y="449199"/>
                    <a:pt x="0" y="385318"/>
                  </a:cubicBezTo>
                  <a:close/>
                </a:path>
              </a:pathLst>
            </a:custGeom>
            <a:solidFill>
              <a:srgbClr val="14213D"/>
            </a:solidFill>
            <a:ln w="1905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6741414" y="3003804"/>
            <a:ext cx="658368" cy="356616"/>
            <a:chOff x="0" y="0"/>
            <a:chExt cx="877824" cy="47548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77824" cy="475488"/>
            </a:xfrm>
            <a:custGeom>
              <a:avLst/>
              <a:gdLst/>
              <a:ahLst/>
              <a:cxnLst/>
              <a:rect l="l" t="t" r="r" b="b"/>
              <a:pathLst>
                <a:path w="877824" h="475488">
                  <a:moveTo>
                    <a:pt x="0" y="0"/>
                  </a:moveTo>
                  <a:lnTo>
                    <a:pt x="877824" y="0"/>
                  </a:lnTo>
                  <a:lnTo>
                    <a:pt x="877824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r="-19497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0"/>
              <a:ext cx="877824" cy="475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F7F3E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PK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632954" y="2976372"/>
            <a:ext cx="3840480" cy="411480"/>
            <a:chOff x="0" y="0"/>
            <a:chExt cx="5120640" cy="54864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120640" cy="548640"/>
            </a:xfrm>
            <a:custGeom>
              <a:avLst/>
              <a:gdLst/>
              <a:ahLst/>
              <a:cxnLst/>
              <a:rect l="l" t="t" r="r" b="b"/>
              <a:pathLst>
                <a:path w="5120640" h="548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0"/>
              <a:ext cx="5120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BookID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632954" y="3442716"/>
            <a:ext cx="3840480" cy="411480"/>
            <a:chOff x="0" y="0"/>
            <a:chExt cx="5120640" cy="54864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120640" cy="548640"/>
            </a:xfrm>
            <a:custGeom>
              <a:avLst/>
              <a:gdLst/>
              <a:ahLst/>
              <a:cxnLst/>
              <a:rect l="l" t="t" r="r" b="b"/>
              <a:pathLst>
                <a:path w="5120640" h="548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0"/>
              <a:ext cx="5120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Title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632954" y="3909060"/>
            <a:ext cx="3840480" cy="411480"/>
            <a:chOff x="0" y="0"/>
            <a:chExt cx="5120640" cy="54864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120640" cy="548640"/>
            </a:xfrm>
            <a:custGeom>
              <a:avLst/>
              <a:gdLst/>
              <a:ahLst/>
              <a:cxnLst/>
              <a:rect l="l" t="t" r="r" b="b"/>
              <a:pathLst>
                <a:path w="5120640" h="548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0"/>
              <a:ext cx="5120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Author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632954" y="4375404"/>
            <a:ext cx="3840480" cy="411480"/>
            <a:chOff x="0" y="0"/>
            <a:chExt cx="5120640" cy="54864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120640" cy="548640"/>
            </a:xfrm>
            <a:custGeom>
              <a:avLst/>
              <a:gdLst/>
              <a:ahLst/>
              <a:cxnLst/>
              <a:rect l="l" t="t" r="r" b="b"/>
              <a:pathLst>
                <a:path w="5120640" h="548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0"/>
              <a:ext cx="5120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PublicationYear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7632954" y="4841748"/>
            <a:ext cx="3840480" cy="411480"/>
            <a:chOff x="0" y="0"/>
            <a:chExt cx="5120640" cy="54864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5120640" cy="548640"/>
            </a:xfrm>
            <a:custGeom>
              <a:avLst/>
              <a:gdLst/>
              <a:ahLst/>
              <a:cxnLst/>
              <a:rect l="l" t="t" r="r" b="b"/>
              <a:pathLst>
                <a:path w="5120640" h="548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0"/>
              <a:ext cx="5120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Genre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2104084" y="2118836"/>
            <a:ext cx="5363528" cy="3237548"/>
            <a:chOff x="0" y="0"/>
            <a:chExt cx="7151370" cy="431673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7151370" cy="4316730"/>
            </a:xfrm>
            <a:custGeom>
              <a:avLst/>
              <a:gdLst/>
              <a:ahLst/>
              <a:cxnLst/>
              <a:rect l="l" t="t" r="r" b="b"/>
              <a:pathLst>
                <a:path w="7151370" h="4316730">
                  <a:moveTo>
                    <a:pt x="0" y="183642"/>
                  </a:moveTo>
                  <a:cubicBezTo>
                    <a:pt x="0" y="82296"/>
                    <a:pt x="82296" y="0"/>
                    <a:pt x="183642" y="0"/>
                  </a:cubicBezTo>
                  <a:lnTo>
                    <a:pt x="6967728" y="0"/>
                  </a:lnTo>
                  <a:cubicBezTo>
                    <a:pt x="7069201" y="0"/>
                    <a:pt x="7151370" y="82296"/>
                    <a:pt x="7151370" y="183642"/>
                  </a:cubicBezTo>
                  <a:lnTo>
                    <a:pt x="7151370" y="4133088"/>
                  </a:lnTo>
                  <a:cubicBezTo>
                    <a:pt x="7151370" y="4234561"/>
                    <a:pt x="7069074" y="4316730"/>
                    <a:pt x="6967728" y="4316730"/>
                  </a:cubicBezTo>
                  <a:lnTo>
                    <a:pt x="183642" y="4316730"/>
                  </a:lnTo>
                  <a:cubicBezTo>
                    <a:pt x="82296" y="4316730"/>
                    <a:pt x="0" y="4234434"/>
                    <a:pt x="0" y="4133088"/>
                  </a:cubicBezTo>
                  <a:close/>
                </a:path>
              </a:pathLst>
            </a:custGeom>
            <a:solidFill>
              <a:srgbClr val="F7F3E8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12129135" y="2143887"/>
            <a:ext cx="5313426" cy="704850"/>
            <a:chOff x="0" y="0"/>
            <a:chExt cx="7084568" cy="93980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7084568" cy="939800"/>
            </a:xfrm>
            <a:custGeom>
              <a:avLst/>
              <a:gdLst/>
              <a:ahLst/>
              <a:cxnLst/>
              <a:rect l="l" t="t" r="r" b="b"/>
              <a:pathLst>
                <a:path w="7084568" h="939800">
                  <a:moveTo>
                    <a:pt x="0" y="0"/>
                  </a:moveTo>
                  <a:lnTo>
                    <a:pt x="7084568" y="0"/>
                  </a:lnTo>
                  <a:lnTo>
                    <a:pt x="7084568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14213D"/>
            </a:solidFill>
            <a:ln w="1905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74" name="Group 74"/>
          <p:cNvGrpSpPr/>
          <p:nvPr/>
        </p:nvGrpSpPr>
        <p:grpSpPr>
          <a:xfrm>
            <a:off x="12385548" y="2153412"/>
            <a:ext cx="4663440" cy="685800"/>
            <a:chOff x="0" y="0"/>
            <a:chExt cx="6217920" cy="9144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6217920" cy="914400"/>
            </a:xfrm>
            <a:custGeom>
              <a:avLst/>
              <a:gdLst/>
              <a:ahLst/>
              <a:cxnLst/>
              <a:rect l="l" t="t" r="r" b="b"/>
              <a:pathLst>
                <a:path w="6217920" h="914400">
                  <a:moveTo>
                    <a:pt x="0" y="0"/>
                  </a:moveTo>
                  <a:lnTo>
                    <a:pt x="6217920" y="0"/>
                  </a:lnTo>
                  <a:lnTo>
                    <a:pt x="6217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498" b="-82498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0"/>
              <a:ext cx="621792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7F3E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Loans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2376023" y="2994279"/>
            <a:ext cx="677418" cy="375666"/>
            <a:chOff x="0" y="0"/>
            <a:chExt cx="903224" cy="500888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903224" cy="500888"/>
            </a:xfrm>
            <a:custGeom>
              <a:avLst/>
              <a:gdLst/>
              <a:ahLst/>
              <a:cxnLst/>
              <a:rect l="l" t="t" r="r" b="b"/>
              <a:pathLst>
                <a:path w="903224" h="500888">
                  <a:moveTo>
                    <a:pt x="0" y="115570"/>
                  </a:moveTo>
                  <a:cubicBezTo>
                    <a:pt x="0" y="51689"/>
                    <a:pt x="51689" y="0"/>
                    <a:pt x="115570" y="0"/>
                  </a:cubicBezTo>
                  <a:lnTo>
                    <a:pt x="787654" y="0"/>
                  </a:lnTo>
                  <a:cubicBezTo>
                    <a:pt x="851535" y="0"/>
                    <a:pt x="903224" y="51689"/>
                    <a:pt x="903224" y="115570"/>
                  </a:cubicBezTo>
                  <a:lnTo>
                    <a:pt x="903224" y="385318"/>
                  </a:lnTo>
                  <a:cubicBezTo>
                    <a:pt x="903224" y="449199"/>
                    <a:pt x="851535" y="500888"/>
                    <a:pt x="787654" y="500888"/>
                  </a:cubicBezTo>
                  <a:lnTo>
                    <a:pt x="115570" y="500888"/>
                  </a:lnTo>
                  <a:cubicBezTo>
                    <a:pt x="51689" y="500888"/>
                    <a:pt x="0" y="449199"/>
                    <a:pt x="0" y="385318"/>
                  </a:cubicBezTo>
                  <a:close/>
                </a:path>
              </a:pathLst>
            </a:custGeom>
            <a:solidFill>
              <a:srgbClr val="14213D"/>
            </a:solidFill>
            <a:ln w="1905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12385548" y="3003804"/>
            <a:ext cx="658368" cy="356616"/>
            <a:chOff x="0" y="0"/>
            <a:chExt cx="877824" cy="475488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877824" cy="475488"/>
            </a:xfrm>
            <a:custGeom>
              <a:avLst/>
              <a:gdLst/>
              <a:ahLst/>
              <a:cxnLst/>
              <a:rect l="l" t="t" r="r" b="b"/>
              <a:pathLst>
                <a:path w="877824" h="475488">
                  <a:moveTo>
                    <a:pt x="0" y="0"/>
                  </a:moveTo>
                  <a:lnTo>
                    <a:pt x="877824" y="0"/>
                  </a:lnTo>
                  <a:lnTo>
                    <a:pt x="877824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r="-19497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0"/>
              <a:ext cx="877824" cy="475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F7F3E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PK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3277088" y="2976372"/>
            <a:ext cx="3840480" cy="411480"/>
            <a:chOff x="0" y="0"/>
            <a:chExt cx="5120640" cy="54864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5120640" cy="548640"/>
            </a:xfrm>
            <a:custGeom>
              <a:avLst/>
              <a:gdLst/>
              <a:ahLst/>
              <a:cxnLst/>
              <a:rect l="l" t="t" r="r" b="b"/>
              <a:pathLst>
                <a:path w="5120640" h="548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0"/>
              <a:ext cx="5120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LoanID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2376023" y="3460623"/>
            <a:ext cx="677418" cy="375666"/>
            <a:chOff x="0" y="0"/>
            <a:chExt cx="903224" cy="500888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903224" cy="500888"/>
            </a:xfrm>
            <a:custGeom>
              <a:avLst/>
              <a:gdLst/>
              <a:ahLst/>
              <a:cxnLst/>
              <a:rect l="l" t="t" r="r" b="b"/>
              <a:pathLst>
                <a:path w="903224" h="500888">
                  <a:moveTo>
                    <a:pt x="0" y="115570"/>
                  </a:moveTo>
                  <a:cubicBezTo>
                    <a:pt x="0" y="51689"/>
                    <a:pt x="51689" y="0"/>
                    <a:pt x="115570" y="0"/>
                  </a:cubicBezTo>
                  <a:lnTo>
                    <a:pt x="787654" y="0"/>
                  </a:lnTo>
                  <a:cubicBezTo>
                    <a:pt x="851535" y="0"/>
                    <a:pt x="903224" y="51689"/>
                    <a:pt x="903224" y="115570"/>
                  </a:cubicBezTo>
                  <a:lnTo>
                    <a:pt x="903224" y="385318"/>
                  </a:lnTo>
                  <a:cubicBezTo>
                    <a:pt x="903224" y="449199"/>
                    <a:pt x="851535" y="500888"/>
                    <a:pt x="787654" y="500888"/>
                  </a:cubicBezTo>
                  <a:lnTo>
                    <a:pt x="115570" y="500888"/>
                  </a:lnTo>
                  <a:cubicBezTo>
                    <a:pt x="51689" y="500888"/>
                    <a:pt x="0" y="449199"/>
                    <a:pt x="0" y="385318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87" name="Group 87"/>
          <p:cNvGrpSpPr/>
          <p:nvPr/>
        </p:nvGrpSpPr>
        <p:grpSpPr>
          <a:xfrm>
            <a:off x="12385548" y="3470148"/>
            <a:ext cx="658368" cy="356616"/>
            <a:chOff x="0" y="0"/>
            <a:chExt cx="877824" cy="475488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877824" cy="475488"/>
            </a:xfrm>
            <a:custGeom>
              <a:avLst/>
              <a:gdLst/>
              <a:ahLst/>
              <a:cxnLst/>
              <a:rect l="l" t="t" r="r" b="b"/>
              <a:pathLst>
                <a:path w="877824" h="475488">
                  <a:moveTo>
                    <a:pt x="0" y="0"/>
                  </a:moveTo>
                  <a:lnTo>
                    <a:pt x="877824" y="0"/>
                  </a:lnTo>
                  <a:lnTo>
                    <a:pt x="877824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r="-19497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0"/>
              <a:ext cx="877824" cy="475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FK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3277088" y="3442716"/>
            <a:ext cx="3840480" cy="411480"/>
            <a:chOff x="0" y="0"/>
            <a:chExt cx="5120640" cy="54864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5120640" cy="548640"/>
            </a:xfrm>
            <a:custGeom>
              <a:avLst/>
              <a:gdLst/>
              <a:ahLst/>
              <a:cxnLst/>
              <a:rect l="l" t="t" r="r" b="b"/>
              <a:pathLst>
                <a:path w="5120640" h="548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0"/>
              <a:ext cx="5120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BookID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2376023" y="3926967"/>
            <a:ext cx="677418" cy="375666"/>
            <a:chOff x="0" y="0"/>
            <a:chExt cx="903224" cy="500888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903224" cy="500888"/>
            </a:xfrm>
            <a:custGeom>
              <a:avLst/>
              <a:gdLst/>
              <a:ahLst/>
              <a:cxnLst/>
              <a:rect l="l" t="t" r="r" b="b"/>
              <a:pathLst>
                <a:path w="903224" h="500888">
                  <a:moveTo>
                    <a:pt x="0" y="115570"/>
                  </a:moveTo>
                  <a:cubicBezTo>
                    <a:pt x="0" y="51689"/>
                    <a:pt x="51689" y="0"/>
                    <a:pt x="115570" y="0"/>
                  </a:cubicBezTo>
                  <a:lnTo>
                    <a:pt x="787654" y="0"/>
                  </a:lnTo>
                  <a:cubicBezTo>
                    <a:pt x="851535" y="0"/>
                    <a:pt x="903224" y="51689"/>
                    <a:pt x="903224" y="115570"/>
                  </a:cubicBezTo>
                  <a:lnTo>
                    <a:pt x="903224" y="385318"/>
                  </a:lnTo>
                  <a:cubicBezTo>
                    <a:pt x="903224" y="449199"/>
                    <a:pt x="851535" y="500888"/>
                    <a:pt x="787654" y="500888"/>
                  </a:cubicBezTo>
                  <a:lnTo>
                    <a:pt x="115570" y="500888"/>
                  </a:lnTo>
                  <a:cubicBezTo>
                    <a:pt x="51689" y="500888"/>
                    <a:pt x="0" y="449199"/>
                    <a:pt x="0" y="385318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95" name="Group 95"/>
          <p:cNvGrpSpPr/>
          <p:nvPr/>
        </p:nvGrpSpPr>
        <p:grpSpPr>
          <a:xfrm>
            <a:off x="12385548" y="3936492"/>
            <a:ext cx="658368" cy="356616"/>
            <a:chOff x="0" y="0"/>
            <a:chExt cx="877824" cy="475488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877824" cy="475488"/>
            </a:xfrm>
            <a:custGeom>
              <a:avLst/>
              <a:gdLst/>
              <a:ahLst/>
              <a:cxnLst/>
              <a:rect l="l" t="t" r="r" b="b"/>
              <a:pathLst>
                <a:path w="877824" h="475488">
                  <a:moveTo>
                    <a:pt x="0" y="0"/>
                  </a:moveTo>
                  <a:lnTo>
                    <a:pt x="877824" y="0"/>
                  </a:lnTo>
                  <a:lnTo>
                    <a:pt x="877824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r="-19497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0"/>
              <a:ext cx="877824" cy="475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FK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3277088" y="3909060"/>
            <a:ext cx="3840480" cy="411480"/>
            <a:chOff x="0" y="0"/>
            <a:chExt cx="5120640" cy="54864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5120640" cy="548640"/>
            </a:xfrm>
            <a:custGeom>
              <a:avLst/>
              <a:gdLst/>
              <a:ahLst/>
              <a:cxnLst/>
              <a:rect l="l" t="t" r="r" b="b"/>
              <a:pathLst>
                <a:path w="5120640" h="548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0"/>
              <a:ext cx="5120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MemberID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3277088" y="4375404"/>
            <a:ext cx="3840480" cy="411480"/>
            <a:chOff x="0" y="0"/>
            <a:chExt cx="5120640" cy="54864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5120640" cy="548640"/>
            </a:xfrm>
            <a:custGeom>
              <a:avLst/>
              <a:gdLst/>
              <a:ahLst/>
              <a:cxnLst/>
              <a:rect l="l" t="t" r="r" b="b"/>
              <a:pathLst>
                <a:path w="5120640" h="548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0"/>
              <a:ext cx="5120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LoanDate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3277088" y="4841748"/>
            <a:ext cx="3840480" cy="411480"/>
            <a:chOff x="0" y="0"/>
            <a:chExt cx="5120640" cy="548640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5120640" cy="548640"/>
            </a:xfrm>
            <a:custGeom>
              <a:avLst/>
              <a:gdLst/>
              <a:ahLst/>
              <a:cxnLst/>
              <a:rect l="l" t="t" r="r" b="b"/>
              <a:pathLst>
                <a:path w="5120640" h="548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0"/>
              <a:ext cx="5120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ReturnDate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815816" y="5616416"/>
            <a:ext cx="5363528" cy="3237548"/>
            <a:chOff x="0" y="0"/>
            <a:chExt cx="7151370" cy="4316730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7151370" cy="4316730"/>
            </a:xfrm>
            <a:custGeom>
              <a:avLst/>
              <a:gdLst/>
              <a:ahLst/>
              <a:cxnLst/>
              <a:rect l="l" t="t" r="r" b="b"/>
              <a:pathLst>
                <a:path w="7151370" h="4316730">
                  <a:moveTo>
                    <a:pt x="0" y="183642"/>
                  </a:moveTo>
                  <a:cubicBezTo>
                    <a:pt x="0" y="82296"/>
                    <a:pt x="82296" y="0"/>
                    <a:pt x="183642" y="0"/>
                  </a:cubicBezTo>
                  <a:lnTo>
                    <a:pt x="6967728" y="0"/>
                  </a:lnTo>
                  <a:cubicBezTo>
                    <a:pt x="7069201" y="0"/>
                    <a:pt x="7151370" y="82296"/>
                    <a:pt x="7151370" y="183642"/>
                  </a:cubicBezTo>
                  <a:lnTo>
                    <a:pt x="7151370" y="4133088"/>
                  </a:lnTo>
                  <a:cubicBezTo>
                    <a:pt x="7151370" y="4234561"/>
                    <a:pt x="7069074" y="4316730"/>
                    <a:pt x="6967728" y="4316730"/>
                  </a:cubicBezTo>
                  <a:lnTo>
                    <a:pt x="183642" y="4316730"/>
                  </a:lnTo>
                  <a:cubicBezTo>
                    <a:pt x="82296" y="4316730"/>
                    <a:pt x="0" y="4234434"/>
                    <a:pt x="0" y="4133088"/>
                  </a:cubicBezTo>
                  <a:close/>
                </a:path>
              </a:pathLst>
            </a:custGeom>
            <a:solidFill>
              <a:srgbClr val="F7F3E8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109" name="Group 109"/>
          <p:cNvGrpSpPr/>
          <p:nvPr/>
        </p:nvGrpSpPr>
        <p:grpSpPr>
          <a:xfrm>
            <a:off x="840867" y="5641467"/>
            <a:ext cx="5313426" cy="704850"/>
            <a:chOff x="0" y="0"/>
            <a:chExt cx="7084568" cy="939800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7084568" cy="939800"/>
            </a:xfrm>
            <a:custGeom>
              <a:avLst/>
              <a:gdLst/>
              <a:ahLst/>
              <a:cxnLst/>
              <a:rect l="l" t="t" r="r" b="b"/>
              <a:pathLst>
                <a:path w="7084568" h="939800">
                  <a:moveTo>
                    <a:pt x="0" y="0"/>
                  </a:moveTo>
                  <a:lnTo>
                    <a:pt x="7084568" y="0"/>
                  </a:lnTo>
                  <a:lnTo>
                    <a:pt x="7084568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14213D"/>
            </a:solidFill>
            <a:ln w="1905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111" name="Group 111"/>
          <p:cNvGrpSpPr/>
          <p:nvPr/>
        </p:nvGrpSpPr>
        <p:grpSpPr>
          <a:xfrm>
            <a:off x="1097280" y="5650992"/>
            <a:ext cx="4663440" cy="685800"/>
            <a:chOff x="0" y="0"/>
            <a:chExt cx="6217920" cy="914400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6217920" cy="914400"/>
            </a:xfrm>
            <a:custGeom>
              <a:avLst/>
              <a:gdLst/>
              <a:ahLst/>
              <a:cxnLst/>
              <a:rect l="l" t="t" r="r" b="b"/>
              <a:pathLst>
                <a:path w="6217920" h="914400">
                  <a:moveTo>
                    <a:pt x="0" y="0"/>
                  </a:moveTo>
                  <a:lnTo>
                    <a:pt x="6217920" y="0"/>
                  </a:lnTo>
                  <a:lnTo>
                    <a:pt x="6217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498" b="-82498"/>
              </a:stretch>
            </a:blipFill>
          </p:spPr>
        </p:sp>
        <p:sp>
          <p:nvSpPr>
            <p:cNvPr id="113" name="TextBox 113"/>
            <p:cNvSpPr txBox="1"/>
            <p:nvPr/>
          </p:nvSpPr>
          <p:spPr>
            <a:xfrm>
              <a:off x="0" y="0"/>
              <a:ext cx="621792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7F3E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Authors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1087755" y="6491859"/>
            <a:ext cx="677418" cy="375666"/>
            <a:chOff x="0" y="0"/>
            <a:chExt cx="903224" cy="500888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903224" cy="500888"/>
            </a:xfrm>
            <a:custGeom>
              <a:avLst/>
              <a:gdLst/>
              <a:ahLst/>
              <a:cxnLst/>
              <a:rect l="l" t="t" r="r" b="b"/>
              <a:pathLst>
                <a:path w="903224" h="500888">
                  <a:moveTo>
                    <a:pt x="0" y="115570"/>
                  </a:moveTo>
                  <a:cubicBezTo>
                    <a:pt x="0" y="51689"/>
                    <a:pt x="51689" y="0"/>
                    <a:pt x="115570" y="0"/>
                  </a:cubicBezTo>
                  <a:lnTo>
                    <a:pt x="787654" y="0"/>
                  </a:lnTo>
                  <a:cubicBezTo>
                    <a:pt x="851535" y="0"/>
                    <a:pt x="903224" y="51689"/>
                    <a:pt x="903224" y="115570"/>
                  </a:cubicBezTo>
                  <a:lnTo>
                    <a:pt x="903224" y="385318"/>
                  </a:lnTo>
                  <a:cubicBezTo>
                    <a:pt x="903224" y="449199"/>
                    <a:pt x="851535" y="500888"/>
                    <a:pt x="787654" y="500888"/>
                  </a:cubicBezTo>
                  <a:lnTo>
                    <a:pt x="115570" y="500888"/>
                  </a:lnTo>
                  <a:cubicBezTo>
                    <a:pt x="51689" y="500888"/>
                    <a:pt x="0" y="449199"/>
                    <a:pt x="0" y="385318"/>
                  </a:cubicBezTo>
                  <a:close/>
                </a:path>
              </a:pathLst>
            </a:custGeom>
            <a:solidFill>
              <a:srgbClr val="14213D"/>
            </a:solidFill>
            <a:ln w="1905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116" name="Group 116"/>
          <p:cNvGrpSpPr/>
          <p:nvPr/>
        </p:nvGrpSpPr>
        <p:grpSpPr>
          <a:xfrm>
            <a:off x="1097280" y="6501384"/>
            <a:ext cx="658368" cy="356616"/>
            <a:chOff x="0" y="0"/>
            <a:chExt cx="877824" cy="475488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877824" cy="475488"/>
            </a:xfrm>
            <a:custGeom>
              <a:avLst/>
              <a:gdLst/>
              <a:ahLst/>
              <a:cxnLst/>
              <a:rect l="l" t="t" r="r" b="b"/>
              <a:pathLst>
                <a:path w="877824" h="475488">
                  <a:moveTo>
                    <a:pt x="0" y="0"/>
                  </a:moveTo>
                  <a:lnTo>
                    <a:pt x="877824" y="0"/>
                  </a:lnTo>
                  <a:lnTo>
                    <a:pt x="877824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r="-19497"/>
              </a:stretch>
            </a:blipFill>
          </p:spPr>
        </p:sp>
        <p:sp>
          <p:nvSpPr>
            <p:cNvPr id="118" name="TextBox 118"/>
            <p:cNvSpPr txBox="1"/>
            <p:nvPr/>
          </p:nvSpPr>
          <p:spPr>
            <a:xfrm>
              <a:off x="0" y="0"/>
              <a:ext cx="877824" cy="475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F7F3E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PK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988820" y="6473952"/>
            <a:ext cx="3840480" cy="411480"/>
            <a:chOff x="0" y="0"/>
            <a:chExt cx="5120640" cy="54864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5120640" cy="548640"/>
            </a:xfrm>
            <a:custGeom>
              <a:avLst/>
              <a:gdLst/>
              <a:ahLst/>
              <a:cxnLst/>
              <a:rect l="l" t="t" r="r" b="b"/>
              <a:pathLst>
                <a:path w="5120640" h="548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0"/>
              <a:ext cx="5120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AuthorID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988820" y="6940296"/>
            <a:ext cx="3840480" cy="411480"/>
            <a:chOff x="0" y="0"/>
            <a:chExt cx="5120640" cy="548640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5120640" cy="548640"/>
            </a:xfrm>
            <a:custGeom>
              <a:avLst/>
              <a:gdLst/>
              <a:ahLst/>
              <a:cxnLst/>
              <a:rect l="l" t="t" r="r" b="b"/>
              <a:pathLst>
                <a:path w="5120640" h="548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124" name="TextBox 124"/>
            <p:cNvSpPr txBox="1"/>
            <p:nvPr/>
          </p:nvSpPr>
          <p:spPr>
            <a:xfrm>
              <a:off x="0" y="0"/>
              <a:ext cx="5120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AuthorName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1988820" y="7406640"/>
            <a:ext cx="3840480" cy="411480"/>
            <a:chOff x="0" y="0"/>
            <a:chExt cx="5120640" cy="548640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5120640" cy="548640"/>
            </a:xfrm>
            <a:custGeom>
              <a:avLst/>
              <a:gdLst/>
              <a:ahLst/>
              <a:cxnLst/>
              <a:rect l="l" t="t" r="r" b="b"/>
              <a:pathLst>
                <a:path w="5120640" h="548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127" name="TextBox 127"/>
            <p:cNvSpPr txBox="1"/>
            <p:nvPr/>
          </p:nvSpPr>
          <p:spPr>
            <a:xfrm>
              <a:off x="0" y="0"/>
              <a:ext cx="5120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BirthYear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6459950" y="5616416"/>
            <a:ext cx="5363528" cy="3237548"/>
            <a:chOff x="0" y="0"/>
            <a:chExt cx="7151370" cy="4316730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7151370" cy="4316730"/>
            </a:xfrm>
            <a:custGeom>
              <a:avLst/>
              <a:gdLst/>
              <a:ahLst/>
              <a:cxnLst/>
              <a:rect l="l" t="t" r="r" b="b"/>
              <a:pathLst>
                <a:path w="7151370" h="4316730">
                  <a:moveTo>
                    <a:pt x="0" y="183642"/>
                  </a:moveTo>
                  <a:cubicBezTo>
                    <a:pt x="0" y="82296"/>
                    <a:pt x="82296" y="0"/>
                    <a:pt x="183642" y="0"/>
                  </a:cubicBezTo>
                  <a:lnTo>
                    <a:pt x="6967728" y="0"/>
                  </a:lnTo>
                  <a:cubicBezTo>
                    <a:pt x="7069201" y="0"/>
                    <a:pt x="7151370" y="82296"/>
                    <a:pt x="7151370" y="183642"/>
                  </a:cubicBezTo>
                  <a:lnTo>
                    <a:pt x="7151370" y="4133088"/>
                  </a:lnTo>
                  <a:cubicBezTo>
                    <a:pt x="7151370" y="4234561"/>
                    <a:pt x="7069074" y="4316730"/>
                    <a:pt x="6967728" y="4316730"/>
                  </a:cubicBezTo>
                  <a:lnTo>
                    <a:pt x="183642" y="4316730"/>
                  </a:lnTo>
                  <a:cubicBezTo>
                    <a:pt x="82296" y="4316730"/>
                    <a:pt x="0" y="4234434"/>
                    <a:pt x="0" y="4133088"/>
                  </a:cubicBezTo>
                  <a:close/>
                </a:path>
              </a:pathLst>
            </a:custGeom>
            <a:solidFill>
              <a:srgbClr val="F7F3E8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130" name="Group 130"/>
          <p:cNvGrpSpPr/>
          <p:nvPr/>
        </p:nvGrpSpPr>
        <p:grpSpPr>
          <a:xfrm>
            <a:off x="6485001" y="5641467"/>
            <a:ext cx="5313426" cy="704850"/>
            <a:chOff x="0" y="0"/>
            <a:chExt cx="7084568" cy="939800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7084568" cy="939800"/>
            </a:xfrm>
            <a:custGeom>
              <a:avLst/>
              <a:gdLst/>
              <a:ahLst/>
              <a:cxnLst/>
              <a:rect l="l" t="t" r="r" b="b"/>
              <a:pathLst>
                <a:path w="7084568" h="939800">
                  <a:moveTo>
                    <a:pt x="0" y="0"/>
                  </a:moveTo>
                  <a:lnTo>
                    <a:pt x="7084568" y="0"/>
                  </a:lnTo>
                  <a:lnTo>
                    <a:pt x="7084568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14213D"/>
            </a:solidFill>
            <a:ln w="1905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132" name="Group 132"/>
          <p:cNvGrpSpPr/>
          <p:nvPr/>
        </p:nvGrpSpPr>
        <p:grpSpPr>
          <a:xfrm>
            <a:off x="6741414" y="5650992"/>
            <a:ext cx="4663440" cy="685800"/>
            <a:chOff x="0" y="0"/>
            <a:chExt cx="6217920" cy="914400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6217920" cy="914400"/>
            </a:xfrm>
            <a:custGeom>
              <a:avLst/>
              <a:gdLst/>
              <a:ahLst/>
              <a:cxnLst/>
              <a:rect l="l" t="t" r="r" b="b"/>
              <a:pathLst>
                <a:path w="6217920" h="914400">
                  <a:moveTo>
                    <a:pt x="0" y="0"/>
                  </a:moveTo>
                  <a:lnTo>
                    <a:pt x="6217920" y="0"/>
                  </a:lnTo>
                  <a:lnTo>
                    <a:pt x="6217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498" b="-82498"/>
              </a:stretch>
            </a:blipFill>
          </p:spPr>
        </p:sp>
        <p:sp>
          <p:nvSpPr>
            <p:cNvPr id="134" name="TextBox 134"/>
            <p:cNvSpPr txBox="1"/>
            <p:nvPr/>
          </p:nvSpPr>
          <p:spPr>
            <a:xfrm>
              <a:off x="0" y="0"/>
              <a:ext cx="621792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7F3E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BookAuthors</a:t>
              </a: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6731889" y="6491859"/>
            <a:ext cx="677418" cy="375666"/>
            <a:chOff x="0" y="0"/>
            <a:chExt cx="903224" cy="500888"/>
          </a:xfrm>
        </p:grpSpPr>
        <p:sp>
          <p:nvSpPr>
            <p:cNvPr id="136" name="Freeform 136"/>
            <p:cNvSpPr/>
            <p:nvPr/>
          </p:nvSpPr>
          <p:spPr>
            <a:xfrm>
              <a:off x="0" y="0"/>
              <a:ext cx="903224" cy="500888"/>
            </a:xfrm>
            <a:custGeom>
              <a:avLst/>
              <a:gdLst/>
              <a:ahLst/>
              <a:cxnLst/>
              <a:rect l="l" t="t" r="r" b="b"/>
              <a:pathLst>
                <a:path w="903224" h="500888">
                  <a:moveTo>
                    <a:pt x="0" y="115570"/>
                  </a:moveTo>
                  <a:cubicBezTo>
                    <a:pt x="0" y="51689"/>
                    <a:pt x="51689" y="0"/>
                    <a:pt x="115570" y="0"/>
                  </a:cubicBezTo>
                  <a:lnTo>
                    <a:pt x="787654" y="0"/>
                  </a:lnTo>
                  <a:cubicBezTo>
                    <a:pt x="851535" y="0"/>
                    <a:pt x="903224" y="51689"/>
                    <a:pt x="903224" y="115570"/>
                  </a:cubicBezTo>
                  <a:lnTo>
                    <a:pt x="903224" y="385318"/>
                  </a:lnTo>
                  <a:cubicBezTo>
                    <a:pt x="903224" y="449199"/>
                    <a:pt x="851535" y="500888"/>
                    <a:pt x="787654" y="500888"/>
                  </a:cubicBezTo>
                  <a:lnTo>
                    <a:pt x="115570" y="500888"/>
                  </a:lnTo>
                  <a:cubicBezTo>
                    <a:pt x="51689" y="500888"/>
                    <a:pt x="0" y="449199"/>
                    <a:pt x="0" y="385318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137" name="Group 137"/>
          <p:cNvGrpSpPr/>
          <p:nvPr/>
        </p:nvGrpSpPr>
        <p:grpSpPr>
          <a:xfrm>
            <a:off x="6741414" y="6501384"/>
            <a:ext cx="658368" cy="356616"/>
            <a:chOff x="0" y="0"/>
            <a:chExt cx="877824" cy="475488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877824" cy="475488"/>
            </a:xfrm>
            <a:custGeom>
              <a:avLst/>
              <a:gdLst/>
              <a:ahLst/>
              <a:cxnLst/>
              <a:rect l="l" t="t" r="r" b="b"/>
              <a:pathLst>
                <a:path w="877824" h="475488">
                  <a:moveTo>
                    <a:pt x="0" y="0"/>
                  </a:moveTo>
                  <a:lnTo>
                    <a:pt x="877824" y="0"/>
                  </a:lnTo>
                  <a:lnTo>
                    <a:pt x="877824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r="-19497"/>
              </a:stretch>
            </a:blipFill>
          </p:spPr>
        </p:sp>
        <p:sp>
          <p:nvSpPr>
            <p:cNvPr id="139" name="TextBox 139"/>
            <p:cNvSpPr txBox="1"/>
            <p:nvPr/>
          </p:nvSpPr>
          <p:spPr>
            <a:xfrm>
              <a:off x="0" y="0"/>
              <a:ext cx="877824" cy="475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FK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7632954" y="6473952"/>
            <a:ext cx="3840480" cy="411480"/>
            <a:chOff x="0" y="0"/>
            <a:chExt cx="5120640" cy="548640"/>
          </a:xfrm>
        </p:grpSpPr>
        <p:sp>
          <p:nvSpPr>
            <p:cNvPr id="141" name="Freeform 141"/>
            <p:cNvSpPr/>
            <p:nvPr/>
          </p:nvSpPr>
          <p:spPr>
            <a:xfrm>
              <a:off x="0" y="0"/>
              <a:ext cx="5120640" cy="548640"/>
            </a:xfrm>
            <a:custGeom>
              <a:avLst/>
              <a:gdLst/>
              <a:ahLst/>
              <a:cxnLst/>
              <a:rect l="l" t="t" r="r" b="b"/>
              <a:pathLst>
                <a:path w="5120640" h="548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142" name="TextBox 142"/>
            <p:cNvSpPr txBox="1"/>
            <p:nvPr/>
          </p:nvSpPr>
          <p:spPr>
            <a:xfrm>
              <a:off x="0" y="0"/>
              <a:ext cx="5120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BookID</a:t>
              </a: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6731889" y="6958203"/>
            <a:ext cx="677418" cy="375666"/>
            <a:chOff x="0" y="0"/>
            <a:chExt cx="903224" cy="500888"/>
          </a:xfrm>
        </p:grpSpPr>
        <p:sp>
          <p:nvSpPr>
            <p:cNvPr id="144" name="Freeform 144"/>
            <p:cNvSpPr/>
            <p:nvPr/>
          </p:nvSpPr>
          <p:spPr>
            <a:xfrm>
              <a:off x="0" y="0"/>
              <a:ext cx="903224" cy="500888"/>
            </a:xfrm>
            <a:custGeom>
              <a:avLst/>
              <a:gdLst/>
              <a:ahLst/>
              <a:cxnLst/>
              <a:rect l="l" t="t" r="r" b="b"/>
              <a:pathLst>
                <a:path w="903224" h="500888">
                  <a:moveTo>
                    <a:pt x="0" y="115570"/>
                  </a:moveTo>
                  <a:cubicBezTo>
                    <a:pt x="0" y="51689"/>
                    <a:pt x="51689" y="0"/>
                    <a:pt x="115570" y="0"/>
                  </a:cubicBezTo>
                  <a:lnTo>
                    <a:pt x="787654" y="0"/>
                  </a:lnTo>
                  <a:cubicBezTo>
                    <a:pt x="851535" y="0"/>
                    <a:pt x="903224" y="51689"/>
                    <a:pt x="903224" y="115570"/>
                  </a:cubicBezTo>
                  <a:lnTo>
                    <a:pt x="903224" y="385318"/>
                  </a:lnTo>
                  <a:cubicBezTo>
                    <a:pt x="903224" y="449199"/>
                    <a:pt x="851535" y="500888"/>
                    <a:pt x="787654" y="500888"/>
                  </a:cubicBezTo>
                  <a:lnTo>
                    <a:pt x="115570" y="500888"/>
                  </a:lnTo>
                  <a:cubicBezTo>
                    <a:pt x="51689" y="500888"/>
                    <a:pt x="0" y="449199"/>
                    <a:pt x="0" y="385318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145" name="Group 145"/>
          <p:cNvGrpSpPr/>
          <p:nvPr/>
        </p:nvGrpSpPr>
        <p:grpSpPr>
          <a:xfrm>
            <a:off x="6741414" y="6967728"/>
            <a:ext cx="658368" cy="356616"/>
            <a:chOff x="0" y="0"/>
            <a:chExt cx="877824" cy="475488"/>
          </a:xfrm>
        </p:grpSpPr>
        <p:sp>
          <p:nvSpPr>
            <p:cNvPr id="146" name="Freeform 146"/>
            <p:cNvSpPr/>
            <p:nvPr/>
          </p:nvSpPr>
          <p:spPr>
            <a:xfrm>
              <a:off x="0" y="0"/>
              <a:ext cx="877824" cy="475488"/>
            </a:xfrm>
            <a:custGeom>
              <a:avLst/>
              <a:gdLst/>
              <a:ahLst/>
              <a:cxnLst/>
              <a:rect l="l" t="t" r="r" b="b"/>
              <a:pathLst>
                <a:path w="877824" h="475488">
                  <a:moveTo>
                    <a:pt x="0" y="0"/>
                  </a:moveTo>
                  <a:lnTo>
                    <a:pt x="877824" y="0"/>
                  </a:lnTo>
                  <a:lnTo>
                    <a:pt x="877824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r="-19497"/>
              </a:stretch>
            </a:blipFill>
          </p:spPr>
        </p:sp>
        <p:sp>
          <p:nvSpPr>
            <p:cNvPr id="147" name="TextBox 147"/>
            <p:cNvSpPr txBox="1"/>
            <p:nvPr/>
          </p:nvSpPr>
          <p:spPr>
            <a:xfrm>
              <a:off x="0" y="0"/>
              <a:ext cx="877824" cy="475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FK</a:t>
              </a:r>
            </a:p>
          </p:txBody>
        </p:sp>
      </p:grpSp>
      <p:grpSp>
        <p:nvGrpSpPr>
          <p:cNvPr id="148" name="Group 148"/>
          <p:cNvGrpSpPr/>
          <p:nvPr/>
        </p:nvGrpSpPr>
        <p:grpSpPr>
          <a:xfrm>
            <a:off x="7632954" y="6940296"/>
            <a:ext cx="3840480" cy="411480"/>
            <a:chOff x="0" y="0"/>
            <a:chExt cx="5120640" cy="548640"/>
          </a:xfrm>
        </p:grpSpPr>
        <p:sp>
          <p:nvSpPr>
            <p:cNvPr id="149" name="Freeform 149"/>
            <p:cNvSpPr/>
            <p:nvPr/>
          </p:nvSpPr>
          <p:spPr>
            <a:xfrm>
              <a:off x="0" y="0"/>
              <a:ext cx="5120640" cy="548640"/>
            </a:xfrm>
            <a:custGeom>
              <a:avLst/>
              <a:gdLst/>
              <a:ahLst/>
              <a:cxnLst/>
              <a:rect l="l" t="t" r="r" b="b"/>
              <a:pathLst>
                <a:path w="5120640" h="548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150" name="TextBox 150"/>
            <p:cNvSpPr txBox="1"/>
            <p:nvPr/>
          </p:nvSpPr>
          <p:spPr>
            <a:xfrm>
              <a:off x="0" y="0"/>
              <a:ext cx="5120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AuthorID</a:t>
              </a:r>
            </a:p>
          </p:txBody>
        </p:sp>
      </p:grpSp>
      <p:grpSp>
        <p:nvGrpSpPr>
          <p:cNvPr id="151" name="Group 151"/>
          <p:cNvGrpSpPr/>
          <p:nvPr/>
        </p:nvGrpSpPr>
        <p:grpSpPr>
          <a:xfrm>
            <a:off x="12104084" y="5616416"/>
            <a:ext cx="5363528" cy="3237548"/>
            <a:chOff x="0" y="0"/>
            <a:chExt cx="7151370" cy="4316730"/>
          </a:xfrm>
        </p:grpSpPr>
        <p:sp>
          <p:nvSpPr>
            <p:cNvPr id="152" name="Freeform 152"/>
            <p:cNvSpPr/>
            <p:nvPr/>
          </p:nvSpPr>
          <p:spPr>
            <a:xfrm>
              <a:off x="0" y="0"/>
              <a:ext cx="7151370" cy="4316730"/>
            </a:xfrm>
            <a:custGeom>
              <a:avLst/>
              <a:gdLst/>
              <a:ahLst/>
              <a:cxnLst/>
              <a:rect l="l" t="t" r="r" b="b"/>
              <a:pathLst>
                <a:path w="7151370" h="4316730">
                  <a:moveTo>
                    <a:pt x="0" y="183642"/>
                  </a:moveTo>
                  <a:cubicBezTo>
                    <a:pt x="0" y="82296"/>
                    <a:pt x="82296" y="0"/>
                    <a:pt x="183642" y="0"/>
                  </a:cubicBezTo>
                  <a:lnTo>
                    <a:pt x="6967728" y="0"/>
                  </a:lnTo>
                  <a:cubicBezTo>
                    <a:pt x="7069201" y="0"/>
                    <a:pt x="7151370" y="82296"/>
                    <a:pt x="7151370" y="183642"/>
                  </a:cubicBezTo>
                  <a:lnTo>
                    <a:pt x="7151370" y="4133088"/>
                  </a:lnTo>
                  <a:cubicBezTo>
                    <a:pt x="7151370" y="4234561"/>
                    <a:pt x="7069074" y="4316730"/>
                    <a:pt x="6967728" y="4316730"/>
                  </a:cubicBezTo>
                  <a:lnTo>
                    <a:pt x="183642" y="4316730"/>
                  </a:lnTo>
                  <a:cubicBezTo>
                    <a:pt x="82296" y="4316730"/>
                    <a:pt x="0" y="4234434"/>
                    <a:pt x="0" y="4133088"/>
                  </a:cubicBezTo>
                  <a:close/>
                </a:path>
              </a:pathLst>
            </a:custGeom>
            <a:solidFill>
              <a:srgbClr val="F7F3E8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153" name="Group 153"/>
          <p:cNvGrpSpPr/>
          <p:nvPr/>
        </p:nvGrpSpPr>
        <p:grpSpPr>
          <a:xfrm>
            <a:off x="12129135" y="5641467"/>
            <a:ext cx="5313426" cy="704850"/>
            <a:chOff x="0" y="0"/>
            <a:chExt cx="7084568" cy="939800"/>
          </a:xfrm>
        </p:grpSpPr>
        <p:sp>
          <p:nvSpPr>
            <p:cNvPr id="154" name="Freeform 154"/>
            <p:cNvSpPr/>
            <p:nvPr/>
          </p:nvSpPr>
          <p:spPr>
            <a:xfrm>
              <a:off x="0" y="0"/>
              <a:ext cx="7084568" cy="939800"/>
            </a:xfrm>
            <a:custGeom>
              <a:avLst/>
              <a:gdLst/>
              <a:ahLst/>
              <a:cxnLst/>
              <a:rect l="l" t="t" r="r" b="b"/>
              <a:pathLst>
                <a:path w="7084568" h="939800">
                  <a:moveTo>
                    <a:pt x="0" y="0"/>
                  </a:moveTo>
                  <a:lnTo>
                    <a:pt x="7084568" y="0"/>
                  </a:lnTo>
                  <a:lnTo>
                    <a:pt x="7084568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14213D"/>
            </a:solidFill>
            <a:ln w="1905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155" name="Group 155"/>
          <p:cNvGrpSpPr/>
          <p:nvPr/>
        </p:nvGrpSpPr>
        <p:grpSpPr>
          <a:xfrm>
            <a:off x="12385548" y="5650992"/>
            <a:ext cx="4663440" cy="685800"/>
            <a:chOff x="0" y="0"/>
            <a:chExt cx="6217920" cy="914400"/>
          </a:xfrm>
        </p:grpSpPr>
        <p:sp>
          <p:nvSpPr>
            <p:cNvPr id="156" name="Freeform 156"/>
            <p:cNvSpPr/>
            <p:nvPr/>
          </p:nvSpPr>
          <p:spPr>
            <a:xfrm>
              <a:off x="0" y="0"/>
              <a:ext cx="6217920" cy="914400"/>
            </a:xfrm>
            <a:custGeom>
              <a:avLst/>
              <a:gdLst/>
              <a:ahLst/>
              <a:cxnLst/>
              <a:rect l="l" t="t" r="r" b="b"/>
              <a:pathLst>
                <a:path w="6217920" h="914400">
                  <a:moveTo>
                    <a:pt x="0" y="0"/>
                  </a:moveTo>
                  <a:lnTo>
                    <a:pt x="6217920" y="0"/>
                  </a:lnTo>
                  <a:lnTo>
                    <a:pt x="6217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498" b="-82498"/>
              </a:stretch>
            </a:blipFill>
          </p:spPr>
        </p:sp>
        <p:sp>
          <p:nvSpPr>
            <p:cNvPr id="157" name="TextBox 157"/>
            <p:cNvSpPr txBox="1"/>
            <p:nvPr/>
          </p:nvSpPr>
          <p:spPr>
            <a:xfrm>
              <a:off x="0" y="0"/>
              <a:ext cx="621792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7F3E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Fines</a:t>
              </a:r>
            </a:p>
          </p:txBody>
        </p:sp>
      </p:grpSp>
      <p:grpSp>
        <p:nvGrpSpPr>
          <p:cNvPr id="158" name="Group 158"/>
          <p:cNvGrpSpPr/>
          <p:nvPr/>
        </p:nvGrpSpPr>
        <p:grpSpPr>
          <a:xfrm>
            <a:off x="12376023" y="6491859"/>
            <a:ext cx="677418" cy="375666"/>
            <a:chOff x="0" y="0"/>
            <a:chExt cx="903224" cy="500888"/>
          </a:xfrm>
        </p:grpSpPr>
        <p:sp>
          <p:nvSpPr>
            <p:cNvPr id="159" name="Freeform 159"/>
            <p:cNvSpPr/>
            <p:nvPr/>
          </p:nvSpPr>
          <p:spPr>
            <a:xfrm>
              <a:off x="0" y="0"/>
              <a:ext cx="903224" cy="500888"/>
            </a:xfrm>
            <a:custGeom>
              <a:avLst/>
              <a:gdLst/>
              <a:ahLst/>
              <a:cxnLst/>
              <a:rect l="l" t="t" r="r" b="b"/>
              <a:pathLst>
                <a:path w="903224" h="500888">
                  <a:moveTo>
                    <a:pt x="0" y="115570"/>
                  </a:moveTo>
                  <a:cubicBezTo>
                    <a:pt x="0" y="51689"/>
                    <a:pt x="51689" y="0"/>
                    <a:pt x="115570" y="0"/>
                  </a:cubicBezTo>
                  <a:lnTo>
                    <a:pt x="787654" y="0"/>
                  </a:lnTo>
                  <a:cubicBezTo>
                    <a:pt x="851535" y="0"/>
                    <a:pt x="903224" y="51689"/>
                    <a:pt x="903224" y="115570"/>
                  </a:cubicBezTo>
                  <a:lnTo>
                    <a:pt x="903224" y="385318"/>
                  </a:lnTo>
                  <a:cubicBezTo>
                    <a:pt x="903224" y="449199"/>
                    <a:pt x="851535" y="500888"/>
                    <a:pt x="787654" y="500888"/>
                  </a:cubicBezTo>
                  <a:lnTo>
                    <a:pt x="115570" y="500888"/>
                  </a:lnTo>
                  <a:cubicBezTo>
                    <a:pt x="51689" y="500888"/>
                    <a:pt x="0" y="449199"/>
                    <a:pt x="0" y="385318"/>
                  </a:cubicBezTo>
                  <a:close/>
                </a:path>
              </a:pathLst>
            </a:custGeom>
            <a:solidFill>
              <a:srgbClr val="14213D"/>
            </a:solidFill>
            <a:ln w="1905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160" name="Group 160"/>
          <p:cNvGrpSpPr/>
          <p:nvPr/>
        </p:nvGrpSpPr>
        <p:grpSpPr>
          <a:xfrm>
            <a:off x="12385548" y="6501384"/>
            <a:ext cx="658368" cy="356616"/>
            <a:chOff x="0" y="0"/>
            <a:chExt cx="877824" cy="475488"/>
          </a:xfrm>
        </p:grpSpPr>
        <p:sp>
          <p:nvSpPr>
            <p:cNvPr id="161" name="Freeform 161"/>
            <p:cNvSpPr/>
            <p:nvPr/>
          </p:nvSpPr>
          <p:spPr>
            <a:xfrm>
              <a:off x="0" y="0"/>
              <a:ext cx="877824" cy="475488"/>
            </a:xfrm>
            <a:custGeom>
              <a:avLst/>
              <a:gdLst/>
              <a:ahLst/>
              <a:cxnLst/>
              <a:rect l="l" t="t" r="r" b="b"/>
              <a:pathLst>
                <a:path w="877824" h="475488">
                  <a:moveTo>
                    <a:pt x="0" y="0"/>
                  </a:moveTo>
                  <a:lnTo>
                    <a:pt x="877824" y="0"/>
                  </a:lnTo>
                  <a:lnTo>
                    <a:pt x="877824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r="-19497"/>
              </a:stretch>
            </a:blipFill>
          </p:spPr>
        </p:sp>
        <p:sp>
          <p:nvSpPr>
            <p:cNvPr id="162" name="TextBox 162"/>
            <p:cNvSpPr txBox="1"/>
            <p:nvPr/>
          </p:nvSpPr>
          <p:spPr>
            <a:xfrm>
              <a:off x="0" y="0"/>
              <a:ext cx="877824" cy="475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F7F3E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PK</a:t>
              </a:r>
            </a:p>
          </p:txBody>
        </p:sp>
      </p:grpSp>
      <p:grpSp>
        <p:nvGrpSpPr>
          <p:cNvPr id="163" name="Group 163"/>
          <p:cNvGrpSpPr/>
          <p:nvPr/>
        </p:nvGrpSpPr>
        <p:grpSpPr>
          <a:xfrm>
            <a:off x="13277088" y="6473952"/>
            <a:ext cx="3840480" cy="411480"/>
            <a:chOff x="0" y="0"/>
            <a:chExt cx="5120640" cy="548640"/>
          </a:xfrm>
        </p:grpSpPr>
        <p:sp>
          <p:nvSpPr>
            <p:cNvPr id="164" name="Freeform 164"/>
            <p:cNvSpPr/>
            <p:nvPr/>
          </p:nvSpPr>
          <p:spPr>
            <a:xfrm>
              <a:off x="0" y="0"/>
              <a:ext cx="5120640" cy="548640"/>
            </a:xfrm>
            <a:custGeom>
              <a:avLst/>
              <a:gdLst/>
              <a:ahLst/>
              <a:cxnLst/>
              <a:rect l="l" t="t" r="r" b="b"/>
              <a:pathLst>
                <a:path w="5120640" h="548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165" name="TextBox 165"/>
            <p:cNvSpPr txBox="1"/>
            <p:nvPr/>
          </p:nvSpPr>
          <p:spPr>
            <a:xfrm>
              <a:off x="0" y="0"/>
              <a:ext cx="5120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FineID</a:t>
              </a:r>
            </a:p>
          </p:txBody>
        </p:sp>
      </p:grpSp>
      <p:grpSp>
        <p:nvGrpSpPr>
          <p:cNvPr id="166" name="Group 166"/>
          <p:cNvGrpSpPr/>
          <p:nvPr/>
        </p:nvGrpSpPr>
        <p:grpSpPr>
          <a:xfrm>
            <a:off x="12376023" y="6958203"/>
            <a:ext cx="677418" cy="375666"/>
            <a:chOff x="0" y="0"/>
            <a:chExt cx="903224" cy="500888"/>
          </a:xfrm>
        </p:grpSpPr>
        <p:sp>
          <p:nvSpPr>
            <p:cNvPr id="167" name="Freeform 167"/>
            <p:cNvSpPr/>
            <p:nvPr/>
          </p:nvSpPr>
          <p:spPr>
            <a:xfrm>
              <a:off x="0" y="0"/>
              <a:ext cx="903224" cy="500888"/>
            </a:xfrm>
            <a:custGeom>
              <a:avLst/>
              <a:gdLst/>
              <a:ahLst/>
              <a:cxnLst/>
              <a:rect l="l" t="t" r="r" b="b"/>
              <a:pathLst>
                <a:path w="903224" h="500888">
                  <a:moveTo>
                    <a:pt x="0" y="115570"/>
                  </a:moveTo>
                  <a:cubicBezTo>
                    <a:pt x="0" y="51689"/>
                    <a:pt x="51689" y="0"/>
                    <a:pt x="115570" y="0"/>
                  </a:cubicBezTo>
                  <a:lnTo>
                    <a:pt x="787654" y="0"/>
                  </a:lnTo>
                  <a:cubicBezTo>
                    <a:pt x="851535" y="0"/>
                    <a:pt x="903224" y="51689"/>
                    <a:pt x="903224" y="115570"/>
                  </a:cubicBezTo>
                  <a:lnTo>
                    <a:pt x="903224" y="385318"/>
                  </a:lnTo>
                  <a:cubicBezTo>
                    <a:pt x="903224" y="449199"/>
                    <a:pt x="851535" y="500888"/>
                    <a:pt x="787654" y="500888"/>
                  </a:cubicBezTo>
                  <a:lnTo>
                    <a:pt x="115570" y="500888"/>
                  </a:lnTo>
                  <a:cubicBezTo>
                    <a:pt x="51689" y="500888"/>
                    <a:pt x="0" y="449199"/>
                    <a:pt x="0" y="385318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168" name="Group 168"/>
          <p:cNvGrpSpPr/>
          <p:nvPr/>
        </p:nvGrpSpPr>
        <p:grpSpPr>
          <a:xfrm>
            <a:off x="12385548" y="6967728"/>
            <a:ext cx="658368" cy="356616"/>
            <a:chOff x="0" y="0"/>
            <a:chExt cx="877824" cy="475488"/>
          </a:xfrm>
        </p:grpSpPr>
        <p:sp>
          <p:nvSpPr>
            <p:cNvPr id="169" name="Freeform 169"/>
            <p:cNvSpPr/>
            <p:nvPr/>
          </p:nvSpPr>
          <p:spPr>
            <a:xfrm>
              <a:off x="0" y="0"/>
              <a:ext cx="877824" cy="475488"/>
            </a:xfrm>
            <a:custGeom>
              <a:avLst/>
              <a:gdLst/>
              <a:ahLst/>
              <a:cxnLst/>
              <a:rect l="l" t="t" r="r" b="b"/>
              <a:pathLst>
                <a:path w="877824" h="475488">
                  <a:moveTo>
                    <a:pt x="0" y="0"/>
                  </a:moveTo>
                  <a:lnTo>
                    <a:pt x="877824" y="0"/>
                  </a:lnTo>
                  <a:lnTo>
                    <a:pt x="877824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7" r="-19497"/>
              </a:stretch>
            </a:blipFill>
          </p:spPr>
        </p:sp>
        <p:sp>
          <p:nvSpPr>
            <p:cNvPr id="170" name="TextBox 170"/>
            <p:cNvSpPr txBox="1"/>
            <p:nvPr/>
          </p:nvSpPr>
          <p:spPr>
            <a:xfrm>
              <a:off x="0" y="0"/>
              <a:ext cx="877824" cy="475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FK</a:t>
              </a:r>
            </a:p>
          </p:txBody>
        </p:sp>
      </p:grpSp>
      <p:grpSp>
        <p:nvGrpSpPr>
          <p:cNvPr id="171" name="Group 171"/>
          <p:cNvGrpSpPr/>
          <p:nvPr/>
        </p:nvGrpSpPr>
        <p:grpSpPr>
          <a:xfrm>
            <a:off x="13277088" y="6940296"/>
            <a:ext cx="3840480" cy="411480"/>
            <a:chOff x="0" y="0"/>
            <a:chExt cx="5120640" cy="548640"/>
          </a:xfrm>
        </p:grpSpPr>
        <p:sp>
          <p:nvSpPr>
            <p:cNvPr id="172" name="Freeform 172"/>
            <p:cNvSpPr/>
            <p:nvPr/>
          </p:nvSpPr>
          <p:spPr>
            <a:xfrm>
              <a:off x="0" y="0"/>
              <a:ext cx="5120640" cy="548640"/>
            </a:xfrm>
            <a:custGeom>
              <a:avLst/>
              <a:gdLst/>
              <a:ahLst/>
              <a:cxnLst/>
              <a:rect l="l" t="t" r="r" b="b"/>
              <a:pathLst>
                <a:path w="5120640" h="548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173" name="TextBox 173"/>
            <p:cNvSpPr txBox="1"/>
            <p:nvPr/>
          </p:nvSpPr>
          <p:spPr>
            <a:xfrm>
              <a:off x="0" y="0"/>
              <a:ext cx="5120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LoanID</a:t>
              </a:r>
            </a:p>
          </p:txBody>
        </p:sp>
      </p:grpSp>
      <p:grpSp>
        <p:nvGrpSpPr>
          <p:cNvPr id="174" name="Group 174"/>
          <p:cNvGrpSpPr/>
          <p:nvPr/>
        </p:nvGrpSpPr>
        <p:grpSpPr>
          <a:xfrm>
            <a:off x="13277088" y="7406640"/>
            <a:ext cx="3840480" cy="411480"/>
            <a:chOff x="0" y="0"/>
            <a:chExt cx="5120640" cy="548640"/>
          </a:xfrm>
        </p:grpSpPr>
        <p:sp>
          <p:nvSpPr>
            <p:cNvPr id="175" name="Freeform 175"/>
            <p:cNvSpPr/>
            <p:nvPr/>
          </p:nvSpPr>
          <p:spPr>
            <a:xfrm>
              <a:off x="0" y="0"/>
              <a:ext cx="5120640" cy="548640"/>
            </a:xfrm>
            <a:custGeom>
              <a:avLst/>
              <a:gdLst/>
              <a:ahLst/>
              <a:cxnLst/>
              <a:rect l="l" t="t" r="r" b="b"/>
              <a:pathLst>
                <a:path w="5120640" h="548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176" name="TextBox 176"/>
            <p:cNvSpPr txBox="1"/>
            <p:nvPr/>
          </p:nvSpPr>
          <p:spPr>
            <a:xfrm>
              <a:off x="0" y="0"/>
              <a:ext cx="5120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FineAmount</a:t>
              </a:r>
            </a:p>
          </p:txBody>
        </p:sp>
      </p:grpSp>
      <p:grpSp>
        <p:nvGrpSpPr>
          <p:cNvPr id="177" name="Group 177"/>
          <p:cNvGrpSpPr/>
          <p:nvPr/>
        </p:nvGrpSpPr>
        <p:grpSpPr>
          <a:xfrm>
            <a:off x="13277088" y="7872984"/>
            <a:ext cx="3840480" cy="411480"/>
            <a:chOff x="0" y="0"/>
            <a:chExt cx="5120640" cy="548640"/>
          </a:xfrm>
        </p:grpSpPr>
        <p:sp>
          <p:nvSpPr>
            <p:cNvPr id="178" name="Freeform 178"/>
            <p:cNvSpPr/>
            <p:nvPr/>
          </p:nvSpPr>
          <p:spPr>
            <a:xfrm>
              <a:off x="0" y="0"/>
              <a:ext cx="5120640" cy="548640"/>
            </a:xfrm>
            <a:custGeom>
              <a:avLst/>
              <a:gdLst/>
              <a:ahLst/>
              <a:cxnLst/>
              <a:rect l="l" t="t" r="r" b="b"/>
              <a:pathLst>
                <a:path w="5120640" h="548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179" name="TextBox 179"/>
            <p:cNvSpPr txBox="1"/>
            <p:nvPr/>
          </p:nvSpPr>
          <p:spPr>
            <a:xfrm>
              <a:off x="0" y="0"/>
              <a:ext cx="5120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PaidDate</a:t>
              </a:r>
            </a:p>
          </p:txBody>
        </p:sp>
      </p:grpSp>
      <p:grpSp>
        <p:nvGrpSpPr>
          <p:cNvPr id="180" name="Group 180"/>
          <p:cNvGrpSpPr/>
          <p:nvPr/>
        </p:nvGrpSpPr>
        <p:grpSpPr>
          <a:xfrm>
            <a:off x="822960" y="9189720"/>
            <a:ext cx="8229600" cy="342900"/>
            <a:chOff x="0" y="0"/>
            <a:chExt cx="10972800" cy="457200"/>
          </a:xfrm>
        </p:grpSpPr>
        <p:sp>
          <p:nvSpPr>
            <p:cNvPr id="181" name="Freeform 181"/>
            <p:cNvSpPr/>
            <p:nvPr/>
          </p:nvSpPr>
          <p:spPr>
            <a:xfrm>
              <a:off x="0" y="0"/>
              <a:ext cx="10972800" cy="457200"/>
            </a:xfrm>
            <a:custGeom>
              <a:avLst/>
              <a:gdLst/>
              <a:ahLst/>
              <a:cxnLst/>
              <a:rect l="l" t="t" r="r" b="b"/>
              <a:pathLst>
                <a:path w="10972800" h="457200">
                  <a:moveTo>
                    <a:pt x="0" y="0"/>
                  </a:moveTo>
                  <a:lnTo>
                    <a:pt x="10972800" y="0"/>
                  </a:lnTo>
                  <a:lnTo>
                    <a:pt x="10972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7640" b="-417640"/>
              </a:stretch>
            </a:blipFill>
          </p:spPr>
        </p:sp>
        <p:sp>
          <p:nvSpPr>
            <p:cNvPr id="182" name="TextBox 182"/>
            <p:cNvSpPr txBox="1"/>
            <p:nvPr/>
          </p:nvSpPr>
          <p:spPr>
            <a:xfrm>
              <a:off x="0" y="0"/>
              <a:ext cx="109728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PK = Primary Key     FK = Foreign Key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920">
            <a:off x="811044" y="1805750"/>
            <a:ext cx="16661340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2940">
            <a:off x="815816" y="9569006"/>
            <a:ext cx="16651805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22960" y="9683496"/>
            <a:ext cx="10972800" cy="342900"/>
            <a:chOff x="0" y="0"/>
            <a:chExt cx="146304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1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LIBRARY MANAGEMENT SYSTEM  ·  MYSQL DATABASE PROJECT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850392"/>
            <a:ext cx="16637508" cy="850392"/>
            <a:chOff x="0" y="0"/>
            <a:chExt cx="22183344" cy="11338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3344" cy="1133856"/>
            </a:xfrm>
            <a:custGeom>
              <a:avLst/>
              <a:gdLst/>
              <a:ahLst/>
              <a:cxnLst/>
              <a:rect l="l" t="t" r="r" b="b"/>
              <a:pathLst>
                <a:path w="22183344" h="1133856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1215" b="-33121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2183344" cy="1124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Database Relationships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2960" y="466344"/>
            <a:ext cx="10972800" cy="342900"/>
            <a:chOff x="0" y="0"/>
            <a:chExt cx="1463040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DATABASE DESIGN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73400" y="9683496"/>
            <a:ext cx="1687068" cy="342900"/>
            <a:chOff x="0" y="0"/>
            <a:chExt cx="2249424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4" cy="457200"/>
            </a:xfrm>
            <a:custGeom>
              <a:avLst/>
              <a:gdLst/>
              <a:ahLst/>
              <a:cxnLst/>
              <a:rect l="l" t="t" r="r" b="b"/>
              <a:pathLst>
                <a:path w="2249424" h="457200">
                  <a:moveTo>
                    <a:pt x="0" y="0"/>
                  </a:moveTo>
                  <a:lnTo>
                    <a:pt x="2249424" y="0"/>
                  </a:lnTo>
                  <a:lnTo>
                    <a:pt x="22494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866" b="-4586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2494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7 / 25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15816" y="2324576"/>
            <a:ext cx="3168967" cy="864680"/>
            <a:chOff x="0" y="0"/>
            <a:chExt cx="4225290" cy="115290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225290" cy="1152906"/>
            </a:xfrm>
            <a:custGeom>
              <a:avLst/>
              <a:gdLst/>
              <a:ahLst/>
              <a:cxnLst/>
              <a:rect l="l" t="t" r="r" b="b"/>
              <a:pathLst>
                <a:path w="4225290" h="1152906">
                  <a:moveTo>
                    <a:pt x="0" y="185928"/>
                  </a:moveTo>
                  <a:cubicBezTo>
                    <a:pt x="0" y="83312"/>
                    <a:pt x="83312" y="0"/>
                    <a:pt x="185928" y="0"/>
                  </a:cubicBezTo>
                  <a:lnTo>
                    <a:pt x="4039362" y="0"/>
                  </a:lnTo>
                  <a:cubicBezTo>
                    <a:pt x="4142105" y="0"/>
                    <a:pt x="4225290" y="83312"/>
                    <a:pt x="4225290" y="185928"/>
                  </a:cubicBezTo>
                  <a:lnTo>
                    <a:pt x="4225290" y="966978"/>
                  </a:lnTo>
                  <a:cubicBezTo>
                    <a:pt x="4225290" y="1069721"/>
                    <a:pt x="4141978" y="1152906"/>
                    <a:pt x="4039362" y="1152906"/>
                  </a:cubicBezTo>
                  <a:lnTo>
                    <a:pt x="185928" y="1152906"/>
                  </a:lnTo>
                  <a:cubicBezTo>
                    <a:pt x="83312" y="1152906"/>
                    <a:pt x="0" y="1069594"/>
                    <a:pt x="0" y="966978"/>
                  </a:cubicBezTo>
                  <a:close/>
                </a:path>
              </a:pathLst>
            </a:custGeom>
            <a:solidFill>
              <a:srgbClr val="14213D"/>
            </a:solidFill>
            <a:ln w="14288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822960" y="2331720"/>
            <a:ext cx="3154680" cy="850392"/>
            <a:chOff x="0" y="0"/>
            <a:chExt cx="4206240" cy="113385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206240" cy="1133856"/>
            </a:xfrm>
            <a:custGeom>
              <a:avLst/>
              <a:gdLst/>
              <a:ahLst/>
              <a:cxnLst/>
              <a:rect l="l" t="t" r="r" b="b"/>
              <a:pathLst>
                <a:path w="4206240" h="1133856">
                  <a:moveTo>
                    <a:pt x="0" y="0"/>
                  </a:moveTo>
                  <a:lnTo>
                    <a:pt x="4206240" y="0"/>
                  </a:lnTo>
                  <a:lnTo>
                    <a:pt x="42062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83" b="-22283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420624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F7F3E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Members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183380" y="2331720"/>
            <a:ext cx="548640" cy="850392"/>
            <a:chOff x="0" y="0"/>
            <a:chExt cx="731520" cy="113385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31520" cy="1133856"/>
            </a:xfrm>
            <a:custGeom>
              <a:avLst/>
              <a:gdLst/>
              <a:ahLst/>
              <a:cxnLst/>
              <a:rect l="l" t="t" r="r" b="b"/>
              <a:pathLst>
                <a:path w="731520" h="1133856">
                  <a:moveTo>
                    <a:pt x="0" y="0"/>
                  </a:moveTo>
                  <a:lnTo>
                    <a:pt x="731520" y="0"/>
                  </a:lnTo>
                  <a:lnTo>
                    <a:pt x="7315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8870" r="-148870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7315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 rot="46080">
            <a:off x="4710446" y="2747391"/>
            <a:ext cx="3197828" cy="0"/>
          </a:xfrm>
          <a:prstGeom prst="line">
            <a:avLst/>
          </a:prstGeom>
          <a:ln w="19050" cap="rnd">
            <a:solidFill>
              <a:srgbClr val="C8A96B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5" name="Group 25"/>
          <p:cNvGrpSpPr/>
          <p:nvPr/>
        </p:nvGrpSpPr>
        <p:grpSpPr>
          <a:xfrm>
            <a:off x="8092440" y="2331720"/>
            <a:ext cx="1234440" cy="850392"/>
            <a:chOff x="0" y="0"/>
            <a:chExt cx="1645920" cy="113385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645920" cy="1133856"/>
            </a:xfrm>
            <a:custGeom>
              <a:avLst/>
              <a:gdLst/>
              <a:ahLst/>
              <a:cxnLst/>
              <a:rect l="l" t="t" r="r" b="b"/>
              <a:pathLst>
                <a:path w="1645920" h="1133856">
                  <a:moveTo>
                    <a:pt x="0" y="0"/>
                  </a:moveTo>
                  <a:lnTo>
                    <a:pt x="1645920" y="0"/>
                  </a:lnTo>
                  <a:lnTo>
                    <a:pt x="16459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386" r="-38386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16459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Many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456896" y="2324576"/>
            <a:ext cx="3168967" cy="864680"/>
            <a:chOff x="0" y="0"/>
            <a:chExt cx="4225290" cy="115290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225290" cy="1152906"/>
            </a:xfrm>
            <a:custGeom>
              <a:avLst/>
              <a:gdLst/>
              <a:ahLst/>
              <a:cxnLst/>
              <a:rect l="l" t="t" r="r" b="b"/>
              <a:pathLst>
                <a:path w="4225290" h="1152906">
                  <a:moveTo>
                    <a:pt x="0" y="185928"/>
                  </a:moveTo>
                  <a:cubicBezTo>
                    <a:pt x="0" y="83312"/>
                    <a:pt x="83312" y="0"/>
                    <a:pt x="185928" y="0"/>
                  </a:cubicBezTo>
                  <a:lnTo>
                    <a:pt x="4039362" y="0"/>
                  </a:lnTo>
                  <a:cubicBezTo>
                    <a:pt x="4142105" y="0"/>
                    <a:pt x="4225290" y="83312"/>
                    <a:pt x="4225290" y="185928"/>
                  </a:cubicBezTo>
                  <a:lnTo>
                    <a:pt x="4225290" y="966978"/>
                  </a:lnTo>
                  <a:cubicBezTo>
                    <a:pt x="4225290" y="1069721"/>
                    <a:pt x="4141978" y="1152906"/>
                    <a:pt x="4039362" y="1152906"/>
                  </a:cubicBezTo>
                  <a:lnTo>
                    <a:pt x="185928" y="1152906"/>
                  </a:lnTo>
                  <a:cubicBezTo>
                    <a:pt x="83312" y="1152906"/>
                    <a:pt x="0" y="1069594"/>
                    <a:pt x="0" y="96697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9464040" y="2331720"/>
            <a:ext cx="3154680" cy="850392"/>
            <a:chOff x="0" y="0"/>
            <a:chExt cx="4206240" cy="113385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206240" cy="1133856"/>
            </a:xfrm>
            <a:custGeom>
              <a:avLst/>
              <a:gdLst/>
              <a:ahLst/>
              <a:cxnLst/>
              <a:rect l="l" t="t" r="r" b="b"/>
              <a:pathLst>
                <a:path w="4206240" h="1133856">
                  <a:moveTo>
                    <a:pt x="0" y="0"/>
                  </a:moveTo>
                  <a:lnTo>
                    <a:pt x="4206240" y="0"/>
                  </a:lnTo>
                  <a:lnTo>
                    <a:pt x="42062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83" b="-22283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420624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Loans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5816" y="3586448"/>
            <a:ext cx="3168967" cy="864680"/>
            <a:chOff x="0" y="0"/>
            <a:chExt cx="4225290" cy="115290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225290" cy="1152906"/>
            </a:xfrm>
            <a:custGeom>
              <a:avLst/>
              <a:gdLst/>
              <a:ahLst/>
              <a:cxnLst/>
              <a:rect l="l" t="t" r="r" b="b"/>
              <a:pathLst>
                <a:path w="4225290" h="1152906">
                  <a:moveTo>
                    <a:pt x="0" y="185928"/>
                  </a:moveTo>
                  <a:cubicBezTo>
                    <a:pt x="0" y="83312"/>
                    <a:pt x="83312" y="0"/>
                    <a:pt x="185928" y="0"/>
                  </a:cubicBezTo>
                  <a:lnTo>
                    <a:pt x="4039362" y="0"/>
                  </a:lnTo>
                  <a:cubicBezTo>
                    <a:pt x="4142105" y="0"/>
                    <a:pt x="4225290" y="83312"/>
                    <a:pt x="4225290" y="185928"/>
                  </a:cubicBezTo>
                  <a:lnTo>
                    <a:pt x="4225290" y="966978"/>
                  </a:lnTo>
                  <a:cubicBezTo>
                    <a:pt x="4225290" y="1069721"/>
                    <a:pt x="4141978" y="1152906"/>
                    <a:pt x="4039362" y="1152906"/>
                  </a:cubicBezTo>
                  <a:lnTo>
                    <a:pt x="185928" y="1152906"/>
                  </a:lnTo>
                  <a:cubicBezTo>
                    <a:pt x="83312" y="1152906"/>
                    <a:pt x="0" y="1069594"/>
                    <a:pt x="0" y="966978"/>
                  </a:cubicBezTo>
                  <a:close/>
                </a:path>
              </a:pathLst>
            </a:custGeom>
            <a:solidFill>
              <a:srgbClr val="14213D"/>
            </a:solidFill>
            <a:ln w="14288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822960" y="3593592"/>
            <a:ext cx="3154680" cy="850392"/>
            <a:chOff x="0" y="0"/>
            <a:chExt cx="4206240" cy="113385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206240" cy="1133856"/>
            </a:xfrm>
            <a:custGeom>
              <a:avLst/>
              <a:gdLst/>
              <a:ahLst/>
              <a:cxnLst/>
              <a:rect l="l" t="t" r="r" b="b"/>
              <a:pathLst>
                <a:path w="4206240" h="1133856">
                  <a:moveTo>
                    <a:pt x="0" y="0"/>
                  </a:moveTo>
                  <a:lnTo>
                    <a:pt x="4206240" y="0"/>
                  </a:lnTo>
                  <a:lnTo>
                    <a:pt x="42062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83" b="-22283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420624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F7F3E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Books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183380" y="3593592"/>
            <a:ext cx="548640" cy="850392"/>
            <a:chOff x="0" y="0"/>
            <a:chExt cx="731520" cy="113385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31520" cy="1133856"/>
            </a:xfrm>
            <a:custGeom>
              <a:avLst/>
              <a:gdLst/>
              <a:ahLst/>
              <a:cxnLst/>
              <a:rect l="l" t="t" r="r" b="b"/>
              <a:pathLst>
                <a:path w="731520" h="1133856">
                  <a:moveTo>
                    <a:pt x="0" y="0"/>
                  </a:moveTo>
                  <a:lnTo>
                    <a:pt x="731520" y="0"/>
                  </a:lnTo>
                  <a:lnTo>
                    <a:pt x="7315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8870" r="-148870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7315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sp>
        <p:nvSpPr>
          <p:cNvPr id="41" name="AutoShape 41"/>
          <p:cNvSpPr/>
          <p:nvPr/>
        </p:nvSpPr>
        <p:spPr>
          <a:xfrm rot="46080">
            <a:off x="4710446" y="4009263"/>
            <a:ext cx="3197828" cy="0"/>
          </a:xfrm>
          <a:prstGeom prst="line">
            <a:avLst/>
          </a:prstGeom>
          <a:ln w="19050" cap="rnd">
            <a:solidFill>
              <a:srgbClr val="C8A96B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42" name="Group 42"/>
          <p:cNvGrpSpPr/>
          <p:nvPr/>
        </p:nvGrpSpPr>
        <p:grpSpPr>
          <a:xfrm>
            <a:off x="8092440" y="3593592"/>
            <a:ext cx="1234440" cy="850392"/>
            <a:chOff x="0" y="0"/>
            <a:chExt cx="1645920" cy="113385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645920" cy="1133856"/>
            </a:xfrm>
            <a:custGeom>
              <a:avLst/>
              <a:gdLst/>
              <a:ahLst/>
              <a:cxnLst/>
              <a:rect l="l" t="t" r="r" b="b"/>
              <a:pathLst>
                <a:path w="1645920" h="1133856">
                  <a:moveTo>
                    <a:pt x="0" y="0"/>
                  </a:moveTo>
                  <a:lnTo>
                    <a:pt x="1645920" y="0"/>
                  </a:lnTo>
                  <a:lnTo>
                    <a:pt x="16459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386" r="-38386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16459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Many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456896" y="3586448"/>
            <a:ext cx="3168967" cy="864680"/>
            <a:chOff x="0" y="0"/>
            <a:chExt cx="4225290" cy="115290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225290" cy="1152906"/>
            </a:xfrm>
            <a:custGeom>
              <a:avLst/>
              <a:gdLst/>
              <a:ahLst/>
              <a:cxnLst/>
              <a:rect l="l" t="t" r="r" b="b"/>
              <a:pathLst>
                <a:path w="4225290" h="1152906">
                  <a:moveTo>
                    <a:pt x="0" y="185928"/>
                  </a:moveTo>
                  <a:cubicBezTo>
                    <a:pt x="0" y="83312"/>
                    <a:pt x="83312" y="0"/>
                    <a:pt x="185928" y="0"/>
                  </a:cubicBezTo>
                  <a:lnTo>
                    <a:pt x="4039362" y="0"/>
                  </a:lnTo>
                  <a:cubicBezTo>
                    <a:pt x="4142105" y="0"/>
                    <a:pt x="4225290" y="83312"/>
                    <a:pt x="4225290" y="185928"/>
                  </a:cubicBezTo>
                  <a:lnTo>
                    <a:pt x="4225290" y="966978"/>
                  </a:lnTo>
                  <a:cubicBezTo>
                    <a:pt x="4225290" y="1069721"/>
                    <a:pt x="4141978" y="1152906"/>
                    <a:pt x="4039362" y="1152906"/>
                  </a:cubicBezTo>
                  <a:lnTo>
                    <a:pt x="185928" y="1152906"/>
                  </a:lnTo>
                  <a:cubicBezTo>
                    <a:pt x="83312" y="1152906"/>
                    <a:pt x="0" y="1069594"/>
                    <a:pt x="0" y="96697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9464040" y="3593592"/>
            <a:ext cx="3154680" cy="850392"/>
            <a:chOff x="0" y="0"/>
            <a:chExt cx="4206240" cy="113385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206240" cy="1133856"/>
            </a:xfrm>
            <a:custGeom>
              <a:avLst/>
              <a:gdLst/>
              <a:ahLst/>
              <a:cxnLst/>
              <a:rect l="l" t="t" r="r" b="b"/>
              <a:pathLst>
                <a:path w="4206240" h="1133856">
                  <a:moveTo>
                    <a:pt x="0" y="0"/>
                  </a:moveTo>
                  <a:lnTo>
                    <a:pt x="4206240" y="0"/>
                  </a:lnTo>
                  <a:lnTo>
                    <a:pt x="42062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83" b="-22283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0"/>
              <a:ext cx="420624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Loans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15816" y="4848320"/>
            <a:ext cx="3168967" cy="864680"/>
            <a:chOff x="0" y="0"/>
            <a:chExt cx="4225290" cy="115290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225290" cy="1152906"/>
            </a:xfrm>
            <a:custGeom>
              <a:avLst/>
              <a:gdLst/>
              <a:ahLst/>
              <a:cxnLst/>
              <a:rect l="l" t="t" r="r" b="b"/>
              <a:pathLst>
                <a:path w="4225290" h="1152906">
                  <a:moveTo>
                    <a:pt x="0" y="185928"/>
                  </a:moveTo>
                  <a:cubicBezTo>
                    <a:pt x="0" y="83312"/>
                    <a:pt x="83312" y="0"/>
                    <a:pt x="185928" y="0"/>
                  </a:cubicBezTo>
                  <a:lnTo>
                    <a:pt x="4039362" y="0"/>
                  </a:lnTo>
                  <a:cubicBezTo>
                    <a:pt x="4142105" y="0"/>
                    <a:pt x="4225290" y="83312"/>
                    <a:pt x="4225290" y="185928"/>
                  </a:cubicBezTo>
                  <a:lnTo>
                    <a:pt x="4225290" y="966978"/>
                  </a:lnTo>
                  <a:cubicBezTo>
                    <a:pt x="4225290" y="1069721"/>
                    <a:pt x="4141978" y="1152906"/>
                    <a:pt x="4039362" y="1152906"/>
                  </a:cubicBezTo>
                  <a:lnTo>
                    <a:pt x="185928" y="1152906"/>
                  </a:lnTo>
                  <a:cubicBezTo>
                    <a:pt x="83312" y="1152906"/>
                    <a:pt x="0" y="1069594"/>
                    <a:pt x="0" y="966978"/>
                  </a:cubicBezTo>
                  <a:close/>
                </a:path>
              </a:pathLst>
            </a:custGeom>
            <a:solidFill>
              <a:srgbClr val="14213D"/>
            </a:solidFill>
            <a:ln w="14288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822960" y="4855464"/>
            <a:ext cx="3154680" cy="850392"/>
            <a:chOff x="0" y="0"/>
            <a:chExt cx="4206240" cy="113385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206240" cy="1133856"/>
            </a:xfrm>
            <a:custGeom>
              <a:avLst/>
              <a:gdLst/>
              <a:ahLst/>
              <a:cxnLst/>
              <a:rect l="l" t="t" r="r" b="b"/>
              <a:pathLst>
                <a:path w="4206240" h="1133856">
                  <a:moveTo>
                    <a:pt x="0" y="0"/>
                  </a:moveTo>
                  <a:lnTo>
                    <a:pt x="4206240" y="0"/>
                  </a:lnTo>
                  <a:lnTo>
                    <a:pt x="42062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83" b="-22283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0"/>
              <a:ext cx="420624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F7F3E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Books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183380" y="4855464"/>
            <a:ext cx="548640" cy="850392"/>
            <a:chOff x="0" y="0"/>
            <a:chExt cx="731520" cy="1133856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731520" cy="1133856"/>
            </a:xfrm>
            <a:custGeom>
              <a:avLst/>
              <a:gdLst/>
              <a:ahLst/>
              <a:cxnLst/>
              <a:rect l="l" t="t" r="r" b="b"/>
              <a:pathLst>
                <a:path w="731520" h="1133856">
                  <a:moveTo>
                    <a:pt x="0" y="0"/>
                  </a:moveTo>
                  <a:lnTo>
                    <a:pt x="731520" y="0"/>
                  </a:lnTo>
                  <a:lnTo>
                    <a:pt x="7315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8870" r="-148870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0"/>
              <a:ext cx="7315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sp>
        <p:nvSpPr>
          <p:cNvPr id="58" name="AutoShape 58"/>
          <p:cNvSpPr/>
          <p:nvPr/>
        </p:nvSpPr>
        <p:spPr>
          <a:xfrm rot="46080">
            <a:off x="4710446" y="5271135"/>
            <a:ext cx="3197828" cy="0"/>
          </a:xfrm>
          <a:prstGeom prst="line">
            <a:avLst/>
          </a:prstGeom>
          <a:ln w="19050" cap="rnd">
            <a:solidFill>
              <a:srgbClr val="C8A96B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59" name="Group 59"/>
          <p:cNvGrpSpPr/>
          <p:nvPr/>
        </p:nvGrpSpPr>
        <p:grpSpPr>
          <a:xfrm>
            <a:off x="8092440" y="4855464"/>
            <a:ext cx="1234440" cy="850392"/>
            <a:chOff x="0" y="0"/>
            <a:chExt cx="1645920" cy="113385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645920" cy="1133856"/>
            </a:xfrm>
            <a:custGeom>
              <a:avLst/>
              <a:gdLst/>
              <a:ahLst/>
              <a:cxnLst/>
              <a:rect l="l" t="t" r="r" b="b"/>
              <a:pathLst>
                <a:path w="1645920" h="1133856">
                  <a:moveTo>
                    <a:pt x="0" y="0"/>
                  </a:moveTo>
                  <a:lnTo>
                    <a:pt x="1645920" y="0"/>
                  </a:lnTo>
                  <a:lnTo>
                    <a:pt x="16459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386" r="-38386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0"/>
              <a:ext cx="16459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Many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456896" y="4848320"/>
            <a:ext cx="3168967" cy="864680"/>
            <a:chOff x="0" y="0"/>
            <a:chExt cx="4225290" cy="115290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225290" cy="1152906"/>
            </a:xfrm>
            <a:custGeom>
              <a:avLst/>
              <a:gdLst/>
              <a:ahLst/>
              <a:cxnLst/>
              <a:rect l="l" t="t" r="r" b="b"/>
              <a:pathLst>
                <a:path w="4225290" h="1152906">
                  <a:moveTo>
                    <a:pt x="0" y="185928"/>
                  </a:moveTo>
                  <a:cubicBezTo>
                    <a:pt x="0" y="83312"/>
                    <a:pt x="83312" y="0"/>
                    <a:pt x="185928" y="0"/>
                  </a:cubicBezTo>
                  <a:lnTo>
                    <a:pt x="4039362" y="0"/>
                  </a:lnTo>
                  <a:cubicBezTo>
                    <a:pt x="4142105" y="0"/>
                    <a:pt x="4225290" y="83312"/>
                    <a:pt x="4225290" y="185928"/>
                  </a:cubicBezTo>
                  <a:lnTo>
                    <a:pt x="4225290" y="966978"/>
                  </a:lnTo>
                  <a:cubicBezTo>
                    <a:pt x="4225290" y="1069721"/>
                    <a:pt x="4141978" y="1152906"/>
                    <a:pt x="4039362" y="1152906"/>
                  </a:cubicBezTo>
                  <a:lnTo>
                    <a:pt x="185928" y="1152906"/>
                  </a:lnTo>
                  <a:cubicBezTo>
                    <a:pt x="83312" y="1152906"/>
                    <a:pt x="0" y="1069594"/>
                    <a:pt x="0" y="96697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9464040" y="4855464"/>
            <a:ext cx="3154680" cy="850392"/>
            <a:chOff x="0" y="0"/>
            <a:chExt cx="4206240" cy="113385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206240" cy="1133856"/>
            </a:xfrm>
            <a:custGeom>
              <a:avLst/>
              <a:gdLst/>
              <a:ahLst/>
              <a:cxnLst/>
              <a:rect l="l" t="t" r="r" b="b"/>
              <a:pathLst>
                <a:path w="4206240" h="1133856">
                  <a:moveTo>
                    <a:pt x="0" y="0"/>
                  </a:moveTo>
                  <a:lnTo>
                    <a:pt x="4206240" y="0"/>
                  </a:lnTo>
                  <a:lnTo>
                    <a:pt x="42062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83" b="-22283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0"/>
              <a:ext cx="420624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BookAuthors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15816" y="6110192"/>
            <a:ext cx="3168967" cy="864680"/>
            <a:chOff x="0" y="0"/>
            <a:chExt cx="4225290" cy="1152906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4225290" cy="1152906"/>
            </a:xfrm>
            <a:custGeom>
              <a:avLst/>
              <a:gdLst/>
              <a:ahLst/>
              <a:cxnLst/>
              <a:rect l="l" t="t" r="r" b="b"/>
              <a:pathLst>
                <a:path w="4225290" h="1152906">
                  <a:moveTo>
                    <a:pt x="0" y="185928"/>
                  </a:moveTo>
                  <a:cubicBezTo>
                    <a:pt x="0" y="83312"/>
                    <a:pt x="83312" y="0"/>
                    <a:pt x="185928" y="0"/>
                  </a:cubicBezTo>
                  <a:lnTo>
                    <a:pt x="4039362" y="0"/>
                  </a:lnTo>
                  <a:cubicBezTo>
                    <a:pt x="4142105" y="0"/>
                    <a:pt x="4225290" y="83312"/>
                    <a:pt x="4225290" y="185928"/>
                  </a:cubicBezTo>
                  <a:lnTo>
                    <a:pt x="4225290" y="966978"/>
                  </a:lnTo>
                  <a:cubicBezTo>
                    <a:pt x="4225290" y="1069721"/>
                    <a:pt x="4141978" y="1152906"/>
                    <a:pt x="4039362" y="1152906"/>
                  </a:cubicBezTo>
                  <a:lnTo>
                    <a:pt x="185928" y="1152906"/>
                  </a:lnTo>
                  <a:cubicBezTo>
                    <a:pt x="83312" y="1152906"/>
                    <a:pt x="0" y="1069594"/>
                    <a:pt x="0" y="966978"/>
                  </a:cubicBezTo>
                  <a:close/>
                </a:path>
              </a:pathLst>
            </a:custGeom>
            <a:solidFill>
              <a:srgbClr val="14213D"/>
            </a:solidFill>
            <a:ln w="14288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822960" y="6117336"/>
            <a:ext cx="3154680" cy="850392"/>
            <a:chOff x="0" y="0"/>
            <a:chExt cx="4206240" cy="1133856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206240" cy="1133856"/>
            </a:xfrm>
            <a:custGeom>
              <a:avLst/>
              <a:gdLst/>
              <a:ahLst/>
              <a:cxnLst/>
              <a:rect l="l" t="t" r="r" b="b"/>
              <a:pathLst>
                <a:path w="4206240" h="1133856">
                  <a:moveTo>
                    <a:pt x="0" y="0"/>
                  </a:moveTo>
                  <a:lnTo>
                    <a:pt x="4206240" y="0"/>
                  </a:lnTo>
                  <a:lnTo>
                    <a:pt x="42062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83" b="-22283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0"/>
              <a:ext cx="420624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F7F3E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Authors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4183380" y="6117336"/>
            <a:ext cx="548640" cy="850392"/>
            <a:chOff x="0" y="0"/>
            <a:chExt cx="731520" cy="1133856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731520" cy="1133856"/>
            </a:xfrm>
            <a:custGeom>
              <a:avLst/>
              <a:gdLst/>
              <a:ahLst/>
              <a:cxnLst/>
              <a:rect l="l" t="t" r="r" b="b"/>
              <a:pathLst>
                <a:path w="731520" h="1133856">
                  <a:moveTo>
                    <a:pt x="0" y="0"/>
                  </a:moveTo>
                  <a:lnTo>
                    <a:pt x="731520" y="0"/>
                  </a:lnTo>
                  <a:lnTo>
                    <a:pt x="7315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8870" r="-148870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0"/>
              <a:ext cx="7315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sp>
        <p:nvSpPr>
          <p:cNvPr id="75" name="AutoShape 75"/>
          <p:cNvSpPr/>
          <p:nvPr/>
        </p:nvSpPr>
        <p:spPr>
          <a:xfrm rot="46080">
            <a:off x="4710446" y="6533007"/>
            <a:ext cx="3197828" cy="0"/>
          </a:xfrm>
          <a:prstGeom prst="line">
            <a:avLst/>
          </a:prstGeom>
          <a:ln w="19050" cap="rnd">
            <a:solidFill>
              <a:srgbClr val="C8A96B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76" name="Group 76"/>
          <p:cNvGrpSpPr/>
          <p:nvPr/>
        </p:nvGrpSpPr>
        <p:grpSpPr>
          <a:xfrm>
            <a:off x="8092440" y="6117336"/>
            <a:ext cx="1234440" cy="850392"/>
            <a:chOff x="0" y="0"/>
            <a:chExt cx="1645920" cy="1133856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645920" cy="1133856"/>
            </a:xfrm>
            <a:custGeom>
              <a:avLst/>
              <a:gdLst/>
              <a:ahLst/>
              <a:cxnLst/>
              <a:rect l="l" t="t" r="r" b="b"/>
              <a:pathLst>
                <a:path w="1645920" h="1133856">
                  <a:moveTo>
                    <a:pt x="0" y="0"/>
                  </a:moveTo>
                  <a:lnTo>
                    <a:pt x="1645920" y="0"/>
                  </a:lnTo>
                  <a:lnTo>
                    <a:pt x="16459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386" r="-38386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0"/>
              <a:ext cx="16459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Many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456896" y="6110192"/>
            <a:ext cx="3168967" cy="864680"/>
            <a:chOff x="0" y="0"/>
            <a:chExt cx="4225290" cy="1152906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4225290" cy="1152906"/>
            </a:xfrm>
            <a:custGeom>
              <a:avLst/>
              <a:gdLst/>
              <a:ahLst/>
              <a:cxnLst/>
              <a:rect l="l" t="t" r="r" b="b"/>
              <a:pathLst>
                <a:path w="4225290" h="1152906">
                  <a:moveTo>
                    <a:pt x="0" y="185928"/>
                  </a:moveTo>
                  <a:cubicBezTo>
                    <a:pt x="0" y="83312"/>
                    <a:pt x="83312" y="0"/>
                    <a:pt x="185928" y="0"/>
                  </a:cubicBezTo>
                  <a:lnTo>
                    <a:pt x="4039362" y="0"/>
                  </a:lnTo>
                  <a:cubicBezTo>
                    <a:pt x="4142105" y="0"/>
                    <a:pt x="4225290" y="83312"/>
                    <a:pt x="4225290" y="185928"/>
                  </a:cubicBezTo>
                  <a:lnTo>
                    <a:pt x="4225290" y="966978"/>
                  </a:lnTo>
                  <a:cubicBezTo>
                    <a:pt x="4225290" y="1069721"/>
                    <a:pt x="4141978" y="1152906"/>
                    <a:pt x="4039362" y="1152906"/>
                  </a:cubicBezTo>
                  <a:lnTo>
                    <a:pt x="185928" y="1152906"/>
                  </a:lnTo>
                  <a:cubicBezTo>
                    <a:pt x="83312" y="1152906"/>
                    <a:pt x="0" y="1069594"/>
                    <a:pt x="0" y="96697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81" name="Group 81"/>
          <p:cNvGrpSpPr/>
          <p:nvPr/>
        </p:nvGrpSpPr>
        <p:grpSpPr>
          <a:xfrm>
            <a:off x="9464040" y="6117336"/>
            <a:ext cx="3154680" cy="850392"/>
            <a:chOff x="0" y="0"/>
            <a:chExt cx="4206240" cy="113385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4206240" cy="1133856"/>
            </a:xfrm>
            <a:custGeom>
              <a:avLst/>
              <a:gdLst/>
              <a:ahLst/>
              <a:cxnLst/>
              <a:rect l="l" t="t" r="r" b="b"/>
              <a:pathLst>
                <a:path w="4206240" h="1133856">
                  <a:moveTo>
                    <a:pt x="0" y="0"/>
                  </a:moveTo>
                  <a:lnTo>
                    <a:pt x="4206240" y="0"/>
                  </a:lnTo>
                  <a:lnTo>
                    <a:pt x="42062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83" b="-22283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0"/>
              <a:ext cx="420624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BookAuthors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815816" y="7372064"/>
            <a:ext cx="3168967" cy="864680"/>
            <a:chOff x="0" y="0"/>
            <a:chExt cx="4225290" cy="1152906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4225290" cy="1152906"/>
            </a:xfrm>
            <a:custGeom>
              <a:avLst/>
              <a:gdLst/>
              <a:ahLst/>
              <a:cxnLst/>
              <a:rect l="l" t="t" r="r" b="b"/>
              <a:pathLst>
                <a:path w="4225290" h="1152906">
                  <a:moveTo>
                    <a:pt x="0" y="185928"/>
                  </a:moveTo>
                  <a:cubicBezTo>
                    <a:pt x="0" y="83312"/>
                    <a:pt x="83312" y="0"/>
                    <a:pt x="185928" y="0"/>
                  </a:cubicBezTo>
                  <a:lnTo>
                    <a:pt x="4039362" y="0"/>
                  </a:lnTo>
                  <a:cubicBezTo>
                    <a:pt x="4142105" y="0"/>
                    <a:pt x="4225290" y="83312"/>
                    <a:pt x="4225290" y="185928"/>
                  </a:cubicBezTo>
                  <a:lnTo>
                    <a:pt x="4225290" y="966978"/>
                  </a:lnTo>
                  <a:cubicBezTo>
                    <a:pt x="4225290" y="1069721"/>
                    <a:pt x="4141978" y="1152906"/>
                    <a:pt x="4039362" y="1152906"/>
                  </a:cubicBezTo>
                  <a:lnTo>
                    <a:pt x="185928" y="1152906"/>
                  </a:lnTo>
                  <a:cubicBezTo>
                    <a:pt x="83312" y="1152906"/>
                    <a:pt x="0" y="1069594"/>
                    <a:pt x="0" y="966978"/>
                  </a:cubicBezTo>
                  <a:close/>
                </a:path>
              </a:pathLst>
            </a:custGeom>
            <a:solidFill>
              <a:srgbClr val="14213D"/>
            </a:solidFill>
            <a:ln w="14288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86" name="Group 86"/>
          <p:cNvGrpSpPr/>
          <p:nvPr/>
        </p:nvGrpSpPr>
        <p:grpSpPr>
          <a:xfrm>
            <a:off x="822960" y="7379208"/>
            <a:ext cx="3154680" cy="850392"/>
            <a:chOff x="0" y="0"/>
            <a:chExt cx="4206240" cy="1133856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4206240" cy="1133856"/>
            </a:xfrm>
            <a:custGeom>
              <a:avLst/>
              <a:gdLst/>
              <a:ahLst/>
              <a:cxnLst/>
              <a:rect l="l" t="t" r="r" b="b"/>
              <a:pathLst>
                <a:path w="4206240" h="1133856">
                  <a:moveTo>
                    <a:pt x="0" y="0"/>
                  </a:moveTo>
                  <a:lnTo>
                    <a:pt x="4206240" y="0"/>
                  </a:lnTo>
                  <a:lnTo>
                    <a:pt x="42062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83" b="-22283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0"/>
              <a:ext cx="420624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F7F3E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Loans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4183380" y="7379208"/>
            <a:ext cx="548640" cy="850392"/>
            <a:chOff x="0" y="0"/>
            <a:chExt cx="731520" cy="1133856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731520" cy="1133856"/>
            </a:xfrm>
            <a:custGeom>
              <a:avLst/>
              <a:gdLst/>
              <a:ahLst/>
              <a:cxnLst/>
              <a:rect l="l" t="t" r="r" b="b"/>
              <a:pathLst>
                <a:path w="731520" h="1133856">
                  <a:moveTo>
                    <a:pt x="0" y="0"/>
                  </a:moveTo>
                  <a:lnTo>
                    <a:pt x="731520" y="0"/>
                  </a:lnTo>
                  <a:lnTo>
                    <a:pt x="7315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8870" r="-148870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0"/>
              <a:ext cx="7315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sp>
        <p:nvSpPr>
          <p:cNvPr id="92" name="AutoShape 92"/>
          <p:cNvSpPr/>
          <p:nvPr/>
        </p:nvSpPr>
        <p:spPr>
          <a:xfrm rot="46080">
            <a:off x="4710446" y="7794879"/>
            <a:ext cx="3197828" cy="0"/>
          </a:xfrm>
          <a:prstGeom prst="line">
            <a:avLst/>
          </a:prstGeom>
          <a:ln w="19050" cap="rnd">
            <a:solidFill>
              <a:srgbClr val="C8A96B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93" name="Group 93"/>
          <p:cNvGrpSpPr/>
          <p:nvPr/>
        </p:nvGrpSpPr>
        <p:grpSpPr>
          <a:xfrm>
            <a:off x="8092440" y="7379208"/>
            <a:ext cx="1234440" cy="850392"/>
            <a:chOff x="0" y="0"/>
            <a:chExt cx="1645920" cy="1133856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1645920" cy="1133856"/>
            </a:xfrm>
            <a:custGeom>
              <a:avLst/>
              <a:gdLst/>
              <a:ahLst/>
              <a:cxnLst/>
              <a:rect l="l" t="t" r="r" b="b"/>
              <a:pathLst>
                <a:path w="1645920" h="1133856">
                  <a:moveTo>
                    <a:pt x="0" y="0"/>
                  </a:moveTo>
                  <a:lnTo>
                    <a:pt x="1645920" y="0"/>
                  </a:lnTo>
                  <a:lnTo>
                    <a:pt x="16459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386" r="-38386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0"/>
              <a:ext cx="16459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Many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9456896" y="7372064"/>
            <a:ext cx="3168967" cy="864680"/>
            <a:chOff x="0" y="0"/>
            <a:chExt cx="4225290" cy="1152906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4225290" cy="1152906"/>
            </a:xfrm>
            <a:custGeom>
              <a:avLst/>
              <a:gdLst/>
              <a:ahLst/>
              <a:cxnLst/>
              <a:rect l="l" t="t" r="r" b="b"/>
              <a:pathLst>
                <a:path w="4225290" h="1152906">
                  <a:moveTo>
                    <a:pt x="0" y="185928"/>
                  </a:moveTo>
                  <a:cubicBezTo>
                    <a:pt x="0" y="83312"/>
                    <a:pt x="83312" y="0"/>
                    <a:pt x="185928" y="0"/>
                  </a:cubicBezTo>
                  <a:lnTo>
                    <a:pt x="4039362" y="0"/>
                  </a:lnTo>
                  <a:cubicBezTo>
                    <a:pt x="4142105" y="0"/>
                    <a:pt x="4225290" y="83312"/>
                    <a:pt x="4225290" y="185928"/>
                  </a:cubicBezTo>
                  <a:lnTo>
                    <a:pt x="4225290" y="966978"/>
                  </a:lnTo>
                  <a:cubicBezTo>
                    <a:pt x="4225290" y="1069721"/>
                    <a:pt x="4141978" y="1152906"/>
                    <a:pt x="4039362" y="1152906"/>
                  </a:cubicBezTo>
                  <a:lnTo>
                    <a:pt x="185928" y="1152906"/>
                  </a:lnTo>
                  <a:cubicBezTo>
                    <a:pt x="83312" y="1152906"/>
                    <a:pt x="0" y="1069594"/>
                    <a:pt x="0" y="96697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98" name="Group 98"/>
          <p:cNvGrpSpPr/>
          <p:nvPr/>
        </p:nvGrpSpPr>
        <p:grpSpPr>
          <a:xfrm>
            <a:off x="9464040" y="7379208"/>
            <a:ext cx="3154680" cy="850392"/>
            <a:chOff x="0" y="0"/>
            <a:chExt cx="4206240" cy="1133856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4206240" cy="1133856"/>
            </a:xfrm>
            <a:custGeom>
              <a:avLst/>
              <a:gdLst/>
              <a:ahLst/>
              <a:cxnLst/>
              <a:rect l="l" t="t" r="r" b="b"/>
              <a:pathLst>
                <a:path w="4206240" h="1133856">
                  <a:moveTo>
                    <a:pt x="0" y="0"/>
                  </a:moveTo>
                  <a:lnTo>
                    <a:pt x="4206240" y="0"/>
                  </a:lnTo>
                  <a:lnTo>
                    <a:pt x="42062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83" b="-22283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0"/>
              <a:ext cx="420624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Fines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3091636" y="2324576"/>
            <a:ext cx="4375976" cy="5912168"/>
            <a:chOff x="0" y="0"/>
            <a:chExt cx="5834634" cy="788289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5834634" cy="7882890"/>
            </a:xfrm>
            <a:custGeom>
              <a:avLst/>
              <a:gdLst/>
              <a:ahLst/>
              <a:cxnLst/>
              <a:rect l="l" t="t" r="r" b="b"/>
              <a:pathLst>
                <a:path w="5834634" h="788289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5651119" y="0"/>
                  </a:lnTo>
                  <a:cubicBezTo>
                    <a:pt x="5752465" y="0"/>
                    <a:pt x="5834634" y="82169"/>
                    <a:pt x="5834634" y="183515"/>
                  </a:cubicBezTo>
                  <a:lnTo>
                    <a:pt x="5834634" y="7699375"/>
                  </a:lnTo>
                  <a:cubicBezTo>
                    <a:pt x="5834634" y="7800721"/>
                    <a:pt x="5752465" y="7882890"/>
                    <a:pt x="5651119" y="7882890"/>
                  </a:cubicBezTo>
                  <a:lnTo>
                    <a:pt x="183515" y="7882890"/>
                  </a:lnTo>
                  <a:cubicBezTo>
                    <a:pt x="82169" y="7882890"/>
                    <a:pt x="0" y="7800721"/>
                    <a:pt x="0" y="7699375"/>
                  </a:cubicBezTo>
                  <a:close/>
                </a:path>
              </a:pathLst>
            </a:custGeom>
            <a:solidFill>
              <a:srgbClr val="14213D"/>
            </a:solidFill>
            <a:ln w="14288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103" name="Group 103"/>
          <p:cNvGrpSpPr/>
          <p:nvPr/>
        </p:nvGrpSpPr>
        <p:grpSpPr>
          <a:xfrm>
            <a:off x="13510260" y="2743200"/>
            <a:ext cx="3566160" cy="411480"/>
            <a:chOff x="0" y="0"/>
            <a:chExt cx="4754880" cy="548640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4754880" cy="548640"/>
            </a:xfrm>
            <a:custGeom>
              <a:avLst/>
              <a:gdLst/>
              <a:ahLst/>
              <a:cxnLst/>
              <a:rect l="l" t="t" r="r" b="b"/>
              <a:pathLst>
                <a:path w="4754880" h="54864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870" b="-118870"/>
              </a:stretch>
            </a:blipFill>
          </p:spPr>
        </p:sp>
        <p:sp>
          <p:nvSpPr>
            <p:cNvPr id="105" name="TextBox 105"/>
            <p:cNvSpPr txBox="1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C8A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WHY RELATIONSHIPS?</a:t>
              </a:r>
            </a:p>
          </p:txBody>
        </p:sp>
      </p:grpSp>
      <p:sp>
        <p:nvSpPr>
          <p:cNvPr id="106" name="TextBox 106"/>
          <p:cNvSpPr txBox="1"/>
          <p:nvPr/>
        </p:nvSpPr>
        <p:spPr>
          <a:xfrm>
            <a:off x="13510260" y="3291840"/>
            <a:ext cx="3566160" cy="1508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7F3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Connected records, consistent data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3510260" y="4928235"/>
            <a:ext cx="3566160" cy="1518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7F3E8"/>
                </a:solidFill>
                <a:latin typeface="Aptos"/>
                <a:ea typeface="Aptos"/>
                <a:cs typeface="Aptos"/>
                <a:sym typeface="Aptos"/>
              </a:rPr>
              <a:t>Foreign keys link related records and maintain referential integrity.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3510260" y="6642735"/>
            <a:ext cx="3566160" cy="110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C8A96B"/>
                </a:solidFill>
                <a:latin typeface="Aptos Bold"/>
                <a:ea typeface="Aptos Bold"/>
                <a:cs typeface="Aptos Bold"/>
                <a:sym typeface="Aptos Bold"/>
              </a:rPr>
              <a:t>All five relationships are 1 : Many.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920">
            <a:off x="811044" y="1805750"/>
            <a:ext cx="16661340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2940">
            <a:off x="815816" y="9569006"/>
            <a:ext cx="16651805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22960" y="9683496"/>
            <a:ext cx="10972800" cy="342900"/>
            <a:chOff x="0" y="0"/>
            <a:chExt cx="146304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1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LIBRARY MANAGEMENT SYSTEM  ·  MYSQL DATABASE PROJECT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850392"/>
            <a:ext cx="16637508" cy="850392"/>
            <a:chOff x="0" y="0"/>
            <a:chExt cx="22183344" cy="11338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3344" cy="1133856"/>
            </a:xfrm>
            <a:custGeom>
              <a:avLst/>
              <a:gdLst/>
              <a:ahLst/>
              <a:cxnLst/>
              <a:rect l="l" t="t" r="r" b="b"/>
              <a:pathLst>
                <a:path w="22183344" h="1133856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1215" b="-33121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2183344" cy="1124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MySQL Implementation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2960" y="466344"/>
            <a:ext cx="10972800" cy="342900"/>
            <a:chOff x="0" y="0"/>
            <a:chExt cx="1463040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IMPLEMENTATION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73400" y="9683496"/>
            <a:ext cx="1687068" cy="342900"/>
            <a:chOff x="0" y="0"/>
            <a:chExt cx="2249424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4" cy="457200"/>
            </a:xfrm>
            <a:custGeom>
              <a:avLst/>
              <a:gdLst/>
              <a:ahLst/>
              <a:cxnLst/>
              <a:rect l="l" t="t" r="r" b="b"/>
              <a:pathLst>
                <a:path w="2249424" h="457200">
                  <a:moveTo>
                    <a:pt x="0" y="0"/>
                  </a:moveTo>
                  <a:lnTo>
                    <a:pt x="2249424" y="0"/>
                  </a:lnTo>
                  <a:lnTo>
                    <a:pt x="22494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866" b="-4586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2494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8 / 25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15816" y="2187416"/>
            <a:ext cx="6872288" cy="864680"/>
            <a:chOff x="0" y="0"/>
            <a:chExt cx="9163050" cy="115290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163050" cy="1152906"/>
            </a:xfrm>
            <a:custGeom>
              <a:avLst/>
              <a:gdLst/>
              <a:ahLst/>
              <a:cxnLst/>
              <a:rect l="l" t="t" r="r" b="b"/>
              <a:pathLst>
                <a:path w="9163050" h="1152906">
                  <a:moveTo>
                    <a:pt x="0" y="185928"/>
                  </a:moveTo>
                  <a:cubicBezTo>
                    <a:pt x="0" y="83312"/>
                    <a:pt x="83312" y="0"/>
                    <a:pt x="185928" y="0"/>
                  </a:cubicBezTo>
                  <a:lnTo>
                    <a:pt x="8977122" y="0"/>
                  </a:lnTo>
                  <a:cubicBezTo>
                    <a:pt x="9079865" y="0"/>
                    <a:pt x="9163050" y="83312"/>
                    <a:pt x="9163050" y="185928"/>
                  </a:cubicBezTo>
                  <a:lnTo>
                    <a:pt x="9163050" y="966978"/>
                  </a:lnTo>
                  <a:cubicBezTo>
                    <a:pt x="9163050" y="1069721"/>
                    <a:pt x="9079738" y="1152906"/>
                    <a:pt x="8977122" y="1152906"/>
                  </a:cubicBezTo>
                  <a:lnTo>
                    <a:pt x="185928" y="1152906"/>
                  </a:lnTo>
                  <a:cubicBezTo>
                    <a:pt x="83312" y="1152906"/>
                    <a:pt x="0" y="1069594"/>
                    <a:pt x="0" y="96697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087755" y="2377059"/>
            <a:ext cx="485394" cy="485394"/>
            <a:chOff x="0" y="0"/>
            <a:chExt cx="647192" cy="64719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47192" cy="647192"/>
            </a:xfrm>
            <a:custGeom>
              <a:avLst/>
              <a:gdLst/>
              <a:ahLst/>
              <a:cxnLst/>
              <a:rect l="l" t="t" r="r" b="b"/>
              <a:pathLst>
                <a:path w="647192" h="647192">
                  <a:moveTo>
                    <a:pt x="0" y="323596"/>
                  </a:moveTo>
                  <a:cubicBezTo>
                    <a:pt x="0" y="144907"/>
                    <a:pt x="144907" y="0"/>
                    <a:pt x="323596" y="0"/>
                  </a:cubicBezTo>
                  <a:cubicBezTo>
                    <a:pt x="502285" y="0"/>
                    <a:pt x="647192" y="144907"/>
                    <a:pt x="647192" y="323596"/>
                  </a:cubicBezTo>
                  <a:cubicBezTo>
                    <a:pt x="647192" y="502285"/>
                    <a:pt x="502285" y="647192"/>
                    <a:pt x="323596" y="647192"/>
                  </a:cubicBezTo>
                  <a:cubicBezTo>
                    <a:pt x="144907" y="647192"/>
                    <a:pt x="0" y="502285"/>
                    <a:pt x="0" y="323596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097280" y="2386584"/>
            <a:ext cx="466344" cy="466344"/>
            <a:chOff x="0" y="0"/>
            <a:chExt cx="621792" cy="6217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621792" cy="621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851660" y="2194560"/>
            <a:ext cx="5623560" cy="850392"/>
            <a:chOff x="0" y="0"/>
            <a:chExt cx="7498080" cy="113385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498080" cy="1133856"/>
            </a:xfrm>
            <a:custGeom>
              <a:avLst/>
              <a:gdLst/>
              <a:ahLst/>
              <a:cxnLst/>
              <a:rect l="l" t="t" r="r" b="b"/>
              <a:pathLst>
                <a:path w="7498080" h="1133856">
                  <a:moveTo>
                    <a:pt x="0" y="0"/>
                  </a:moveTo>
                  <a:lnTo>
                    <a:pt x="7498080" y="0"/>
                  </a:lnTo>
                  <a:lnTo>
                    <a:pt x="74980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852" b="-78852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749808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Create Database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816" y="3202400"/>
            <a:ext cx="6872288" cy="864680"/>
            <a:chOff x="0" y="0"/>
            <a:chExt cx="9163050" cy="115290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163050" cy="1152906"/>
            </a:xfrm>
            <a:custGeom>
              <a:avLst/>
              <a:gdLst/>
              <a:ahLst/>
              <a:cxnLst/>
              <a:rect l="l" t="t" r="r" b="b"/>
              <a:pathLst>
                <a:path w="9163050" h="1152906">
                  <a:moveTo>
                    <a:pt x="0" y="185928"/>
                  </a:moveTo>
                  <a:cubicBezTo>
                    <a:pt x="0" y="83312"/>
                    <a:pt x="83312" y="0"/>
                    <a:pt x="185928" y="0"/>
                  </a:cubicBezTo>
                  <a:lnTo>
                    <a:pt x="8977122" y="0"/>
                  </a:lnTo>
                  <a:cubicBezTo>
                    <a:pt x="9079865" y="0"/>
                    <a:pt x="9163050" y="83312"/>
                    <a:pt x="9163050" y="185928"/>
                  </a:cubicBezTo>
                  <a:lnTo>
                    <a:pt x="9163050" y="966978"/>
                  </a:lnTo>
                  <a:cubicBezTo>
                    <a:pt x="9163050" y="1069721"/>
                    <a:pt x="9079738" y="1152906"/>
                    <a:pt x="8977122" y="1152906"/>
                  </a:cubicBezTo>
                  <a:lnTo>
                    <a:pt x="185928" y="1152906"/>
                  </a:lnTo>
                  <a:cubicBezTo>
                    <a:pt x="83312" y="1152906"/>
                    <a:pt x="0" y="1069594"/>
                    <a:pt x="0" y="96697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087755" y="3392043"/>
            <a:ext cx="485394" cy="485394"/>
            <a:chOff x="0" y="0"/>
            <a:chExt cx="647192" cy="64719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47192" cy="647192"/>
            </a:xfrm>
            <a:custGeom>
              <a:avLst/>
              <a:gdLst/>
              <a:ahLst/>
              <a:cxnLst/>
              <a:rect l="l" t="t" r="r" b="b"/>
              <a:pathLst>
                <a:path w="647192" h="647192">
                  <a:moveTo>
                    <a:pt x="0" y="323596"/>
                  </a:moveTo>
                  <a:cubicBezTo>
                    <a:pt x="0" y="144907"/>
                    <a:pt x="144907" y="0"/>
                    <a:pt x="323596" y="0"/>
                  </a:cubicBezTo>
                  <a:cubicBezTo>
                    <a:pt x="502285" y="0"/>
                    <a:pt x="647192" y="144907"/>
                    <a:pt x="647192" y="323596"/>
                  </a:cubicBezTo>
                  <a:cubicBezTo>
                    <a:pt x="647192" y="502285"/>
                    <a:pt x="502285" y="647192"/>
                    <a:pt x="323596" y="647192"/>
                  </a:cubicBezTo>
                  <a:cubicBezTo>
                    <a:pt x="144907" y="647192"/>
                    <a:pt x="0" y="502285"/>
                    <a:pt x="0" y="323596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1097280" y="3401568"/>
            <a:ext cx="466344" cy="466344"/>
            <a:chOff x="0" y="0"/>
            <a:chExt cx="621792" cy="62179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621792" cy="621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851660" y="3209544"/>
            <a:ext cx="5623560" cy="850392"/>
            <a:chOff x="0" y="0"/>
            <a:chExt cx="7498080" cy="113385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498080" cy="1133856"/>
            </a:xfrm>
            <a:custGeom>
              <a:avLst/>
              <a:gdLst/>
              <a:ahLst/>
              <a:cxnLst/>
              <a:rect l="l" t="t" r="r" b="b"/>
              <a:pathLst>
                <a:path w="7498080" h="1133856">
                  <a:moveTo>
                    <a:pt x="0" y="0"/>
                  </a:moveTo>
                  <a:lnTo>
                    <a:pt x="7498080" y="0"/>
                  </a:lnTo>
                  <a:lnTo>
                    <a:pt x="74980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852" b="-78852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749808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Create Tables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15816" y="4217384"/>
            <a:ext cx="6872288" cy="864680"/>
            <a:chOff x="0" y="0"/>
            <a:chExt cx="9163050" cy="115290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163050" cy="1152906"/>
            </a:xfrm>
            <a:custGeom>
              <a:avLst/>
              <a:gdLst/>
              <a:ahLst/>
              <a:cxnLst/>
              <a:rect l="l" t="t" r="r" b="b"/>
              <a:pathLst>
                <a:path w="9163050" h="1152906">
                  <a:moveTo>
                    <a:pt x="0" y="185928"/>
                  </a:moveTo>
                  <a:cubicBezTo>
                    <a:pt x="0" y="83312"/>
                    <a:pt x="83312" y="0"/>
                    <a:pt x="185928" y="0"/>
                  </a:cubicBezTo>
                  <a:lnTo>
                    <a:pt x="8977122" y="0"/>
                  </a:lnTo>
                  <a:cubicBezTo>
                    <a:pt x="9079865" y="0"/>
                    <a:pt x="9163050" y="83312"/>
                    <a:pt x="9163050" y="185928"/>
                  </a:cubicBezTo>
                  <a:lnTo>
                    <a:pt x="9163050" y="966978"/>
                  </a:lnTo>
                  <a:cubicBezTo>
                    <a:pt x="9163050" y="1069721"/>
                    <a:pt x="9079738" y="1152906"/>
                    <a:pt x="8977122" y="1152906"/>
                  </a:cubicBezTo>
                  <a:lnTo>
                    <a:pt x="185928" y="1152906"/>
                  </a:lnTo>
                  <a:cubicBezTo>
                    <a:pt x="83312" y="1152906"/>
                    <a:pt x="0" y="1069594"/>
                    <a:pt x="0" y="96697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1087755" y="4407027"/>
            <a:ext cx="485394" cy="485394"/>
            <a:chOff x="0" y="0"/>
            <a:chExt cx="647192" cy="64719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47192" cy="647192"/>
            </a:xfrm>
            <a:custGeom>
              <a:avLst/>
              <a:gdLst/>
              <a:ahLst/>
              <a:cxnLst/>
              <a:rect l="l" t="t" r="r" b="b"/>
              <a:pathLst>
                <a:path w="647192" h="647192">
                  <a:moveTo>
                    <a:pt x="0" y="323596"/>
                  </a:moveTo>
                  <a:cubicBezTo>
                    <a:pt x="0" y="144907"/>
                    <a:pt x="144907" y="0"/>
                    <a:pt x="323596" y="0"/>
                  </a:cubicBezTo>
                  <a:cubicBezTo>
                    <a:pt x="502285" y="0"/>
                    <a:pt x="647192" y="144907"/>
                    <a:pt x="647192" y="323596"/>
                  </a:cubicBezTo>
                  <a:cubicBezTo>
                    <a:pt x="647192" y="502285"/>
                    <a:pt x="502285" y="647192"/>
                    <a:pt x="323596" y="647192"/>
                  </a:cubicBezTo>
                  <a:cubicBezTo>
                    <a:pt x="144907" y="647192"/>
                    <a:pt x="0" y="502285"/>
                    <a:pt x="0" y="323596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097280" y="4416552"/>
            <a:ext cx="466344" cy="466344"/>
            <a:chOff x="0" y="0"/>
            <a:chExt cx="621792" cy="62179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621792" cy="621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851660" y="4224528"/>
            <a:ext cx="5623560" cy="850392"/>
            <a:chOff x="0" y="0"/>
            <a:chExt cx="7498080" cy="113385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498080" cy="1133856"/>
            </a:xfrm>
            <a:custGeom>
              <a:avLst/>
              <a:gdLst/>
              <a:ahLst/>
              <a:cxnLst/>
              <a:rect l="l" t="t" r="r" b="b"/>
              <a:pathLst>
                <a:path w="7498080" h="1133856">
                  <a:moveTo>
                    <a:pt x="0" y="0"/>
                  </a:moveTo>
                  <a:lnTo>
                    <a:pt x="7498080" y="0"/>
                  </a:lnTo>
                  <a:lnTo>
                    <a:pt x="74980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852" b="-78852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749808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Define Primary &amp; Foreign Keys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15816" y="5232368"/>
            <a:ext cx="6872288" cy="864680"/>
            <a:chOff x="0" y="0"/>
            <a:chExt cx="9163050" cy="115290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163050" cy="1152906"/>
            </a:xfrm>
            <a:custGeom>
              <a:avLst/>
              <a:gdLst/>
              <a:ahLst/>
              <a:cxnLst/>
              <a:rect l="l" t="t" r="r" b="b"/>
              <a:pathLst>
                <a:path w="9163050" h="1152906">
                  <a:moveTo>
                    <a:pt x="0" y="185928"/>
                  </a:moveTo>
                  <a:cubicBezTo>
                    <a:pt x="0" y="83312"/>
                    <a:pt x="83312" y="0"/>
                    <a:pt x="185928" y="0"/>
                  </a:cubicBezTo>
                  <a:lnTo>
                    <a:pt x="8977122" y="0"/>
                  </a:lnTo>
                  <a:cubicBezTo>
                    <a:pt x="9079865" y="0"/>
                    <a:pt x="9163050" y="83312"/>
                    <a:pt x="9163050" y="185928"/>
                  </a:cubicBezTo>
                  <a:lnTo>
                    <a:pt x="9163050" y="966978"/>
                  </a:lnTo>
                  <a:cubicBezTo>
                    <a:pt x="9163050" y="1069721"/>
                    <a:pt x="9079738" y="1152906"/>
                    <a:pt x="8977122" y="1152906"/>
                  </a:cubicBezTo>
                  <a:lnTo>
                    <a:pt x="185928" y="1152906"/>
                  </a:lnTo>
                  <a:cubicBezTo>
                    <a:pt x="83312" y="1152906"/>
                    <a:pt x="0" y="1069594"/>
                    <a:pt x="0" y="96697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1087755" y="5422011"/>
            <a:ext cx="485394" cy="485394"/>
            <a:chOff x="0" y="0"/>
            <a:chExt cx="647192" cy="64719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47192" cy="647192"/>
            </a:xfrm>
            <a:custGeom>
              <a:avLst/>
              <a:gdLst/>
              <a:ahLst/>
              <a:cxnLst/>
              <a:rect l="l" t="t" r="r" b="b"/>
              <a:pathLst>
                <a:path w="647192" h="647192">
                  <a:moveTo>
                    <a:pt x="0" y="323596"/>
                  </a:moveTo>
                  <a:cubicBezTo>
                    <a:pt x="0" y="144907"/>
                    <a:pt x="144907" y="0"/>
                    <a:pt x="323596" y="0"/>
                  </a:cubicBezTo>
                  <a:cubicBezTo>
                    <a:pt x="502285" y="0"/>
                    <a:pt x="647192" y="144907"/>
                    <a:pt x="647192" y="323596"/>
                  </a:cubicBezTo>
                  <a:cubicBezTo>
                    <a:pt x="647192" y="502285"/>
                    <a:pt x="502285" y="647192"/>
                    <a:pt x="323596" y="647192"/>
                  </a:cubicBezTo>
                  <a:cubicBezTo>
                    <a:pt x="144907" y="647192"/>
                    <a:pt x="0" y="502285"/>
                    <a:pt x="0" y="323596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1097280" y="5431536"/>
            <a:ext cx="466344" cy="466344"/>
            <a:chOff x="0" y="0"/>
            <a:chExt cx="621792" cy="62179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621792" cy="621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851660" y="5239512"/>
            <a:ext cx="5623560" cy="850392"/>
            <a:chOff x="0" y="0"/>
            <a:chExt cx="7498080" cy="113385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7498080" cy="1133856"/>
            </a:xfrm>
            <a:custGeom>
              <a:avLst/>
              <a:gdLst/>
              <a:ahLst/>
              <a:cxnLst/>
              <a:rect l="l" t="t" r="r" b="b"/>
              <a:pathLst>
                <a:path w="7498080" h="1133856">
                  <a:moveTo>
                    <a:pt x="0" y="0"/>
                  </a:moveTo>
                  <a:lnTo>
                    <a:pt x="7498080" y="0"/>
                  </a:lnTo>
                  <a:lnTo>
                    <a:pt x="74980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852" b="-78852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0"/>
              <a:ext cx="749808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Insert Records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15816" y="6247352"/>
            <a:ext cx="6872288" cy="864680"/>
            <a:chOff x="0" y="0"/>
            <a:chExt cx="9163050" cy="115290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9163050" cy="1152906"/>
            </a:xfrm>
            <a:custGeom>
              <a:avLst/>
              <a:gdLst/>
              <a:ahLst/>
              <a:cxnLst/>
              <a:rect l="l" t="t" r="r" b="b"/>
              <a:pathLst>
                <a:path w="9163050" h="1152906">
                  <a:moveTo>
                    <a:pt x="0" y="185928"/>
                  </a:moveTo>
                  <a:cubicBezTo>
                    <a:pt x="0" y="83312"/>
                    <a:pt x="83312" y="0"/>
                    <a:pt x="185928" y="0"/>
                  </a:cubicBezTo>
                  <a:lnTo>
                    <a:pt x="8977122" y="0"/>
                  </a:lnTo>
                  <a:cubicBezTo>
                    <a:pt x="9079865" y="0"/>
                    <a:pt x="9163050" y="83312"/>
                    <a:pt x="9163050" y="185928"/>
                  </a:cubicBezTo>
                  <a:lnTo>
                    <a:pt x="9163050" y="966978"/>
                  </a:lnTo>
                  <a:cubicBezTo>
                    <a:pt x="9163050" y="1069721"/>
                    <a:pt x="9079738" y="1152906"/>
                    <a:pt x="8977122" y="1152906"/>
                  </a:cubicBezTo>
                  <a:lnTo>
                    <a:pt x="185928" y="1152906"/>
                  </a:lnTo>
                  <a:cubicBezTo>
                    <a:pt x="83312" y="1152906"/>
                    <a:pt x="0" y="1069594"/>
                    <a:pt x="0" y="96697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1087755" y="6436995"/>
            <a:ext cx="485394" cy="485394"/>
            <a:chOff x="0" y="0"/>
            <a:chExt cx="647192" cy="64719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647192" cy="647192"/>
            </a:xfrm>
            <a:custGeom>
              <a:avLst/>
              <a:gdLst/>
              <a:ahLst/>
              <a:cxnLst/>
              <a:rect l="l" t="t" r="r" b="b"/>
              <a:pathLst>
                <a:path w="647192" h="647192">
                  <a:moveTo>
                    <a:pt x="0" y="323596"/>
                  </a:moveTo>
                  <a:cubicBezTo>
                    <a:pt x="0" y="144907"/>
                    <a:pt x="144907" y="0"/>
                    <a:pt x="323596" y="0"/>
                  </a:cubicBezTo>
                  <a:cubicBezTo>
                    <a:pt x="502285" y="0"/>
                    <a:pt x="647192" y="144907"/>
                    <a:pt x="647192" y="323596"/>
                  </a:cubicBezTo>
                  <a:cubicBezTo>
                    <a:pt x="647192" y="502285"/>
                    <a:pt x="502285" y="647192"/>
                    <a:pt x="323596" y="647192"/>
                  </a:cubicBezTo>
                  <a:cubicBezTo>
                    <a:pt x="144907" y="647192"/>
                    <a:pt x="0" y="502285"/>
                    <a:pt x="0" y="323596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1097280" y="6446520"/>
            <a:ext cx="466344" cy="466344"/>
            <a:chOff x="0" y="0"/>
            <a:chExt cx="621792" cy="62179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0"/>
              <a:ext cx="621792" cy="621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851660" y="6254496"/>
            <a:ext cx="5623560" cy="850392"/>
            <a:chOff x="0" y="0"/>
            <a:chExt cx="7498080" cy="1133856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498080" cy="1133856"/>
            </a:xfrm>
            <a:custGeom>
              <a:avLst/>
              <a:gdLst/>
              <a:ahLst/>
              <a:cxnLst/>
              <a:rect l="l" t="t" r="r" b="b"/>
              <a:pathLst>
                <a:path w="7498080" h="1133856">
                  <a:moveTo>
                    <a:pt x="0" y="0"/>
                  </a:moveTo>
                  <a:lnTo>
                    <a:pt x="7498080" y="0"/>
                  </a:lnTo>
                  <a:lnTo>
                    <a:pt x="74980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852" b="-78852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0"/>
              <a:ext cx="749808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Execute SQL Queries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815816" y="7262336"/>
            <a:ext cx="6872288" cy="864680"/>
            <a:chOff x="0" y="0"/>
            <a:chExt cx="9163050" cy="1152906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9163050" cy="1152906"/>
            </a:xfrm>
            <a:custGeom>
              <a:avLst/>
              <a:gdLst/>
              <a:ahLst/>
              <a:cxnLst/>
              <a:rect l="l" t="t" r="r" b="b"/>
              <a:pathLst>
                <a:path w="9163050" h="1152906">
                  <a:moveTo>
                    <a:pt x="0" y="185928"/>
                  </a:moveTo>
                  <a:cubicBezTo>
                    <a:pt x="0" y="83312"/>
                    <a:pt x="83312" y="0"/>
                    <a:pt x="185928" y="0"/>
                  </a:cubicBezTo>
                  <a:lnTo>
                    <a:pt x="8977122" y="0"/>
                  </a:lnTo>
                  <a:cubicBezTo>
                    <a:pt x="9079865" y="0"/>
                    <a:pt x="9163050" y="83312"/>
                    <a:pt x="9163050" y="185928"/>
                  </a:cubicBezTo>
                  <a:lnTo>
                    <a:pt x="9163050" y="966978"/>
                  </a:lnTo>
                  <a:cubicBezTo>
                    <a:pt x="9163050" y="1069721"/>
                    <a:pt x="9079738" y="1152906"/>
                    <a:pt x="8977122" y="1152906"/>
                  </a:cubicBezTo>
                  <a:lnTo>
                    <a:pt x="185928" y="1152906"/>
                  </a:lnTo>
                  <a:cubicBezTo>
                    <a:pt x="83312" y="1152906"/>
                    <a:pt x="0" y="1069594"/>
                    <a:pt x="0" y="966978"/>
                  </a:cubicBezTo>
                  <a:close/>
                </a:path>
              </a:pathLst>
            </a:custGeom>
            <a:solidFill>
              <a:srgbClr val="14213D"/>
            </a:solidFill>
            <a:ln w="14288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1087755" y="7451979"/>
            <a:ext cx="485394" cy="485394"/>
            <a:chOff x="0" y="0"/>
            <a:chExt cx="647192" cy="647192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47192" cy="647192"/>
            </a:xfrm>
            <a:custGeom>
              <a:avLst/>
              <a:gdLst/>
              <a:ahLst/>
              <a:cxnLst/>
              <a:rect l="l" t="t" r="r" b="b"/>
              <a:pathLst>
                <a:path w="647192" h="647192">
                  <a:moveTo>
                    <a:pt x="0" y="323596"/>
                  </a:moveTo>
                  <a:cubicBezTo>
                    <a:pt x="0" y="144907"/>
                    <a:pt x="144907" y="0"/>
                    <a:pt x="323596" y="0"/>
                  </a:cubicBezTo>
                  <a:cubicBezTo>
                    <a:pt x="502285" y="0"/>
                    <a:pt x="647192" y="144907"/>
                    <a:pt x="647192" y="323596"/>
                  </a:cubicBezTo>
                  <a:cubicBezTo>
                    <a:pt x="647192" y="502285"/>
                    <a:pt x="502285" y="647192"/>
                    <a:pt x="323596" y="647192"/>
                  </a:cubicBezTo>
                  <a:cubicBezTo>
                    <a:pt x="144907" y="647192"/>
                    <a:pt x="0" y="502285"/>
                    <a:pt x="0" y="323596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1097280" y="7461504"/>
            <a:ext cx="466344" cy="466344"/>
            <a:chOff x="0" y="0"/>
            <a:chExt cx="621792" cy="62179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21792" cy="621792"/>
            </a:xfrm>
            <a:custGeom>
              <a:avLst/>
              <a:gdLst/>
              <a:ahLst/>
              <a:cxn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0"/>
              <a:ext cx="621792" cy="621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851660" y="7269480"/>
            <a:ext cx="5623560" cy="850392"/>
            <a:chOff x="0" y="0"/>
            <a:chExt cx="7498080" cy="1133856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7498080" cy="1133856"/>
            </a:xfrm>
            <a:custGeom>
              <a:avLst/>
              <a:gdLst/>
              <a:ahLst/>
              <a:cxnLst/>
              <a:rect l="l" t="t" r="r" b="b"/>
              <a:pathLst>
                <a:path w="7498080" h="1133856">
                  <a:moveTo>
                    <a:pt x="0" y="0"/>
                  </a:moveTo>
                  <a:lnTo>
                    <a:pt x="7498080" y="0"/>
                  </a:lnTo>
                  <a:lnTo>
                    <a:pt x="74980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852" b="-78852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0"/>
              <a:ext cx="749808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7F3E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Generate Library Insights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8222456" y="2187416"/>
            <a:ext cx="9245156" cy="5363528"/>
            <a:chOff x="0" y="0"/>
            <a:chExt cx="12326874" cy="715137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2326874" cy="7151370"/>
            </a:xfrm>
            <a:custGeom>
              <a:avLst/>
              <a:gdLst/>
              <a:ahLst/>
              <a:cxnLst/>
              <a:rect l="l" t="t" r="r" b="b"/>
              <a:pathLst>
                <a:path w="12326874" h="7151370">
                  <a:moveTo>
                    <a:pt x="0" y="183388"/>
                  </a:moveTo>
                  <a:cubicBezTo>
                    <a:pt x="0" y="82042"/>
                    <a:pt x="82042" y="0"/>
                    <a:pt x="183388" y="0"/>
                  </a:cubicBezTo>
                  <a:lnTo>
                    <a:pt x="12143486" y="0"/>
                  </a:lnTo>
                  <a:cubicBezTo>
                    <a:pt x="12244705" y="0"/>
                    <a:pt x="12326874" y="82042"/>
                    <a:pt x="12326874" y="183388"/>
                  </a:cubicBezTo>
                  <a:lnTo>
                    <a:pt x="12326874" y="6967982"/>
                  </a:lnTo>
                  <a:cubicBezTo>
                    <a:pt x="12326874" y="7069200"/>
                    <a:pt x="12244832" y="7151370"/>
                    <a:pt x="12143486" y="7151370"/>
                  </a:cubicBezTo>
                  <a:lnTo>
                    <a:pt x="183388" y="7151370"/>
                  </a:lnTo>
                  <a:cubicBezTo>
                    <a:pt x="82042" y="7151370"/>
                    <a:pt x="0" y="7069328"/>
                    <a:pt x="0" y="6967982"/>
                  </a:cubicBezTo>
                  <a:close/>
                </a:path>
              </a:pathLst>
            </a:custGeom>
            <a:solidFill>
              <a:srgbClr val="14213D"/>
            </a:solidFill>
            <a:ln w="14288" cap="sq">
              <a:solidFill>
                <a:srgbClr val="14213D"/>
              </a:solidFill>
              <a:prstDash val="solid"/>
              <a:miter/>
            </a:ln>
          </p:spPr>
        </p:sp>
      </p:grpSp>
      <p:sp>
        <p:nvSpPr>
          <p:cNvPr id="78" name="TextBox 78"/>
          <p:cNvSpPr txBox="1"/>
          <p:nvPr/>
        </p:nvSpPr>
        <p:spPr>
          <a:xfrm>
            <a:off x="8778240" y="2480310"/>
            <a:ext cx="8229600" cy="4720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C8A96B"/>
                </a:solidFill>
                <a:latin typeface="Consolas Bold"/>
                <a:ea typeface="Consolas Bold"/>
                <a:cs typeface="Consolas Bold"/>
                <a:sym typeface="Consolas Bold"/>
              </a:rPr>
              <a:t>CREATE TABLE</a:t>
            </a:r>
            <a:r>
              <a:rPr lang="en-US" sz="2700">
                <a:solidFill>
                  <a:srgbClr val="F7F3E8"/>
                </a:solidFill>
                <a:latin typeface="Consolas"/>
                <a:ea typeface="Consolas"/>
                <a:cs typeface="Consolas"/>
                <a:sym typeface="Consolas"/>
              </a:rPr>
              <a:t> Books (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7F3E8"/>
                </a:solidFill>
                <a:latin typeface="Consolas"/>
                <a:ea typeface="Consolas"/>
                <a:cs typeface="Consolas"/>
                <a:sym typeface="Consolas"/>
              </a:rPr>
              <a:t>    BookID </a:t>
            </a:r>
            <a:r>
              <a:rPr lang="en-US" sz="2700" b="1">
                <a:solidFill>
                  <a:srgbClr val="C8A96B"/>
                </a:solidFill>
                <a:latin typeface="Consolas Bold"/>
                <a:ea typeface="Consolas Bold"/>
                <a:cs typeface="Consolas Bold"/>
                <a:sym typeface="Consolas Bold"/>
              </a:rPr>
              <a:t>INT</a:t>
            </a:r>
            <a:r>
              <a:rPr lang="en-US" sz="2700">
                <a:solidFill>
                  <a:srgbClr val="F7F3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700" b="1">
                <a:solidFill>
                  <a:srgbClr val="C8A96B"/>
                </a:solidFill>
                <a:latin typeface="Consolas Bold"/>
                <a:ea typeface="Consolas Bold"/>
                <a:cs typeface="Consolas Bold"/>
                <a:sym typeface="Consolas Bold"/>
              </a:rPr>
              <a:t>PRIMARY KEY</a:t>
            </a:r>
            <a:r>
              <a:rPr lang="en-US" sz="2700">
                <a:solidFill>
                  <a:srgbClr val="F7F3E8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7F3E8"/>
                </a:solidFill>
                <a:latin typeface="Consolas"/>
                <a:ea typeface="Consolas"/>
                <a:cs typeface="Consolas"/>
                <a:sym typeface="Consolas"/>
              </a:rPr>
              <a:t>    Title </a:t>
            </a:r>
            <a:r>
              <a:rPr lang="en-US" sz="2700" b="1">
                <a:solidFill>
                  <a:srgbClr val="C8A96B"/>
                </a:solidFill>
                <a:latin typeface="Consolas Bold"/>
                <a:ea typeface="Consolas Bold"/>
                <a:cs typeface="Consolas Bold"/>
                <a:sym typeface="Consolas Bold"/>
              </a:rPr>
              <a:t>VARCHAR</a:t>
            </a:r>
            <a:r>
              <a:rPr lang="en-US" sz="2700">
                <a:solidFill>
                  <a:srgbClr val="F7F3E8"/>
                </a:solidFill>
                <a:latin typeface="Consolas"/>
                <a:ea typeface="Consolas"/>
                <a:cs typeface="Consolas"/>
                <a:sym typeface="Consolas"/>
              </a:rPr>
              <a:t>(150),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7F3E8"/>
                </a:solidFill>
                <a:latin typeface="Consolas"/>
                <a:ea typeface="Consolas"/>
                <a:cs typeface="Consolas"/>
                <a:sym typeface="Consolas"/>
              </a:rPr>
              <a:t>    PublicationYear </a:t>
            </a:r>
            <a:r>
              <a:rPr lang="en-US" sz="2700" b="1">
                <a:solidFill>
                  <a:srgbClr val="C8A96B"/>
                </a:solidFill>
                <a:latin typeface="Consolas Bold"/>
                <a:ea typeface="Consolas Bold"/>
                <a:cs typeface="Consolas Bold"/>
                <a:sym typeface="Consolas Bold"/>
              </a:rPr>
              <a:t>YEAR</a:t>
            </a:r>
            <a:r>
              <a:rPr lang="en-US" sz="2700">
                <a:solidFill>
                  <a:srgbClr val="F7F3E8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7F3E8"/>
                </a:solidFill>
                <a:latin typeface="Consolas"/>
                <a:ea typeface="Consolas"/>
                <a:cs typeface="Consolas"/>
                <a:sym typeface="Consolas"/>
              </a:rPr>
              <a:t>    Genre </a:t>
            </a:r>
            <a:r>
              <a:rPr lang="en-US" sz="2700" b="1">
                <a:solidFill>
                  <a:srgbClr val="C8A96B"/>
                </a:solidFill>
                <a:latin typeface="Consolas Bold"/>
                <a:ea typeface="Consolas Bold"/>
                <a:cs typeface="Consolas Bold"/>
                <a:sym typeface="Consolas Bold"/>
              </a:rPr>
              <a:t>VARCHAR</a:t>
            </a:r>
            <a:r>
              <a:rPr lang="en-US" sz="2700">
                <a:solidFill>
                  <a:srgbClr val="F7F3E8"/>
                </a:solidFill>
                <a:latin typeface="Consolas"/>
                <a:ea typeface="Consolas"/>
                <a:cs typeface="Consolas"/>
                <a:sym typeface="Consolas"/>
              </a:rPr>
              <a:t>(50)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7F3E8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</a:p>
        </p:txBody>
      </p:sp>
      <p:grpSp>
        <p:nvGrpSpPr>
          <p:cNvPr id="79" name="Group 79"/>
          <p:cNvGrpSpPr/>
          <p:nvPr/>
        </p:nvGrpSpPr>
        <p:grpSpPr>
          <a:xfrm>
            <a:off x="8222456" y="7879556"/>
            <a:ext cx="2990660" cy="562928"/>
            <a:chOff x="0" y="0"/>
            <a:chExt cx="3987546" cy="75057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3987419" cy="750443"/>
            </a:xfrm>
            <a:custGeom>
              <a:avLst/>
              <a:gdLst/>
              <a:ahLst/>
              <a:cxnLst/>
              <a:rect l="l" t="t" r="r" b="b"/>
              <a:pathLst>
                <a:path w="3987419" h="750443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lnTo>
                    <a:pt x="3799840" y="0"/>
                  </a:lnTo>
                  <a:cubicBezTo>
                    <a:pt x="3903472" y="0"/>
                    <a:pt x="3987419" y="83947"/>
                    <a:pt x="3987419" y="187579"/>
                  </a:cubicBezTo>
                  <a:lnTo>
                    <a:pt x="3987419" y="562864"/>
                  </a:lnTo>
                  <a:cubicBezTo>
                    <a:pt x="3987419" y="666496"/>
                    <a:pt x="3903472" y="750443"/>
                    <a:pt x="3799840" y="750443"/>
                  </a:cubicBezTo>
                  <a:lnTo>
                    <a:pt x="187579" y="750443"/>
                  </a:lnTo>
                  <a:cubicBezTo>
                    <a:pt x="83947" y="750570"/>
                    <a:pt x="0" y="666623"/>
                    <a:pt x="0" y="56286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81" name="Group 81"/>
          <p:cNvGrpSpPr/>
          <p:nvPr/>
        </p:nvGrpSpPr>
        <p:grpSpPr>
          <a:xfrm>
            <a:off x="8229600" y="7886700"/>
            <a:ext cx="2976372" cy="548640"/>
            <a:chOff x="0" y="0"/>
            <a:chExt cx="3968496" cy="73152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3968496" cy="731520"/>
            </a:xfrm>
            <a:custGeom>
              <a:avLst/>
              <a:gdLst/>
              <a:ahLst/>
              <a:cxnLst/>
              <a:rect l="l" t="t" r="r" b="b"/>
              <a:pathLst>
                <a:path w="3968496" h="731520">
                  <a:moveTo>
                    <a:pt x="0" y="0"/>
                  </a:moveTo>
                  <a:lnTo>
                    <a:pt x="3968496" y="0"/>
                  </a:lnTo>
                  <a:lnTo>
                    <a:pt x="396849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706" b="-55706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0"/>
              <a:ext cx="3968496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Primary Keys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1349704" y="7879556"/>
            <a:ext cx="2990660" cy="562928"/>
            <a:chOff x="0" y="0"/>
            <a:chExt cx="3987546" cy="75057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3987419" cy="750443"/>
            </a:xfrm>
            <a:custGeom>
              <a:avLst/>
              <a:gdLst/>
              <a:ahLst/>
              <a:cxnLst/>
              <a:rect l="l" t="t" r="r" b="b"/>
              <a:pathLst>
                <a:path w="3987419" h="750443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lnTo>
                    <a:pt x="3799840" y="0"/>
                  </a:lnTo>
                  <a:cubicBezTo>
                    <a:pt x="3903472" y="0"/>
                    <a:pt x="3987419" y="83947"/>
                    <a:pt x="3987419" y="187579"/>
                  </a:cubicBezTo>
                  <a:lnTo>
                    <a:pt x="3987419" y="562864"/>
                  </a:lnTo>
                  <a:cubicBezTo>
                    <a:pt x="3987419" y="666496"/>
                    <a:pt x="3903472" y="750443"/>
                    <a:pt x="3799840" y="750443"/>
                  </a:cubicBezTo>
                  <a:lnTo>
                    <a:pt x="187579" y="750443"/>
                  </a:lnTo>
                  <a:cubicBezTo>
                    <a:pt x="83947" y="750570"/>
                    <a:pt x="0" y="666623"/>
                    <a:pt x="0" y="56286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86" name="Group 86"/>
          <p:cNvGrpSpPr/>
          <p:nvPr/>
        </p:nvGrpSpPr>
        <p:grpSpPr>
          <a:xfrm>
            <a:off x="11356848" y="7886700"/>
            <a:ext cx="2976372" cy="548640"/>
            <a:chOff x="0" y="0"/>
            <a:chExt cx="3968496" cy="73152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3968496" cy="731520"/>
            </a:xfrm>
            <a:custGeom>
              <a:avLst/>
              <a:gdLst/>
              <a:ahLst/>
              <a:cxnLst/>
              <a:rect l="l" t="t" r="r" b="b"/>
              <a:pathLst>
                <a:path w="3968496" h="731520">
                  <a:moveTo>
                    <a:pt x="0" y="0"/>
                  </a:moveTo>
                  <a:lnTo>
                    <a:pt x="3968496" y="0"/>
                  </a:lnTo>
                  <a:lnTo>
                    <a:pt x="396849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706" b="-55706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0"/>
              <a:ext cx="3968496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Foreign Keys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4476952" y="7879556"/>
            <a:ext cx="2990660" cy="562928"/>
            <a:chOff x="0" y="0"/>
            <a:chExt cx="3987546" cy="75057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3987419" cy="750443"/>
            </a:xfrm>
            <a:custGeom>
              <a:avLst/>
              <a:gdLst/>
              <a:ahLst/>
              <a:cxnLst/>
              <a:rect l="l" t="t" r="r" b="b"/>
              <a:pathLst>
                <a:path w="3987419" h="750443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lnTo>
                    <a:pt x="3799840" y="0"/>
                  </a:lnTo>
                  <a:cubicBezTo>
                    <a:pt x="3903472" y="0"/>
                    <a:pt x="3987419" y="83947"/>
                    <a:pt x="3987419" y="187579"/>
                  </a:cubicBezTo>
                  <a:lnTo>
                    <a:pt x="3987419" y="562864"/>
                  </a:lnTo>
                  <a:cubicBezTo>
                    <a:pt x="3987419" y="666496"/>
                    <a:pt x="3903472" y="750443"/>
                    <a:pt x="3799840" y="750443"/>
                  </a:cubicBezTo>
                  <a:lnTo>
                    <a:pt x="187579" y="750443"/>
                  </a:lnTo>
                  <a:cubicBezTo>
                    <a:pt x="83947" y="750570"/>
                    <a:pt x="0" y="666623"/>
                    <a:pt x="0" y="56286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91" name="Group 91"/>
          <p:cNvGrpSpPr/>
          <p:nvPr/>
        </p:nvGrpSpPr>
        <p:grpSpPr>
          <a:xfrm>
            <a:off x="14484096" y="7886700"/>
            <a:ext cx="2976372" cy="548640"/>
            <a:chOff x="0" y="0"/>
            <a:chExt cx="3968496" cy="73152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3968496" cy="731520"/>
            </a:xfrm>
            <a:custGeom>
              <a:avLst/>
              <a:gdLst/>
              <a:ahLst/>
              <a:cxnLst/>
              <a:rect l="l" t="t" r="r" b="b"/>
              <a:pathLst>
                <a:path w="3968496" h="731520">
                  <a:moveTo>
                    <a:pt x="0" y="0"/>
                  </a:moveTo>
                  <a:lnTo>
                    <a:pt x="3968496" y="0"/>
                  </a:lnTo>
                  <a:lnTo>
                    <a:pt x="396849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706" b="-55706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0"/>
              <a:ext cx="3968496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Composite PK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8222456" y="8565356"/>
            <a:ext cx="2990660" cy="562928"/>
            <a:chOff x="0" y="0"/>
            <a:chExt cx="3987546" cy="75057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3987419" cy="750443"/>
            </a:xfrm>
            <a:custGeom>
              <a:avLst/>
              <a:gdLst/>
              <a:ahLst/>
              <a:cxnLst/>
              <a:rect l="l" t="t" r="r" b="b"/>
              <a:pathLst>
                <a:path w="3987419" h="750443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lnTo>
                    <a:pt x="3799840" y="0"/>
                  </a:lnTo>
                  <a:cubicBezTo>
                    <a:pt x="3903472" y="0"/>
                    <a:pt x="3987419" y="83947"/>
                    <a:pt x="3987419" y="187579"/>
                  </a:cubicBezTo>
                  <a:lnTo>
                    <a:pt x="3987419" y="562864"/>
                  </a:lnTo>
                  <a:cubicBezTo>
                    <a:pt x="3987419" y="666496"/>
                    <a:pt x="3903472" y="750443"/>
                    <a:pt x="3799840" y="750443"/>
                  </a:cubicBezTo>
                  <a:lnTo>
                    <a:pt x="187579" y="750443"/>
                  </a:lnTo>
                  <a:cubicBezTo>
                    <a:pt x="83947" y="750570"/>
                    <a:pt x="0" y="666623"/>
                    <a:pt x="0" y="56286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96" name="Group 96"/>
          <p:cNvGrpSpPr/>
          <p:nvPr/>
        </p:nvGrpSpPr>
        <p:grpSpPr>
          <a:xfrm>
            <a:off x="8229600" y="8572500"/>
            <a:ext cx="2976372" cy="548640"/>
            <a:chOff x="0" y="0"/>
            <a:chExt cx="3968496" cy="73152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3968496" cy="731520"/>
            </a:xfrm>
            <a:custGeom>
              <a:avLst/>
              <a:gdLst/>
              <a:ahLst/>
              <a:cxnLst/>
              <a:rect l="l" t="t" r="r" b="b"/>
              <a:pathLst>
                <a:path w="3968496" h="731520">
                  <a:moveTo>
                    <a:pt x="0" y="0"/>
                  </a:moveTo>
                  <a:lnTo>
                    <a:pt x="3968496" y="0"/>
                  </a:lnTo>
                  <a:lnTo>
                    <a:pt x="396849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706" b="-55706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0"/>
              <a:ext cx="3968496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UNIQUE (Email)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1349704" y="8565356"/>
            <a:ext cx="2990660" cy="562928"/>
            <a:chOff x="0" y="0"/>
            <a:chExt cx="3987546" cy="75057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3987419" cy="750443"/>
            </a:xfrm>
            <a:custGeom>
              <a:avLst/>
              <a:gdLst/>
              <a:ahLst/>
              <a:cxnLst/>
              <a:rect l="l" t="t" r="r" b="b"/>
              <a:pathLst>
                <a:path w="3987419" h="750443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lnTo>
                    <a:pt x="3799840" y="0"/>
                  </a:lnTo>
                  <a:cubicBezTo>
                    <a:pt x="3903472" y="0"/>
                    <a:pt x="3987419" y="83947"/>
                    <a:pt x="3987419" y="187579"/>
                  </a:cubicBezTo>
                  <a:lnTo>
                    <a:pt x="3987419" y="562864"/>
                  </a:lnTo>
                  <a:cubicBezTo>
                    <a:pt x="3987419" y="666496"/>
                    <a:pt x="3903472" y="750443"/>
                    <a:pt x="3799840" y="750443"/>
                  </a:cubicBezTo>
                  <a:lnTo>
                    <a:pt x="187579" y="750443"/>
                  </a:lnTo>
                  <a:cubicBezTo>
                    <a:pt x="83947" y="750570"/>
                    <a:pt x="0" y="666623"/>
                    <a:pt x="0" y="56286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101" name="Group 101"/>
          <p:cNvGrpSpPr/>
          <p:nvPr/>
        </p:nvGrpSpPr>
        <p:grpSpPr>
          <a:xfrm>
            <a:off x="11356848" y="8572500"/>
            <a:ext cx="2976372" cy="548640"/>
            <a:chOff x="0" y="0"/>
            <a:chExt cx="3968496" cy="73152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3968496" cy="731520"/>
            </a:xfrm>
            <a:custGeom>
              <a:avLst/>
              <a:gdLst/>
              <a:ahLst/>
              <a:cxnLst/>
              <a:rect l="l" t="t" r="r" b="b"/>
              <a:pathLst>
                <a:path w="3968496" h="731520">
                  <a:moveTo>
                    <a:pt x="0" y="0"/>
                  </a:moveTo>
                  <a:lnTo>
                    <a:pt x="3968496" y="0"/>
                  </a:lnTo>
                  <a:lnTo>
                    <a:pt x="396849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706" b="-55706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0"/>
              <a:ext cx="3968496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Referential integrity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4476952" y="8565356"/>
            <a:ext cx="2990660" cy="562928"/>
            <a:chOff x="0" y="0"/>
            <a:chExt cx="3987546" cy="750570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3987419" cy="750443"/>
            </a:xfrm>
            <a:custGeom>
              <a:avLst/>
              <a:gdLst/>
              <a:ahLst/>
              <a:cxnLst/>
              <a:rect l="l" t="t" r="r" b="b"/>
              <a:pathLst>
                <a:path w="3987419" h="750443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lnTo>
                    <a:pt x="3799840" y="0"/>
                  </a:lnTo>
                  <a:cubicBezTo>
                    <a:pt x="3903472" y="0"/>
                    <a:pt x="3987419" y="83947"/>
                    <a:pt x="3987419" y="187579"/>
                  </a:cubicBezTo>
                  <a:lnTo>
                    <a:pt x="3987419" y="562864"/>
                  </a:lnTo>
                  <a:cubicBezTo>
                    <a:pt x="3987419" y="666496"/>
                    <a:pt x="3903472" y="750443"/>
                    <a:pt x="3799840" y="750443"/>
                  </a:cubicBezTo>
                  <a:lnTo>
                    <a:pt x="187579" y="750443"/>
                  </a:lnTo>
                  <a:cubicBezTo>
                    <a:pt x="83947" y="750570"/>
                    <a:pt x="0" y="666623"/>
                    <a:pt x="0" y="56286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106" name="Group 106"/>
          <p:cNvGrpSpPr/>
          <p:nvPr/>
        </p:nvGrpSpPr>
        <p:grpSpPr>
          <a:xfrm>
            <a:off x="14484096" y="8572500"/>
            <a:ext cx="2976372" cy="548640"/>
            <a:chOff x="0" y="0"/>
            <a:chExt cx="3968496" cy="731520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3968496" cy="731520"/>
            </a:xfrm>
            <a:custGeom>
              <a:avLst/>
              <a:gdLst/>
              <a:ahLst/>
              <a:cxnLst/>
              <a:rect l="l" t="t" r="r" b="b"/>
              <a:pathLst>
                <a:path w="3968496" h="731520">
                  <a:moveTo>
                    <a:pt x="0" y="0"/>
                  </a:moveTo>
                  <a:lnTo>
                    <a:pt x="3968496" y="0"/>
                  </a:lnTo>
                  <a:lnTo>
                    <a:pt x="396849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706" b="-55706"/>
              </a:stretch>
            </a:blipFill>
          </p:spPr>
        </p:sp>
        <p:sp>
          <p:nvSpPr>
            <p:cNvPr id="108" name="TextBox 108"/>
            <p:cNvSpPr txBox="1"/>
            <p:nvPr/>
          </p:nvSpPr>
          <p:spPr>
            <a:xfrm>
              <a:off x="0" y="0"/>
              <a:ext cx="3968496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10+ records per table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920">
            <a:off x="811044" y="1805750"/>
            <a:ext cx="16661340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2940">
            <a:off x="815816" y="9569006"/>
            <a:ext cx="16651805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22960" y="9683496"/>
            <a:ext cx="10972800" cy="342900"/>
            <a:chOff x="0" y="0"/>
            <a:chExt cx="146304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1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LIBRARY MANAGEMENT SYSTEM  ·  MYSQL DATABASE PROJECT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850392"/>
            <a:ext cx="16637508" cy="850392"/>
            <a:chOff x="0" y="0"/>
            <a:chExt cx="22183344" cy="11338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3344" cy="1133856"/>
            </a:xfrm>
            <a:custGeom>
              <a:avLst/>
              <a:gdLst/>
              <a:ahLst/>
              <a:cxnLst/>
              <a:rect l="l" t="t" r="r" b="b"/>
              <a:pathLst>
                <a:path w="22183344" h="1133856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1215" b="-33121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2183344" cy="1124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MySQL Code — Database Creation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2960" y="466344"/>
            <a:ext cx="10972800" cy="342900"/>
            <a:chOff x="0" y="0"/>
            <a:chExt cx="1463040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IMPLEMENTATION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73400" y="9683496"/>
            <a:ext cx="1687068" cy="342900"/>
            <a:chOff x="0" y="0"/>
            <a:chExt cx="2249424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4" cy="457200"/>
            </a:xfrm>
            <a:custGeom>
              <a:avLst/>
              <a:gdLst/>
              <a:ahLst/>
              <a:cxnLst/>
              <a:rect l="l" t="t" r="r" b="b"/>
              <a:pathLst>
                <a:path w="2249424" h="457200">
                  <a:moveTo>
                    <a:pt x="0" y="0"/>
                  </a:moveTo>
                  <a:lnTo>
                    <a:pt x="2249424" y="0"/>
                  </a:lnTo>
                  <a:lnTo>
                    <a:pt x="22494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866" b="-4586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2494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9 / 25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2960" y="2194560"/>
            <a:ext cx="2057400" cy="960120"/>
            <a:chOff x="0" y="0"/>
            <a:chExt cx="2743200" cy="12801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743200" cy="1280160"/>
            </a:xfrm>
            <a:custGeom>
              <a:avLst/>
              <a:gdLst/>
              <a:ahLst/>
              <a:cxnLst/>
              <a:rect l="l" t="t" r="r" b="b"/>
              <a:pathLst>
                <a:path w="2743200" h="1280160">
                  <a:moveTo>
                    <a:pt x="0" y="0"/>
                  </a:moveTo>
                  <a:lnTo>
                    <a:pt x="2743200" y="0"/>
                  </a:lnTo>
                  <a:lnTo>
                    <a:pt x="2743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r="-9874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2743200" cy="1280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22960" y="3223260"/>
            <a:ext cx="6172200" cy="685800"/>
            <a:chOff x="0" y="0"/>
            <a:chExt cx="8229600" cy="914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229600" cy="914400"/>
            </a:xfrm>
            <a:custGeom>
              <a:avLst/>
              <a:gdLst/>
              <a:ahLst/>
              <a:cxnLst/>
              <a:rect l="l" t="t" r="r" b="b"/>
              <a:pathLst>
                <a:path w="8229600" h="914400">
                  <a:moveTo>
                    <a:pt x="0" y="0"/>
                  </a:moveTo>
                  <a:lnTo>
                    <a:pt x="8229600" y="0"/>
                  </a:lnTo>
                  <a:lnTo>
                    <a:pt x="8229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5365" b="-125365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82296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0"/>
                </a:lnSpc>
              </a:pPr>
              <a:r>
                <a:rPr lang="en-US" sz="33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CREATE DATABASE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22960" y="4114800"/>
            <a:ext cx="6172200" cy="548640"/>
            <a:chOff x="0" y="0"/>
            <a:chExt cx="8229600" cy="7315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229600" cy="731520"/>
            </a:xfrm>
            <a:custGeom>
              <a:avLst/>
              <a:gdLst/>
              <a:ahLst/>
              <a:cxnLst/>
              <a:rect l="l" t="t" r="r" b="b"/>
              <a:pathLst>
                <a:path w="8229600" h="731520">
                  <a:moveTo>
                    <a:pt x="0" y="0"/>
                  </a:moveTo>
                  <a:lnTo>
                    <a:pt x="8229600" y="0"/>
                  </a:lnTo>
                  <a:lnTo>
                    <a:pt x="8229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206" b="-169206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82296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F3A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What was done?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22960" y="4869180"/>
            <a:ext cx="480060" cy="685800"/>
            <a:chOff x="0" y="0"/>
            <a:chExt cx="640080" cy="914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40080" cy="914400"/>
            </a:xfrm>
            <a:custGeom>
              <a:avLst/>
              <a:gdLst/>
              <a:ahLst/>
              <a:cxnLst/>
              <a:rect l="l" t="t" r="r" b="b"/>
              <a:pathLst>
                <a:path w="640080" h="914400">
                  <a:moveTo>
                    <a:pt x="0" y="0"/>
                  </a:moveTo>
                  <a:lnTo>
                    <a:pt x="640080" y="0"/>
                  </a:lnTo>
                  <a:lnTo>
                    <a:pt x="640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r="-133290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64008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C8A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✔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71600" y="4869180"/>
            <a:ext cx="5760720" cy="685800"/>
            <a:chOff x="0" y="0"/>
            <a:chExt cx="7680960" cy="914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680960" cy="914400"/>
            </a:xfrm>
            <a:custGeom>
              <a:avLst/>
              <a:gdLst/>
              <a:ahLst/>
              <a:cxnLst/>
              <a:rect l="l" t="t" r="r" b="b"/>
              <a:pathLst>
                <a:path w="7680960" h="914400">
                  <a:moveTo>
                    <a:pt x="0" y="0"/>
                  </a:moveTo>
                  <a:lnTo>
                    <a:pt x="7680960" y="0"/>
                  </a:lnTo>
                  <a:lnTo>
                    <a:pt x="7680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3674" b="-113674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76809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Created the Library Management database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22960" y="5692140"/>
            <a:ext cx="480060" cy="685800"/>
            <a:chOff x="0" y="0"/>
            <a:chExt cx="640080" cy="914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40080" cy="914400"/>
            </a:xfrm>
            <a:custGeom>
              <a:avLst/>
              <a:gdLst/>
              <a:ahLst/>
              <a:cxnLst/>
              <a:rect l="l" t="t" r="r" b="b"/>
              <a:pathLst>
                <a:path w="640080" h="914400">
                  <a:moveTo>
                    <a:pt x="0" y="0"/>
                  </a:moveTo>
                  <a:lnTo>
                    <a:pt x="640080" y="0"/>
                  </a:lnTo>
                  <a:lnTo>
                    <a:pt x="640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r="-133290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64008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C8A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✔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71600" y="5692140"/>
            <a:ext cx="5760720" cy="685800"/>
            <a:chOff x="0" y="0"/>
            <a:chExt cx="7680960" cy="9144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680960" cy="914400"/>
            </a:xfrm>
            <a:custGeom>
              <a:avLst/>
              <a:gdLst/>
              <a:ahLst/>
              <a:cxnLst/>
              <a:rect l="l" t="t" r="r" b="b"/>
              <a:pathLst>
                <a:path w="7680960" h="914400">
                  <a:moveTo>
                    <a:pt x="0" y="0"/>
                  </a:moveTo>
                  <a:lnTo>
                    <a:pt x="7680960" y="0"/>
                  </a:lnTo>
                  <a:lnTo>
                    <a:pt x="7680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3674" b="-113674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76809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Selected it using USE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22960" y="6515100"/>
            <a:ext cx="480060" cy="685800"/>
            <a:chOff x="0" y="0"/>
            <a:chExt cx="640080" cy="914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40080" cy="914400"/>
            </a:xfrm>
            <a:custGeom>
              <a:avLst/>
              <a:gdLst/>
              <a:ahLst/>
              <a:cxnLst/>
              <a:rect l="l" t="t" r="r" b="b"/>
              <a:pathLst>
                <a:path w="640080" h="914400">
                  <a:moveTo>
                    <a:pt x="0" y="0"/>
                  </a:moveTo>
                  <a:lnTo>
                    <a:pt x="640080" y="0"/>
                  </a:lnTo>
                  <a:lnTo>
                    <a:pt x="640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290" r="-133290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64008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C8A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✔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71600" y="6515100"/>
            <a:ext cx="5760720" cy="685800"/>
            <a:chOff x="0" y="0"/>
            <a:chExt cx="7680960" cy="9144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680960" cy="914400"/>
            </a:xfrm>
            <a:custGeom>
              <a:avLst/>
              <a:gdLst/>
              <a:ahLst/>
              <a:cxnLst/>
              <a:rect l="l" t="t" r="r" b="b"/>
              <a:pathLst>
                <a:path w="7680960" h="914400">
                  <a:moveTo>
                    <a:pt x="0" y="0"/>
                  </a:moveTo>
                  <a:lnTo>
                    <a:pt x="7680960" y="0"/>
                  </a:lnTo>
                  <a:lnTo>
                    <a:pt x="7680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3674" b="-113674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768096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Prepared it for table creation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673816" y="2187416"/>
            <a:ext cx="9793796" cy="4403408"/>
            <a:chOff x="0" y="0"/>
            <a:chExt cx="13058394" cy="587121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3058521" cy="5871210"/>
            </a:xfrm>
            <a:custGeom>
              <a:avLst/>
              <a:gdLst/>
              <a:ahLst/>
              <a:cxnLst/>
              <a:rect l="l" t="t" r="r" b="b"/>
              <a:pathLst>
                <a:path w="13058521" h="587121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2875006" y="0"/>
                  </a:lnTo>
                  <a:cubicBezTo>
                    <a:pt x="12976352" y="0"/>
                    <a:pt x="13058521" y="82169"/>
                    <a:pt x="13058521" y="183515"/>
                  </a:cubicBezTo>
                  <a:lnTo>
                    <a:pt x="13058521" y="5687695"/>
                  </a:lnTo>
                  <a:cubicBezTo>
                    <a:pt x="13058521" y="5789041"/>
                    <a:pt x="12976352" y="5871210"/>
                    <a:pt x="12875006" y="5871210"/>
                  </a:cubicBezTo>
                  <a:lnTo>
                    <a:pt x="183515" y="5871210"/>
                  </a:lnTo>
                  <a:cubicBezTo>
                    <a:pt x="82169" y="5871210"/>
                    <a:pt x="0" y="5789041"/>
                    <a:pt x="0" y="568769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7955280" y="2331720"/>
            <a:ext cx="9230868" cy="342900"/>
            <a:chOff x="0" y="0"/>
            <a:chExt cx="12307824" cy="4572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2307824" cy="457200"/>
            </a:xfrm>
            <a:custGeom>
              <a:avLst/>
              <a:gdLst/>
              <a:ahLst/>
              <a:cxnLst/>
              <a:rect l="l" t="t" r="r" b="b"/>
              <a:pathLst>
                <a:path w="12307824" h="457200">
                  <a:moveTo>
                    <a:pt x="0" y="0"/>
                  </a:moveTo>
                  <a:lnTo>
                    <a:pt x="12307824" y="0"/>
                  </a:lnTo>
                  <a:lnTo>
                    <a:pt x="123078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537" b="-474537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123078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MYSQL CODE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955280" y="3476615"/>
            <a:ext cx="9230868" cy="2236489"/>
            <a:chOff x="0" y="0"/>
            <a:chExt cx="12307824" cy="2981985"/>
          </a:xfrm>
        </p:grpSpPr>
        <p:sp>
          <p:nvSpPr>
            <p:cNvPr id="49" name="Freeform 49" descr="MySQL Workbench screenshot: create"/>
            <p:cNvSpPr/>
            <p:nvPr/>
          </p:nvSpPr>
          <p:spPr>
            <a:xfrm>
              <a:off x="0" y="0"/>
              <a:ext cx="12307824" cy="2981960"/>
            </a:xfrm>
            <a:custGeom>
              <a:avLst/>
              <a:gdLst/>
              <a:ahLst/>
              <a:cxnLst/>
              <a:rect l="l" t="t" r="r" b="b"/>
              <a:pathLst>
                <a:path w="12307824" h="2981960">
                  <a:moveTo>
                    <a:pt x="0" y="0"/>
                  </a:moveTo>
                  <a:lnTo>
                    <a:pt x="12307824" y="0"/>
                  </a:lnTo>
                  <a:lnTo>
                    <a:pt x="12307824" y="2981960"/>
                  </a:lnTo>
                  <a:lnTo>
                    <a:pt x="0" y="2981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920">
            <a:off x="811044" y="1805750"/>
            <a:ext cx="16661340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2940">
            <a:off x="815816" y="9569006"/>
            <a:ext cx="16651805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22960" y="9683496"/>
            <a:ext cx="10972800" cy="342900"/>
            <a:chOff x="0" y="0"/>
            <a:chExt cx="146304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1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LIBRARY MANAGEMENT SYSTEM  ·  MYSQL DATABASE PROJECT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850392"/>
            <a:ext cx="16637508" cy="850392"/>
            <a:chOff x="0" y="0"/>
            <a:chExt cx="22183344" cy="11338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3344" cy="1133856"/>
            </a:xfrm>
            <a:custGeom>
              <a:avLst/>
              <a:gdLst/>
              <a:ahLst/>
              <a:cxnLst/>
              <a:rect l="l" t="t" r="r" b="b"/>
              <a:pathLst>
                <a:path w="22183344" h="1133856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1215" b="-33121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2183344" cy="1124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MySQL Code — Creating Tables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2960" y="466344"/>
            <a:ext cx="10972800" cy="342900"/>
            <a:chOff x="0" y="0"/>
            <a:chExt cx="1463040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IMPLEMENTATION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73400" y="9683496"/>
            <a:ext cx="1687068" cy="342900"/>
            <a:chOff x="0" y="0"/>
            <a:chExt cx="2249424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4" cy="457200"/>
            </a:xfrm>
            <a:custGeom>
              <a:avLst/>
              <a:gdLst/>
              <a:ahLst/>
              <a:cxnLst/>
              <a:rect l="l" t="t" r="r" b="b"/>
              <a:pathLst>
                <a:path w="2249424" h="457200">
                  <a:moveTo>
                    <a:pt x="0" y="0"/>
                  </a:moveTo>
                  <a:lnTo>
                    <a:pt x="2249424" y="0"/>
                  </a:lnTo>
                  <a:lnTo>
                    <a:pt x="22494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866" b="-4586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2494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10 / 25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15816" y="2050256"/>
            <a:ext cx="5363528" cy="3237548"/>
            <a:chOff x="0" y="0"/>
            <a:chExt cx="7151370" cy="431673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51370" cy="4316730"/>
            </a:xfrm>
            <a:custGeom>
              <a:avLst/>
              <a:gdLst/>
              <a:ahLst/>
              <a:cxnLst/>
              <a:rect l="l" t="t" r="r" b="b"/>
              <a:pathLst>
                <a:path w="7151370" h="4316730">
                  <a:moveTo>
                    <a:pt x="0" y="183642"/>
                  </a:moveTo>
                  <a:cubicBezTo>
                    <a:pt x="0" y="82296"/>
                    <a:pt x="82296" y="0"/>
                    <a:pt x="183642" y="0"/>
                  </a:cubicBezTo>
                  <a:lnTo>
                    <a:pt x="6967728" y="0"/>
                  </a:lnTo>
                  <a:cubicBezTo>
                    <a:pt x="7069201" y="0"/>
                    <a:pt x="7151370" y="82296"/>
                    <a:pt x="7151370" y="183642"/>
                  </a:cubicBezTo>
                  <a:lnTo>
                    <a:pt x="7151370" y="4133088"/>
                  </a:lnTo>
                  <a:cubicBezTo>
                    <a:pt x="7151370" y="4234561"/>
                    <a:pt x="7069074" y="4316730"/>
                    <a:pt x="6967728" y="4316730"/>
                  </a:cubicBezTo>
                  <a:lnTo>
                    <a:pt x="183642" y="4316730"/>
                  </a:lnTo>
                  <a:cubicBezTo>
                    <a:pt x="82296" y="4316730"/>
                    <a:pt x="0" y="4234434"/>
                    <a:pt x="0" y="413308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097280" y="2194560"/>
            <a:ext cx="685800" cy="411480"/>
            <a:chOff x="0" y="0"/>
            <a:chExt cx="914400" cy="5486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9144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83080" y="2194560"/>
            <a:ext cx="4114800" cy="411480"/>
            <a:chOff x="0" y="0"/>
            <a:chExt cx="5486400" cy="5486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54864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BOOKS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97280" y="2797717"/>
            <a:ext cx="4800600" cy="2345783"/>
            <a:chOff x="0" y="0"/>
            <a:chExt cx="6400800" cy="3127711"/>
          </a:xfrm>
        </p:grpSpPr>
        <p:sp>
          <p:nvSpPr>
            <p:cNvPr id="25" name="Freeform 25" descr="MySQL Workbench screenshot: t1"/>
            <p:cNvSpPr/>
            <p:nvPr/>
          </p:nvSpPr>
          <p:spPr>
            <a:xfrm>
              <a:off x="0" y="0"/>
              <a:ext cx="6400800" cy="3127665"/>
            </a:xfrm>
            <a:custGeom>
              <a:avLst/>
              <a:gdLst/>
              <a:ahLst/>
              <a:cxnLst/>
              <a:rect l="l" t="t" r="r" b="b"/>
              <a:pathLst>
                <a:path w="6400800" h="3127665">
                  <a:moveTo>
                    <a:pt x="0" y="0"/>
                  </a:moveTo>
                  <a:lnTo>
                    <a:pt x="6400800" y="0"/>
                  </a:lnTo>
                  <a:lnTo>
                    <a:pt x="6400800" y="3127665"/>
                  </a:lnTo>
                  <a:lnTo>
                    <a:pt x="0" y="3127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358" b="-2359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6459950" y="2050256"/>
            <a:ext cx="5363528" cy="3237548"/>
            <a:chOff x="0" y="0"/>
            <a:chExt cx="7151370" cy="431673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151370" cy="4316730"/>
            </a:xfrm>
            <a:custGeom>
              <a:avLst/>
              <a:gdLst/>
              <a:ahLst/>
              <a:cxnLst/>
              <a:rect l="l" t="t" r="r" b="b"/>
              <a:pathLst>
                <a:path w="7151370" h="4316730">
                  <a:moveTo>
                    <a:pt x="0" y="183642"/>
                  </a:moveTo>
                  <a:cubicBezTo>
                    <a:pt x="0" y="82296"/>
                    <a:pt x="82296" y="0"/>
                    <a:pt x="183642" y="0"/>
                  </a:cubicBezTo>
                  <a:lnTo>
                    <a:pt x="6967728" y="0"/>
                  </a:lnTo>
                  <a:cubicBezTo>
                    <a:pt x="7069201" y="0"/>
                    <a:pt x="7151370" y="82296"/>
                    <a:pt x="7151370" y="183642"/>
                  </a:cubicBezTo>
                  <a:lnTo>
                    <a:pt x="7151370" y="4133088"/>
                  </a:lnTo>
                  <a:cubicBezTo>
                    <a:pt x="7151370" y="4234561"/>
                    <a:pt x="7069074" y="4316730"/>
                    <a:pt x="6967728" y="4316730"/>
                  </a:cubicBezTo>
                  <a:lnTo>
                    <a:pt x="183642" y="4316730"/>
                  </a:lnTo>
                  <a:cubicBezTo>
                    <a:pt x="82296" y="4316730"/>
                    <a:pt x="0" y="4234434"/>
                    <a:pt x="0" y="413308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6741414" y="2194560"/>
            <a:ext cx="685800" cy="411480"/>
            <a:chOff x="0" y="0"/>
            <a:chExt cx="914400" cy="5486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9144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427214" y="2194560"/>
            <a:ext cx="4114800" cy="411480"/>
            <a:chOff x="0" y="0"/>
            <a:chExt cx="5486400" cy="5486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54864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MEMBERS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934751" y="2797717"/>
            <a:ext cx="4346107" cy="2189136"/>
            <a:chOff x="0" y="0"/>
            <a:chExt cx="6400800" cy="3224086"/>
          </a:xfrm>
        </p:grpSpPr>
        <p:sp>
          <p:nvSpPr>
            <p:cNvPr id="35" name="Freeform 35" descr="MySQL Workbench screenshot: t2"/>
            <p:cNvSpPr/>
            <p:nvPr/>
          </p:nvSpPr>
          <p:spPr>
            <a:xfrm>
              <a:off x="0" y="0"/>
              <a:ext cx="6400800" cy="3224069"/>
            </a:xfrm>
            <a:custGeom>
              <a:avLst/>
              <a:gdLst/>
              <a:ahLst/>
              <a:cxnLst/>
              <a:rect l="l" t="t" r="r" b="b"/>
              <a:pathLst>
                <a:path w="6400800" h="3224069">
                  <a:moveTo>
                    <a:pt x="0" y="0"/>
                  </a:moveTo>
                  <a:lnTo>
                    <a:pt x="6400800" y="0"/>
                  </a:lnTo>
                  <a:lnTo>
                    <a:pt x="6400800" y="3224069"/>
                  </a:lnTo>
                  <a:lnTo>
                    <a:pt x="0" y="3224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802" b="-1802"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12104084" y="2050256"/>
            <a:ext cx="5363528" cy="3237548"/>
            <a:chOff x="0" y="0"/>
            <a:chExt cx="7151370" cy="431673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151370" cy="4316730"/>
            </a:xfrm>
            <a:custGeom>
              <a:avLst/>
              <a:gdLst/>
              <a:ahLst/>
              <a:cxnLst/>
              <a:rect l="l" t="t" r="r" b="b"/>
              <a:pathLst>
                <a:path w="7151370" h="4316730">
                  <a:moveTo>
                    <a:pt x="0" y="183642"/>
                  </a:moveTo>
                  <a:cubicBezTo>
                    <a:pt x="0" y="82296"/>
                    <a:pt x="82296" y="0"/>
                    <a:pt x="183642" y="0"/>
                  </a:cubicBezTo>
                  <a:lnTo>
                    <a:pt x="6967728" y="0"/>
                  </a:lnTo>
                  <a:cubicBezTo>
                    <a:pt x="7069201" y="0"/>
                    <a:pt x="7151370" y="82296"/>
                    <a:pt x="7151370" y="183642"/>
                  </a:cubicBezTo>
                  <a:lnTo>
                    <a:pt x="7151370" y="4133088"/>
                  </a:lnTo>
                  <a:cubicBezTo>
                    <a:pt x="7151370" y="4234561"/>
                    <a:pt x="7069074" y="4316730"/>
                    <a:pt x="6967728" y="4316730"/>
                  </a:cubicBezTo>
                  <a:lnTo>
                    <a:pt x="183642" y="4316730"/>
                  </a:lnTo>
                  <a:cubicBezTo>
                    <a:pt x="82296" y="4316730"/>
                    <a:pt x="0" y="4234434"/>
                    <a:pt x="0" y="413308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12385548" y="2194560"/>
            <a:ext cx="685800" cy="411480"/>
            <a:chOff x="0" y="0"/>
            <a:chExt cx="914400" cy="54864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9144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071348" y="2194560"/>
            <a:ext cx="4114800" cy="411480"/>
            <a:chOff x="0" y="0"/>
            <a:chExt cx="5486400" cy="54864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54864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LOANS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385548" y="2969552"/>
            <a:ext cx="4800600" cy="1879025"/>
            <a:chOff x="0" y="0"/>
            <a:chExt cx="6400800" cy="2505367"/>
          </a:xfrm>
        </p:grpSpPr>
        <p:sp>
          <p:nvSpPr>
            <p:cNvPr id="45" name="Freeform 45" descr="MySQL Workbench screenshot: t3"/>
            <p:cNvSpPr/>
            <p:nvPr/>
          </p:nvSpPr>
          <p:spPr>
            <a:xfrm>
              <a:off x="0" y="0"/>
              <a:ext cx="6400800" cy="2505329"/>
            </a:xfrm>
            <a:custGeom>
              <a:avLst/>
              <a:gdLst/>
              <a:ahLst/>
              <a:cxnLst/>
              <a:rect l="l" t="t" r="r" b="b"/>
              <a:pathLst>
                <a:path w="6400800" h="2505329">
                  <a:moveTo>
                    <a:pt x="0" y="0"/>
                  </a:moveTo>
                  <a:lnTo>
                    <a:pt x="6400800" y="0"/>
                  </a:lnTo>
                  <a:lnTo>
                    <a:pt x="6400800" y="2505329"/>
                  </a:lnTo>
                  <a:lnTo>
                    <a:pt x="0" y="2505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284" b="-4286"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815816" y="5479256"/>
            <a:ext cx="5363528" cy="3237548"/>
            <a:chOff x="0" y="0"/>
            <a:chExt cx="7151370" cy="431673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151370" cy="4316730"/>
            </a:xfrm>
            <a:custGeom>
              <a:avLst/>
              <a:gdLst/>
              <a:ahLst/>
              <a:cxnLst/>
              <a:rect l="l" t="t" r="r" b="b"/>
              <a:pathLst>
                <a:path w="7151370" h="4316730">
                  <a:moveTo>
                    <a:pt x="0" y="183642"/>
                  </a:moveTo>
                  <a:cubicBezTo>
                    <a:pt x="0" y="82296"/>
                    <a:pt x="82296" y="0"/>
                    <a:pt x="183642" y="0"/>
                  </a:cubicBezTo>
                  <a:lnTo>
                    <a:pt x="6967728" y="0"/>
                  </a:lnTo>
                  <a:cubicBezTo>
                    <a:pt x="7069201" y="0"/>
                    <a:pt x="7151370" y="82296"/>
                    <a:pt x="7151370" y="183642"/>
                  </a:cubicBezTo>
                  <a:lnTo>
                    <a:pt x="7151370" y="4133088"/>
                  </a:lnTo>
                  <a:cubicBezTo>
                    <a:pt x="7151370" y="4234561"/>
                    <a:pt x="7069074" y="4316730"/>
                    <a:pt x="6967728" y="4316730"/>
                  </a:cubicBezTo>
                  <a:lnTo>
                    <a:pt x="183642" y="4316730"/>
                  </a:lnTo>
                  <a:cubicBezTo>
                    <a:pt x="82296" y="4316730"/>
                    <a:pt x="0" y="4234434"/>
                    <a:pt x="0" y="413308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1097280" y="5623560"/>
            <a:ext cx="685800" cy="411480"/>
            <a:chOff x="0" y="0"/>
            <a:chExt cx="914400" cy="54864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9525"/>
              <a:ext cx="9144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783080" y="5623560"/>
            <a:ext cx="4114800" cy="411480"/>
            <a:chOff x="0" y="0"/>
            <a:chExt cx="5486400" cy="54864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54864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AUTHORS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97280" y="6254115"/>
            <a:ext cx="5054913" cy="1911534"/>
            <a:chOff x="0" y="0"/>
            <a:chExt cx="6739884" cy="2548712"/>
          </a:xfrm>
        </p:grpSpPr>
        <p:sp>
          <p:nvSpPr>
            <p:cNvPr id="55" name="Freeform 55" descr="MySQL Workbench screenshot: t4"/>
            <p:cNvSpPr/>
            <p:nvPr/>
          </p:nvSpPr>
          <p:spPr>
            <a:xfrm>
              <a:off x="0" y="0"/>
              <a:ext cx="6739884" cy="2548763"/>
            </a:xfrm>
            <a:custGeom>
              <a:avLst/>
              <a:gdLst/>
              <a:ahLst/>
              <a:cxnLst/>
              <a:rect l="l" t="t" r="r" b="b"/>
              <a:pathLst>
                <a:path w="6739884" h="2548763">
                  <a:moveTo>
                    <a:pt x="0" y="0"/>
                  </a:moveTo>
                  <a:lnTo>
                    <a:pt x="6739884" y="0"/>
                  </a:lnTo>
                  <a:lnTo>
                    <a:pt x="6739884" y="2548763"/>
                  </a:lnTo>
                  <a:lnTo>
                    <a:pt x="0" y="25487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571" t="-1" r="-2571"/>
              </a:stretch>
            </a:blipFill>
          </p:spPr>
        </p:sp>
      </p:grpSp>
      <p:grpSp>
        <p:nvGrpSpPr>
          <p:cNvPr id="56" name="Group 56"/>
          <p:cNvGrpSpPr/>
          <p:nvPr/>
        </p:nvGrpSpPr>
        <p:grpSpPr>
          <a:xfrm>
            <a:off x="6459950" y="5479256"/>
            <a:ext cx="5363528" cy="3237548"/>
            <a:chOff x="0" y="0"/>
            <a:chExt cx="7151370" cy="431673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7151370" cy="4316730"/>
            </a:xfrm>
            <a:custGeom>
              <a:avLst/>
              <a:gdLst/>
              <a:ahLst/>
              <a:cxnLst/>
              <a:rect l="l" t="t" r="r" b="b"/>
              <a:pathLst>
                <a:path w="7151370" h="4316730">
                  <a:moveTo>
                    <a:pt x="0" y="183642"/>
                  </a:moveTo>
                  <a:cubicBezTo>
                    <a:pt x="0" y="82296"/>
                    <a:pt x="82296" y="0"/>
                    <a:pt x="183642" y="0"/>
                  </a:cubicBezTo>
                  <a:lnTo>
                    <a:pt x="6967728" y="0"/>
                  </a:lnTo>
                  <a:cubicBezTo>
                    <a:pt x="7069201" y="0"/>
                    <a:pt x="7151370" y="82296"/>
                    <a:pt x="7151370" y="183642"/>
                  </a:cubicBezTo>
                  <a:lnTo>
                    <a:pt x="7151370" y="4133088"/>
                  </a:lnTo>
                  <a:cubicBezTo>
                    <a:pt x="7151370" y="4234561"/>
                    <a:pt x="7069074" y="4316730"/>
                    <a:pt x="6967728" y="4316730"/>
                  </a:cubicBezTo>
                  <a:lnTo>
                    <a:pt x="183642" y="4316730"/>
                  </a:lnTo>
                  <a:cubicBezTo>
                    <a:pt x="82296" y="4316730"/>
                    <a:pt x="0" y="4234434"/>
                    <a:pt x="0" y="413308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6741414" y="5623560"/>
            <a:ext cx="685800" cy="411480"/>
            <a:chOff x="0" y="0"/>
            <a:chExt cx="914400" cy="54864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9525"/>
              <a:ext cx="9144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05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427214" y="5623560"/>
            <a:ext cx="4114800" cy="411480"/>
            <a:chOff x="0" y="0"/>
            <a:chExt cx="5486400" cy="54864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0"/>
              <a:ext cx="54864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BOOKAUTHORS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934751" y="6406515"/>
            <a:ext cx="4861009" cy="1759134"/>
            <a:chOff x="0" y="0"/>
            <a:chExt cx="6646857" cy="2405409"/>
          </a:xfrm>
        </p:grpSpPr>
        <p:sp>
          <p:nvSpPr>
            <p:cNvPr id="65" name="Freeform 65" descr="MySQL Workbench screenshot: t5"/>
            <p:cNvSpPr/>
            <p:nvPr/>
          </p:nvSpPr>
          <p:spPr>
            <a:xfrm>
              <a:off x="0" y="0"/>
              <a:ext cx="6646857" cy="2405361"/>
            </a:xfrm>
            <a:custGeom>
              <a:avLst/>
              <a:gdLst/>
              <a:ahLst/>
              <a:cxnLst/>
              <a:rect l="l" t="t" r="r" b="b"/>
              <a:pathLst>
                <a:path w="6646857" h="2405361">
                  <a:moveTo>
                    <a:pt x="0" y="0"/>
                  </a:moveTo>
                  <a:lnTo>
                    <a:pt x="6646857" y="0"/>
                  </a:lnTo>
                  <a:lnTo>
                    <a:pt x="6646857" y="2405361"/>
                  </a:lnTo>
                  <a:lnTo>
                    <a:pt x="0" y="2405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006" b="-1008"/>
              </a:stretch>
            </a:blipFill>
          </p:spPr>
        </p:sp>
      </p:grpSp>
      <p:grpSp>
        <p:nvGrpSpPr>
          <p:cNvPr id="66" name="Group 66"/>
          <p:cNvGrpSpPr/>
          <p:nvPr/>
        </p:nvGrpSpPr>
        <p:grpSpPr>
          <a:xfrm>
            <a:off x="12104084" y="5479256"/>
            <a:ext cx="5363528" cy="3237548"/>
            <a:chOff x="0" y="0"/>
            <a:chExt cx="7151370" cy="431673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7151370" cy="4316730"/>
            </a:xfrm>
            <a:custGeom>
              <a:avLst/>
              <a:gdLst/>
              <a:ahLst/>
              <a:cxnLst/>
              <a:rect l="l" t="t" r="r" b="b"/>
              <a:pathLst>
                <a:path w="7151370" h="4316730">
                  <a:moveTo>
                    <a:pt x="0" y="183642"/>
                  </a:moveTo>
                  <a:cubicBezTo>
                    <a:pt x="0" y="82296"/>
                    <a:pt x="82296" y="0"/>
                    <a:pt x="183642" y="0"/>
                  </a:cubicBezTo>
                  <a:lnTo>
                    <a:pt x="6967728" y="0"/>
                  </a:lnTo>
                  <a:cubicBezTo>
                    <a:pt x="7069201" y="0"/>
                    <a:pt x="7151370" y="82296"/>
                    <a:pt x="7151370" y="183642"/>
                  </a:cubicBezTo>
                  <a:lnTo>
                    <a:pt x="7151370" y="4133088"/>
                  </a:lnTo>
                  <a:cubicBezTo>
                    <a:pt x="7151370" y="4234561"/>
                    <a:pt x="7069074" y="4316730"/>
                    <a:pt x="6967728" y="4316730"/>
                  </a:cubicBezTo>
                  <a:lnTo>
                    <a:pt x="183642" y="4316730"/>
                  </a:lnTo>
                  <a:cubicBezTo>
                    <a:pt x="82296" y="4316730"/>
                    <a:pt x="0" y="4234434"/>
                    <a:pt x="0" y="413308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12385548" y="5623560"/>
            <a:ext cx="685800" cy="411480"/>
            <a:chOff x="0" y="0"/>
            <a:chExt cx="914400" cy="54864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9144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06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3071348" y="5623560"/>
            <a:ext cx="4114800" cy="411480"/>
            <a:chOff x="0" y="0"/>
            <a:chExt cx="5486400" cy="54864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0"/>
              <a:ext cx="54864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FINES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2385548" y="6370663"/>
            <a:ext cx="4800600" cy="1934804"/>
            <a:chOff x="0" y="0"/>
            <a:chExt cx="6400800" cy="2579738"/>
          </a:xfrm>
        </p:grpSpPr>
        <p:sp>
          <p:nvSpPr>
            <p:cNvPr id="75" name="Freeform 75" descr="MySQL Workbench screenshot: t6"/>
            <p:cNvSpPr/>
            <p:nvPr/>
          </p:nvSpPr>
          <p:spPr>
            <a:xfrm>
              <a:off x="0" y="0"/>
              <a:ext cx="6400800" cy="2579751"/>
            </a:xfrm>
            <a:custGeom>
              <a:avLst/>
              <a:gdLst/>
              <a:ahLst/>
              <a:cxnLst/>
              <a:rect l="l" t="t" r="r" b="b"/>
              <a:pathLst>
                <a:path w="6400800" h="2579751">
                  <a:moveTo>
                    <a:pt x="0" y="0"/>
                  </a:moveTo>
                  <a:lnTo>
                    <a:pt x="6400800" y="0"/>
                  </a:lnTo>
                  <a:lnTo>
                    <a:pt x="6400800" y="2579751"/>
                  </a:lnTo>
                  <a:lnTo>
                    <a:pt x="0" y="2579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2148" b="-2147"/>
              </a:stretch>
            </a:blipFill>
          </p:spPr>
        </p:sp>
      </p:grpSp>
      <p:grpSp>
        <p:nvGrpSpPr>
          <p:cNvPr id="76" name="Group 76"/>
          <p:cNvGrpSpPr/>
          <p:nvPr/>
        </p:nvGrpSpPr>
        <p:grpSpPr>
          <a:xfrm>
            <a:off x="822960" y="8983980"/>
            <a:ext cx="2331720" cy="438912"/>
            <a:chOff x="0" y="0"/>
            <a:chExt cx="3108960" cy="585216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3108960" cy="585216"/>
            </a:xfrm>
            <a:custGeom>
              <a:avLst/>
              <a:gdLst/>
              <a:ahLst/>
              <a:cxnLst/>
              <a:rect l="l" t="t" r="r" b="b"/>
              <a:pathLst>
                <a:path w="3108960" h="585216">
                  <a:moveTo>
                    <a:pt x="0" y="0"/>
                  </a:moveTo>
                  <a:lnTo>
                    <a:pt x="3108960" y="0"/>
                  </a:lnTo>
                  <a:lnTo>
                    <a:pt x="3108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514" b="-53514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0"/>
              <a:ext cx="310896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SQL CONCEPTS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3154680" y="8983980"/>
            <a:ext cx="1988820" cy="438912"/>
            <a:chOff x="0" y="0"/>
            <a:chExt cx="2651760" cy="585216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651760" cy="585216"/>
            </a:xfrm>
            <a:custGeom>
              <a:avLst/>
              <a:gdLst/>
              <a:ahLst/>
              <a:cxnLst/>
              <a:rect l="l" t="t" r="r" b="b"/>
              <a:pathLst>
                <a:path w="2651760" h="585216">
                  <a:moveTo>
                    <a:pt x="0" y="0"/>
                  </a:moveTo>
                  <a:lnTo>
                    <a:pt x="2651760" y="0"/>
                  </a:lnTo>
                  <a:lnTo>
                    <a:pt x="26517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291" b="-38291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0"/>
              <a:ext cx="265176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PRIMARY KEY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3145155" y="8974455"/>
            <a:ext cx="2007870" cy="457962"/>
            <a:chOff x="0" y="0"/>
            <a:chExt cx="2677160" cy="610616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2677160" cy="610616"/>
            </a:xfrm>
            <a:custGeom>
              <a:avLst/>
              <a:gdLst/>
              <a:ahLst/>
              <a:cxnLst/>
              <a:rect l="l" t="t" r="r" b="b"/>
              <a:pathLst>
                <a:path w="267716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2371852" y="0"/>
                  </a:lnTo>
                  <a:cubicBezTo>
                    <a:pt x="2540508" y="0"/>
                    <a:pt x="2677160" y="136652"/>
                    <a:pt x="2677160" y="305308"/>
                  </a:cubicBezTo>
                  <a:cubicBezTo>
                    <a:pt x="2677160" y="473964"/>
                    <a:pt x="2540508" y="610616"/>
                    <a:pt x="237185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429" b="-35429"/>
              </a:stretch>
            </a:blip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84" name="Group 84"/>
          <p:cNvGrpSpPr/>
          <p:nvPr/>
        </p:nvGrpSpPr>
        <p:grpSpPr>
          <a:xfrm>
            <a:off x="5280660" y="8983980"/>
            <a:ext cx="1988820" cy="438912"/>
            <a:chOff x="0" y="0"/>
            <a:chExt cx="2651760" cy="585216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2651760" cy="585216"/>
            </a:xfrm>
            <a:custGeom>
              <a:avLst/>
              <a:gdLst/>
              <a:ahLst/>
              <a:cxnLst/>
              <a:rect l="l" t="t" r="r" b="b"/>
              <a:pathLst>
                <a:path w="2651760" h="585216">
                  <a:moveTo>
                    <a:pt x="0" y="0"/>
                  </a:moveTo>
                  <a:lnTo>
                    <a:pt x="2651760" y="0"/>
                  </a:lnTo>
                  <a:lnTo>
                    <a:pt x="26517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291" b="-38291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0"/>
              <a:ext cx="265176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FOREIGN KEY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271135" y="8974455"/>
            <a:ext cx="2007870" cy="457962"/>
            <a:chOff x="0" y="0"/>
            <a:chExt cx="2677160" cy="610616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2677160" cy="610616"/>
            </a:xfrm>
            <a:custGeom>
              <a:avLst/>
              <a:gdLst/>
              <a:ahLst/>
              <a:cxnLst/>
              <a:rect l="l" t="t" r="r" b="b"/>
              <a:pathLst>
                <a:path w="267716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2371852" y="0"/>
                  </a:lnTo>
                  <a:cubicBezTo>
                    <a:pt x="2540508" y="0"/>
                    <a:pt x="2677160" y="136652"/>
                    <a:pt x="2677160" y="305308"/>
                  </a:cubicBezTo>
                  <a:cubicBezTo>
                    <a:pt x="2677160" y="473964"/>
                    <a:pt x="2540508" y="610616"/>
                    <a:pt x="237185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429" b="-35429"/>
              </a:stretch>
            </a:blip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89" name="Group 89"/>
          <p:cNvGrpSpPr/>
          <p:nvPr/>
        </p:nvGrpSpPr>
        <p:grpSpPr>
          <a:xfrm>
            <a:off x="7406640" y="8983980"/>
            <a:ext cx="1577340" cy="438912"/>
            <a:chOff x="0" y="0"/>
            <a:chExt cx="2103120" cy="585216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2103120" cy="585216"/>
            </a:xfrm>
            <a:custGeom>
              <a:avLst/>
              <a:gdLst/>
              <a:ahLst/>
              <a:cxnLst/>
              <a:rect l="l" t="t" r="r" b="b"/>
              <a:pathLst>
                <a:path w="2103120" h="585216">
                  <a:moveTo>
                    <a:pt x="0" y="0"/>
                  </a:moveTo>
                  <a:lnTo>
                    <a:pt x="2103120" y="0"/>
                  </a:lnTo>
                  <a:lnTo>
                    <a:pt x="2103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24" b="-20024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0"/>
              <a:ext cx="210312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NOT NULL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7397115" y="8974455"/>
            <a:ext cx="1596390" cy="457962"/>
            <a:chOff x="0" y="0"/>
            <a:chExt cx="2128520" cy="610616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2128520" cy="610616"/>
            </a:xfrm>
            <a:custGeom>
              <a:avLst/>
              <a:gdLst/>
              <a:ahLst/>
              <a:cxnLst/>
              <a:rect l="l" t="t" r="r" b="b"/>
              <a:pathLst>
                <a:path w="212852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1823212" y="0"/>
                  </a:lnTo>
                  <a:cubicBezTo>
                    <a:pt x="1991868" y="0"/>
                    <a:pt x="2128520" y="136652"/>
                    <a:pt x="2128520" y="305308"/>
                  </a:cubicBezTo>
                  <a:cubicBezTo>
                    <a:pt x="2128520" y="473964"/>
                    <a:pt x="1991868" y="610616"/>
                    <a:pt x="182321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922" b="-17922"/>
              </a:stretch>
            </a:blip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94" name="Group 94"/>
          <p:cNvGrpSpPr/>
          <p:nvPr/>
        </p:nvGrpSpPr>
        <p:grpSpPr>
          <a:xfrm>
            <a:off x="9117330" y="8983980"/>
            <a:ext cx="1303020" cy="438912"/>
            <a:chOff x="0" y="0"/>
            <a:chExt cx="1737360" cy="585216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737360" cy="585216"/>
            </a:xfrm>
            <a:custGeom>
              <a:avLst/>
              <a:gdLst/>
              <a:ahLst/>
              <a:cxnLst/>
              <a:rect l="l" t="t" r="r" b="b"/>
              <a:pathLst>
                <a:path w="1737360" h="585216">
                  <a:moveTo>
                    <a:pt x="0" y="0"/>
                  </a:moveTo>
                  <a:lnTo>
                    <a:pt x="1737360" y="0"/>
                  </a:lnTo>
                  <a:lnTo>
                    <a:pt x="17373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46" b="-7846"/>
              </a:stretch>
            </a:blipFill>
          </p:spPr>
        </p:sp>
        <p:sp>
          <p:nvSpPr>
            <p:cNvPr id="96" name="TextBox 96"/>
            <p:cNvSpPr txBox="1"/>
            <p:nvPr/>
          </p:nvSpPr>
          <p:spPr>
            <a:xfrm>
              <a:off x="0" y="0"/>
              <a:ext cx="173736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UNIQUE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9107805" y="8974455"/>
            <a:ext cx="1322070" cy="457962"/>
            <a:chOff x="0" y="0"/>
            <a:chExt cx="1762760" cy="610616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1762760" cy="610616"/>
            </a:xfrm>
            <a:custGeom>
              <a:avLst/>
              <a:gdLst/>
              <a:ahLst/>
              <a:cxnLst/>
              <a:rect l="l" t="t" r="r" b="b"/>
              <a:pathLst>
                <a:path w="176276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1457452" y="0"/>
                  </a:lnTo>
                  <a:cubicBezTo>
                    <a:pt x="1626108" y="0"/>
                    <a:pt x="1762760" y="136652"/>
                    <a:pt x="1762760" y="305308"/>
                  </a:cubicBezTo>
                  <a:cubicBezTo>
                    <a:pt x="1762760" y="473964"/>
                    <a:pt x="1626108" y="610616"/>
                    <a:pt x="145745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50" b="-6250"/>
              </a:stretch>
            </a:blip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99" name="Group 99"/>
          <p:cNvGrpSpPr/>
          <p:nvPr/>
        </p:nvGrpSpPr>
        <p:grpSpPr>
          <a:xfrm>
            <a:off x="10553700" y="8983980"/>
            <a:ext cx="2125980" cy="438912"/>
            <a:chOff x="0" y="0"/>
            <a:chExt cx="2834640" cy="585216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2834640" cy="585216"/>
            </a:xfrm>
            <a:custGeom>
              <a:avLst/>
              <a:gdLst/>
              <a:ahLst/>
              <a:cxnLst/>
              <a:rect l="l" t="t" r="r" b="b"/>
              <a:pathLst>
                <a:path w="2834640" h="585216">
                  <a:moveTo>
                    <a:pt x="0" y="0"/>
                  </a:moveTo>
                  <a:lnTo>
                    <a:pt x="2834640" y="0"/>
                  </a:lnTo>
                  <a:lnTo>
                    <a:pt x="28346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380" b="-44380"/>
              </a:stretch>
            </a:blipFill>
          </p:spPr>
        </p:sp>
        <p:sp>
          <p:nvSpPr>
            <p:cNvPr id="101" name="TextBox 101"/>
            <p:cNvSpPr txBox="1"/>
            <p:nvPr/>
          </p:nvSpPr>
          <p:spPr>
            <a:xfrm>
              <a:off x="0" y="0"/>
              <a:ext cx="283464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COMPOSITE PK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0544175" y="8974455"/>
            <a:ext cx="2145030" cy="457962"/>
            <a:chOff x="0" y="0"/>
            <a:chExt cx="2860040" cy="610616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2860040" cy="610616"/>
            </a:xfrm>
            <a:custGeom>
              <a:avLst/>
              <a:gdLst/>
              <a:ahLst/>
              <a:cxnLst/>
              <a:rect l="l" t="t" r="r" b="b"/>
              <a:pathLst>
                <a:path w="286004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2554732" y="0"/>
                  </a:lnTo>
                  <a:cubicBezTo>
                    <a:pt x="2723388" y="0"/>
                    <a:pt x="2860040" y="136652"/>
                    <a:pt x="2860040" y="305308"/>
                  </a:cubicBezTo>
                  <a:cubicBezTo>
                    <a:pt x="2860040" y="473964"/>
                    <a:pt x="2723388" y="610616"/>
                    <a:pt x="255473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265" b="-41265"/>
              </a:stretch>
            </a:blip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104" name="Group 104"/>
          <p:cNvGrpSpPr/>
          <p:nvPr/>
        </p:nvGrpSpPr>
        <p:grpSpPr>
          <a:xfrm>
            <a:off x="12822555" y="8974455"/>
            <a:ext cx="3360420" cy="438912"/>
            <a:chOff x="0" y="0"/>
            <a:chExt cx="4480560" cy="585216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4480560" cy="585216"/>
            </a:xfrm>
            <a:custGeom>
              <a:avLst/>
              <a:gdLst/>
              <a:ahLst/>
              <a:cxnLst/>
              <a:rect l="l" t="t" r="r" b="b"/>
              <a:pathLst>
                <a:path w="4480560" h="585216">
                  <a:moveTo>
                    <a:pt x="0" y="0"/>
                  </a:moveTo>
                  <a:lnTo>
                    <a:pt x="4480560" y="0"/>
                  </a:lnTo>
                  <a:lnTo>
                    <a:pt x="4480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182" b="-99182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0"/>
              <a:ext cx="448056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REFERENTIAL INTEGRITY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2813030" y="8964930"/>
            <a:ext cx="3379470" cy="457962"/>
            <a:chOff x="0" y="0"/>
            <a:chExt cx="4505960" cy="610616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4505960" cy="610616"/>
            </a:xfrm>
            <a:custGeom>
              <a:avLst/>
              <a:gdLst/>
              <a:ahLst/>
              <a:cxnLst/>
              <a:rect l="l" t="t" r="r" b="b"/>
              <a:pathLst>
                <a:path w="450596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4200652" y="0"/>
                  </a:lnTo>
                  <a:cubicBezTo>
                    <a:pt x="4369308" y="0"/>
                    <a:pt x="4505960" y="136652"/>
                    <a:pt x="4505960" y="305308"/>
                  </a:cubicBezTo>
                  <a:cubicBezTo>
                    <a:pt x="4505960" y="473964"/>
                    <a:pt x="4369308" y="610616"/>
                    <a:pt x="420065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3787" b="-93787"/>
              </a:stretch>
            </a:blip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920">
            <a:off x="811044" y="1805750"/>
            <a:ext cx="16661340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2940">
            <a:off x="815816" y="9569006"/>
            <a:ext cx="16651805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22960" y="9683496"/>
            <a:ext cx="10972800" cy="342900"/>
            <a:chOff x="0" y="0"/>
            <a:chExt cx="146304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1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LIBRARY MANAGEMENT SYSTEM  ·  MYSQL DATABASE PROJECT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850392"/>
            <a:ext cx="16637508" cy="850392"/>
            <a:chOff x="0" y="0"/>
            <a:chExt cx="22183344" cy="11338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3344" cy="1133856"/>
            </a:xfrm>
            <a:custGeom>
              <a:avLst/>
              <a:gdLst/>
              <a:ahLst/>
              <a:cxnLst/>
              <a:rect l="l" t="t" r="r" b="b"/>
              <a:pathLst>
                <a:path w="22183344" h="1133856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1215" b="-33121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2183344" cy="1124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MySQL Code — Data Insertion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2960" y="466344"/>
            <a:ext cx="10972800" cy="342900"/>
            <a:chOff x="0" y="0"/>
            <a:chExt cx="1463040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IMPLEMENTATION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73400" y="9683496"/>
            <a:ext cx="1687068" cy="342900"/>
            <a:chOff x="0" y="0"/>
            <a:chExt cx="2249424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4" cy="457200"/>
            </a:xfrm>
            <a:custGeom>
              <a:avLst/>
              <a:gdLst/>
              <a:ahLst/>
              <a:cxnLst/>
              <a:rect l="l" t="t" r="r" b="b"/>
              <a:pathLst>
                <a:path w="2249424" h="457200">
                  <a:moveTo>
                    <a:pt x="0" y="0"/>
                  </a:moveTo>
                  <a:lnTo>
                    <a:pt x="2249424" y="0"/>
                  </a:lnTo>
                  <a:lnTo>
                    <a:pt x="22494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866" b="-4586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2494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11 / 25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15816" y="2050256"/>
            <a:ext cx="8195882" cy="3511867"/>
            <a:chOff x="0" y="0"/>
            <a:chExt cx="10927842" cy="468249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927842" cy="4682490"/>
            </a:xfrm>
            <a:custGeom>
              <a:avLst/>
              <a:gdLst/>
              <a:ahLst/>
              <a:cxnLst/>
              <a:rect l="l" t="t" r="r" b="b"/>
              <a:pathLst>
                <a:path w="10927842" h="4682490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10744200" y="0"/>
                  </a:lnTo>
                  <a:cubicBezTo>
                    <a:pt x="10845673" y="0"/>
                    <a:pt x="10927842" y="82169"/>
                    <a:pt x="10927842" y="183642"/>
                  </a:cubicBezTo>
                  <a:lnTo>
                    <a:pt x="10927842" y="4498848"/>
                  </a:lnTo>
                  <a:cubicBezTo>
                    <a:pt x="10927842" y="4600321"/>
                    <a:pt x="10845673" y="4682490"/>
                    <a:pt x="10744200" y="4682490"/>
                  </a:cubicBezTo>
                  <a:lnTo>
                    <a:pt x="183642" y="4682490"/>
                  </a:lnTo>
                  <a:cubicBezTo>
                    <a:pt x="82169" y="4682490"/>
                    <a:pt x="0" y="4600321"/>
                    <a:pt x="0" y="449884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097280" y="2194560"/>
            <a:ext cx="685800" cy="411480"/>
            <a:chOff x="0" y="0"/>
            <a:chExt cx="914400" cy="5486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9144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83080" y="2194560"/>
            <a:ext cx="6172200" cy="411480"/>
            <a:chOff x="0" y="0"/>
            <a:chExt cx="8229600" cy="5486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82296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BOOKS — 10 RECORDS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74994" y="2743200"/>
            <a:ext cx="6877536" cy="2606040"/>
            <a:chOff x="0" y="0"/>
            <a:chExt cx="9170048" cy="3474720"/>
          </a:xfrm>
        </p:grpSpPr>
        <p:sp>
          <p:nvSpPr>
            <p:cNvPr id="25" name="Freeform 25" descr="MySQL Workbench screenshot: i1"/>
            <p:cNvSpPr/>
            <p:nvPr/>
          </p:nvSpPr>
          <p:spPr>
            <a:xfrm>
              <a:off x="0" y="0"/>
              <a:ext cx="9170035" cy="3474720"/>
            </a:xfrm>
            <a:custGeom>
              <a:avLst/>
              <a:gdLst/>
              <a:ahLst/>
              <a:cxnLst/>
              <a:rect l="l" t="t" r="r" b="b"/>
              <a:pathLst>
                <a:path w="9170035" h="3474720">
                  <a:moveTo>
                    <a:pt x="0" y="0"/>
                  </a:moveTo>
                  <a:lnTo>
                    <a:pt x="9170035" y="0"/>
                  </a:lnTo>
                  <a:lnTo>
                    <a:pt x="9170035" y="3474720"/>
                  </a:lnTo>
                  <a:lnTo>
                    <a:pt x="0" y="347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9271730" y="2050256"/>
            <a:ext cx="8195882" cy="3511867"/>
            <a:chOff x="0" y="0"/>
            <a:chExt cx="10927842" cy="468249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927842" cy="4682490"/>
            </a:xfrm>
            <a:custGeom>
              <a:avLst/>
              <a:gdLst/>
              <a:ahLst/>
              <a:cxnLst/>
              <a:rect l="l" t="t" r="r" b="b"/>
              <a:pathLst>
                <a:path w="10927842" h="4682490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10744200" y="0"/>
                  </a:lnTo>
                  <a:cubicBezTo>
                    <a:pt x="10845673" y="0"/>
                    <a:pt x="10927842" y="82169"/>
                    <a:pt x="10927842" y="183642"/>
                  </a:cubicBezTo>
                  <a:lnTo>
                    <a:pt x="10927842" y="4498848"/>
                  </a:lnTo>
                  <a:cubicBezTo>
                    <a:pt x="10927842" y="4600321"/>
                    <a:pt x="10845673" y="4682490"/>
                    <a:pt x="10744200" y="4682490"/>
                  </a:cubicBezTo>
                  <a:lnTo>
                    <a:pt x="183642" y="4682490"/>
                  </a:lnTo>
                  <a:cubicBezTo>
                    <a:pt x="82169" y="4682490"/>
                    <a:pt x="0" y="4600321"/>
                    <a:pt x="0" y="449884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9553194" y="2194560"/>
            <a:ext cx="685800" cy="411480"/>
            <a:chOff x="0" y="0"/>
            <a:chExt cx="914400" cy="5486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9144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238994" y="2194560"/>
            <a:ext cx="6172200" cy="411480"/>
            <a:chOff x="0" y="0"/>
            <a:chExt cx="8229600" cy="5486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82296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MEMBERS — 10 RECORDS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201256" y="2743200"/>
            <a:ext cx="6336840" cy="2606040"/>
            <a:chOff x="0" y="0"/>
            <a:chExt cx="8449120" cy="3474720"/>
          </a:xfrm>
        </p:grpSpPr>
        <p:sp>
          <p:nvSpPr>
            <p:cNvPr id="35" name="Freeform 35" descr="MySQL Workbench screenshot: i2"/>
            <p:cNvSpPr/>
            <p:nvPr/>
          </p:nvSpPr>
          <p:spPr>
            <a:xfrm>
              <a:off x="0" y="0"/>
              <a:ext cx="8449056" cy="3474720"/>
            </a:xfrm>
            <a:custGeom>
              <a:avLst/>
              <a:gdLst/>
              <a:ahLst/>
              <a:cxnLst/>
              <a:rect l="l" t="t" r="r" b="b"/>
              <a:pathLst>
                <a:path w="8449056" h="3474720">
                  <a:moveTo>
                    <a:pt x="0" y="0"/>
                  </a:moveTo>
                  <a:lnTo>
                    <a:pt x="8449056" y="0"/>
                  </a:lnTo>
                  <a:lnTo>
                    <a:pt x="8449056" y="3474720"/>
                  </a:lnTo>
                  <a:lnTo>
                    <a:pt x="0" y="347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65" r="-1266"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815816" y="5753576"/>
            <a:ext cx="8195882" cy="3511867"/>
            <a:chOff x="0" y="0"/>
            <a:chExt cx="10927842" cy="468249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927842" cy="4682490"/>
            </a:xfrm>
            <a:custGeom>
              <a:avLst/>
              <a:gdLst/>
              <a:ahLst/>
              <a:cxnLst/>
              <a:rect l="l" t="t" r="r" b="b"/>
              <a:pathLst>
                <a:path w="10927842" h="4682490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10744200" y="0"/>
                  </a:lnTo>
                  <a:cubicBezTo>
                    <a:pt x="10845673" y="0"/>
                    <a:pt x="10927842" y="82169"/>
                    <a:pt x="10927842" y="183642"/>
                  </a:cubicBezTo>
                  <a:lnTo>
                    <a:pt x="10927842" y="4498848"/>
                  </a:lnTo>
                  <a:cubicBezTo>
                    <a:pt x="10927842" y="4600321"/>
                    <a:pt x="10845673" y="4682490"/>
                    <a:pt x="10744200" y="4682490"/>
                  </a:cubicBezTo>
                  <a:lnTo>
                    <a:pt x="183642" y="4682490"/>
                  </a:lnTo>
                  <a:cubicBezTo>
                    <a:pt x="82169" y="4682490"/>
                    <a:pt x="0" y="4600321"/>
                    <a:pt x="0" y="449884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1097280" y="5897880"/>
            <a:ext cx="685800" cy="411480"/>
            <a:chOff x="0" y="0"/>
            <a:chExt cx="914400" cy="54864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9144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783080" y="5897880"/>
            <a:ext cx="6172200" cy="411480"/>
            <a:chOff x="0" y="0"/>
            <a:chExt cx="8229600" cy="54864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82296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AUTHORS — 10 RECORDS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2646912" y="6446520"/>
            <a:ext cx="4533681" cy="2606040"/>
            <a:chOff x="0" y="0"/>
            <a:chExt cx="6044908" cy="3474720"/>
          </a:xfrm>
        </p:grpSpPr>
        <p:sp>
          <p:nvSpPr>
            <p:cNvPr id="45" name="Freeform 45" descr="MySQL Workbench screenshot: i3"/>
            <p:cNvSpPr/>
            <p:nvPr/>
          </p:nvSpPr>
          <p:spPr>
            <a:xfrm>
              <a:off x="0" y="0"/>
              <a:ext cx="6044946" cy="3474720"/>
            </a:xfrm>
            <a:custGeom>
              <a:avLst/>
              <a:gdLst/>
              <a:ahLst/>
              <a:cxnLst/>
              <a:rect l="l" t="t" r="r" b="b"/>
              <a:pathLst>
                <a:path w="6044946" h="3474720">
                  <a:moveTo>
                    <a:pt x="0" y="0"/>
                  </a:moveTo>
                  <a:lnTo>
                    <a:pt x="6044946" y="0"/>
                  </a:lnTo>
                  <a:lnTo>
                    <a:pt x="6044946" y="3474720"/>
                  </a:lnTo>
                  <a:lnTo>
                    <a:pt x="0" y="347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9271730" y="5753576"/>
            <a:ext cx="8195882" cy="3511867"/>
            <a:chOff x="0" y="0"/>
            <a:chExt cx="10927842" cy="468249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927842" cy="4682490"/>
            </a:xfrm>
            <a:custGeom>
              <a:avLst/>
              <a:gdLst/>
              <a:ahLst/>
              <a:cxnLst/>
              <a:rect l="l" t="t" r="r" b="b"/>
              <a:pathLst>
                <a:path w="10927842" h="4682490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10744200" y="0"/>
                  </a:lnTo>
                  <a:cubicBezTo>
                    <a:pt x="10845673" y="0"/>
                    <a:pt x="10927842" y="82169"/>
                    <a:pt x="10927842" y="183642"/>
                  </a:cubicBezTo>
                  <a:lnTo>
                    <a:pt x="10927842" y="4498848"/>
                  </a:lnTo>
                  <a:cubicBezTo>
                    <a:pt x="10927842" y="4600321"/>
                    <a:pt x="10845673" y="4682490"/>
                    <a:pt x="10744200" y="4682490"/>
                  </a:cubicBezTo>
                  <a:lnTo>
                    <a:pt x="183642" y="4682490"/>
                  </a:lnTo>
                  <a:cubicBezTo>
                    <a:pt x="82169" y="4682490"/>
                    <a:pt x="0" y="4600321"/>
                    <a:pt x="0" y="449884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9553194" y="5897880"/>
            <a:ext cx="685800" cy="411480"/>
            <a:chOff x="0" y="0"/>
            <a:chExt cx="914400" cy="54864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9525"/>
              <a:ext cx="9144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238994" y="5897880"/>
            <a:ext cx="6172200" cy="411480"/>
            <a:chOff x="0" y="0"/>
            <a:chExt cx="8229600" cy="54864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82296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BOOKAUTHORS — 10 RECORDS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238994" y="6510924"/>
            <a:ext cx="2611077" cy="2541636"/>
            <a:chOff x="0" y="0"/>
            <a:chExt cx="6044908" cy="588414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044946" cy="5884145"/>
            </a:xfrm>
            <a:custGeom>
              <a:avLst/>
              <a:gdLst/>
              <a:ahLst/>
              <a:cxnLst/>
              <a:rect l="l" t="t" r="r" b="b"/>
              <a:pathLst>
                <a:path w="6044946" h="5884145">
                  <a:moveTo>
                    <a:pt x="0" y="0"/>
                  </a:moveTo>
                  <a:lnTo>
                    <a:pt x="6044946" y="0"/>
                  </a:lnTo>
                  <a:lnTo>
                    <a:pt x="6044946" y="5884145"/>
                  </a:lnTo>
                  <a:lnTo>
                    <a:pt x="0" y="5884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25" b="-325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920">
            <a:off x="811044" y="1805750"/>
            <a:ext cx="16661340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2940">
            <a:off x="815816" y="9569006"/>
            <a:ext cx="16651805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22960" y="9683496"/>
            <a:ext cx="10972800" cy="342900"/>
            <a:chOff x="0" y="0"/>
            <a:chExt cx="146304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1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LIBRARY MANAGEMENT SYSTEM  ·  MYSQL DATABASE PROJECT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850392"/>
            <a:ext cx="16637508" cy="850392"/>
            <a:chOff x="0" y="0"/>
            <a:chExt cx="22183344" cy="11338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3344" cy="1133856"/>
            </a:xfrm>
            <a:custGeom>
              <a:avLst/>
              <a:gdLst/>
              <a:ahLst/>
              <a:cxnLst/>
              <a:rect l="l" t="t" r="r" b="b"/>
              <a:pathLst>
                <a:path w="22183344" h="1133856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1215" b="-33121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2183344" cy="1124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MySQL Code — Data Insertion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2960" y="466344"/>
            <a:ext cx="10972800" cy="342900"/>
            <a:chOff x="0" y="0"/>
            <a:chExt cx="1463040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IMPLEMENTATION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73400" y="9683496"/>
            <a:ext cx="1687068" cy="342900"/>
            <a:chOff x="0" y="0"/>
            <a:chExt cx="2249424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4" cy="457200"/>
            </a:xfrm>
            <a:custGeom>
              <a:avLst/>
              <a:gdLst/>
              <a:ahLst/>
              <a:cxnLst/>
              <a:rect l="l" t="t" r="r" b="b"/>
              <a:pathLst>
                <a:path w="2249424" h="457200">
                  <a:moveTo>
                    <a:pt x="0" y="0"/>
                  </a:moveTo>
                  <a:lnTo>
                    <a:pt x="2249424" y="0"/>
                  </a:lnTo>
                  <a:lnTo>
                    <a:pt x="22494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866" b="-4586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2494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12 / 25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15816" y="2050256"/>
            <a:ext cx="8195882" cy="7146607"/>
            <a:chOff x="0" y="0"/>
            <a:chExt cx="10927842" cy="952881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927842" cy="9528810"/>
            </a:xfrm>
            <a:custGeom>
              <a:avLst/>
              <a:gdLst/>
              <a:ahLst/>
              <a:cxnLst/>
              <a:rect l="l" t="t" r="r" b="b"/>
              <a:pathLst>
                <a:path w="10927842" h="9528810">
                  <a:moveTo>
                    <a:pt x="0" y="183261"/>
                  </a:moveTo>
                  <a:cubicBezTo>
                    <a:pt x="0" y="82042"/>
                    <a:pt x="82042" y="0"/>
                    <a:pt x="183261" y="0"/>
                  </a:cubicBezTo>
                  <a:lnTo>
                    <a:pt x="10744581" y="0"/>
                  </a:lnTo>
                  <a:cubicBezTo>
                    <a:pt x="10845800" y="0"/>
                    <a:pt x="10927842" y="82042"/>
                    <a:pt x="10927842" y="183261"/>
                  </a:cubicBezTo>
                  <a:lnTo>
                    <a:pt x="10927842" y="9345549"/>
                  </a:lnTo>
                  <a:cubicBezTo>
                    <a:pt x="10927842" y="9446768"/>
                    <a:pt x="10845800" y="9528810"/>
                    <a:pt x="10744581" y="9528810"/>
                  </a:cubicBezTo>
                  <a:lnTo>
                    <a:pt x="183261" y="9528810"/>
                  </a:lnTo>
                  <a:cubicBezTo>
                    <a:pt x="82042" y="9528810"/>
                    <a:pt x="0" y="9446768"/>
                    <a:pt x="0" y="934554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097280" y="2194560"/>
            <a:ext cx="685800" cy="411480"/>
            <a:chOff x="0" y="0"/>
            <a:chExt cx="914400" cy="5486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9144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83080" y="2194560"/>
            <a:ext cx="6172200" cy="411480"/>
            <a:chOff x="0" y="0"/>
            <a:chExt cx="8229600" cy="5486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82296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LOANS — 20 RECORDS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97280" y="2998184"/>
            <a:ext cx="7632954" cy="5662232"/>
            <a:chOff x="0" y="0"/>
            <a:chExt cx="10177272" cy="7549642"/>
          </a:xfrm>
        </p:grpSpPr>
        <p:sp>
          <p:nvSpPr>
            <p:cNvPr id="25" name="Freeform 25" descr="MySQL Workbench screenshot: i5"/>
            <p:cNvSpPr/>
            <p:nvPr/>
          </p:nvSpPr>
          <p:spPr>
            <a:xfrm>
              <a:off x="0" y="0"/>
              <a:ext cx="10177272" cy="7549642"/>
            </a:xfrm>
            <a:custGeom>
              <a:avLst/>
              <a:gdLst/>
              <a:ahLst/>
              <a:cxnLst/>
              <a:rect l="l" t="t" r="r" b="b"/>
              <a:pathLst>
                <a:path w="10177272" h="7549642">
                  <a:moveTo>
                    <a:pt x="0" y="0"/>
                  </a:moveTo>
                  <a:lnTo>
                    <a:pt x="10177272" y="0"/>
                  </a:lnTo>
                  <a:lnTo>
                    <a:pt x="10177272" y="7549642"/>
                  </a:lnTo>
                  <a:lnTo>
                    <a:pt x="0" y="7549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08" r="-808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9271730" y="2050256"/>
            <a:ext cx="8195882" cy="7146607"/>
            <a:chOff x="0" y="0"/>
            <a:chExt cx="10927842" cy="952881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927842" cy="9528810"/>
            </a:xfrm>
            <a:custGeom>
              <a:avLst/>
              <a:gdLst/>
              <a:ahLst/>
              <a:cxnLst/>
              <a:rect l="l" t="t" r="r" b="b"/>
              <a:pathLst>
                <a:path w="10927842" h="9528810">
                  <a:moveTo>
                    <a:pt x="0" y="183261"/>
                  </a:moveTo>
                  <a:cubicBezTo>
                    <a:pt x="0" y="82042"/>
                    <a:pt x="82042" y="0"/>
                    <a:pt x="183261" y="0"/>
                  </a:cubicBezTo>
                  <a:lnTo>
                    <a:pt x="10744581" y="0"/>
                  </a:lnTo>
                  <a:cubicBezTo>
                    <a:pt x="10845800" y="0"/>
                    <a:pt x="10927842" y="82042"/>
                    <a:pt x="10927842" y="183261"/>
                  </a:cubicBezTo>
                  <a:lnTo>
                    <a:pt x="10927842" y="9345549"/>
                  </a:lnTo>
                  <a:cubicBezTo>
                    <a:pt x="10927842" y="9446768"/>
                    <a:pt x="10845800" y="9528810"/>
                    <a:pt x="10744581" y="9528810"/>
                  </a:cubicBezTo>
                  <a:lnTo>
                    <a:pt x="183261" y="9528810"/>
                  </a:lnTo>
                  <a:cubicBezTo>
                    <a:pt x="82042" y="9528810"/>
                    <a:pt x="0" y="9446768"/>
                    <a:pt x="0" y="934554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9553194" y="2194560"/>
            <a:ext cx="685800" cy="411480"/>
            <a:chOff x="0" y="0"/>
            <a:chExt cx="914400" cy="5486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9144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06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238994" y="2194560"/>
            <a:ext cx="6172200" cy="411480"/>
            <a:chOff x="0" y="0"/>
            <a:chExt cx="8229600" cy="5486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82296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FINES — 11 RECORDS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53194" y="3911965"/>
            <a:ext cx="7632954" cy="3834660"/>
            <a:chOff x="0" y="0"/>
            <a:chExt cx="10177272" cy="5112880"/>
          </a:xfrm>
        </p:grpSpPr>
        <p:sp>
          <p:nvSpPr>
            <p:cNvPr id="35" name="Freeform 35" descr="MySQL Workbench screenshot: i6"/>
            <p:cNvSpPr/>
            <p:nvPr/>
          </p:nvSpPr>
          <p:spPr>
            <a:xfrm>
              <a:off x="0" y="0"/>
              <a:ext cx="10177272" cy="5112893"/>
            </a:xfrm>
            <a:custGeom>
              <a:avLst/>
              <a:gdLst/>
              <a:ahLst/>
              <a:cxnLst/>
              <a:rect l="l" t="t" r="r" b="b"/>
              <a:pathLst>
                <a:path w="10177272" h="5112893">
                  <a:moveTo>
                    <a:pt x="0" y="0"/>
                  </a:moveTo>
                  <a:lnTo>
                    <a:pt x="10177272" y="0"/>
                  </a:lnTo>
                  <a:lnTo>
                    <a:pt x="10177272" y="5112893"/>
                  </a:lnTo>
                  <a:lnTo>
                    <a:pt x="0" y="5112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674" r="-2674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920">
            <a:off x="811044" y="1805750"/>
            <a:ext cx="16661340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2940">
            <a:off x="815816" y="9569006"/>
            <a:ext cx="16651805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22960" y="9683496"/>
            <a:ext cx="10972800" cy="342900"/>
            <a:chOff x="0" y="0"/>
            <a:chExt cx="146304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1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LIBRARY MANAGEMENT SYSTEM  ·  MYSQL DATABASE PROJECT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850392"/>
            <a:ext cx="16637508" cy="850392"/>
            <a:chOff x="0" y="0"/>
            <a:chExt cx="22183344" cy="11338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3344" cy="1133856"/>
            </a:xfrm>
            <a:custGeom>
              <a:avLst/>
              <a:gdLst/>
              <a:ahLst/>
              <a:cxnLst/>
              <a:rect l="l" t="t" r="r" b="b"/>
              <a:pathLst>
                <a:path w="22183344" h="1133856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1215" b="-33121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2183344" cy="1124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SQL Operations Implemented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2960" y="466344"/>
            <a:ext cx="10972800" cy="342900"/>
            <a:chOff x="0" y="0"/>
            <a:chExt cx="1463040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SQL CONCEPTS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73400" y="9683496"/>
            <a:ext cx="1687068" cy="342900"/>
            <a:chOff x="0" y="0"/>
            <a:chExt cx="2249424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4" cy="457200"/>
            </a:xfrm>
            <a:custGeom>
              <a:avLst/>
              <a:gdLst/>
              <a:ahLst/>
              <a:cxnLst/>
              <a:rect l="l" t="t" r="r" b="b"/>
              <a:pathLst>
                <a:path w="2249424" h="457200">
                  <a:moveTo>
                    <a:pt x="0" y="0"/>
                  </a:moveTo>
                  <a:lnTo>
                    <a:pt x="2249424" y="0"/>
                  </a:lnTo>
                  <a:lnTo>
                    <a:pt x="22494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866" b="-4586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2494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13 / 25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15816" y="2187416"/>
            <a:ext cx="3978212" cy="5363528"/>
            <a:chOff x="0" y="0"/>
            <a:chExt cx="5304282" cy="715137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304282" cy="7151370"/>
            </a:xfrm>
            <a:custGeom>
              <a:avLst/>
              <a:gdLst/>
              <a:ahLst/>
              <a:cxnLst/>
              <a:rect l="l" t="t" r="r" b="b"/>
              <a:pathLst>
                <a:path w="5304282" h="715137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5120767" y="0"/>
                  </a:lnTo>
                  <a:cubicBezTo>
                    <a:pt x="5222113" y="0"/>
                    <a:pt x="5304282" y="82169"/>
                    <a:pt x="5304282" y="183515"/>
                  </a:cubicBezTo>
                  <a:lnTo>
                    <a:pt x="5304282" y="6967855"/>
                  </a:lnTo>
                  <a:cubicBezTo>
                    <a:pt x="5304282" y="7069201"/>
                    <a:pt x="5222113" y="7151370"/>
                    <a:pt x="5120767" y="7151370"/>
                  </a:cubicBezTo>
                  <a:lnTo>
                    <a:pt x="183515" y="7151370"/>
                  </a:lnTo>
                  <a:cubicBezTo>
                    <a:pt x="82169" y="7151370"/>
                    <a:pt x="0" y="7069201"/>
                    <a:pt x="0" y="69678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165860" y="2468880"/>
            <a:ext cx="1371600" cy="685800"/>
            <a:chOff x="0" y="0"/>
            <a:chExt cx="1828800" cy="914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828800" cy="914400"/>
            </a:xfrm>
            <a:custGeom>
              <a:avLst/>
              <a:gdLst/>
              <a:ahLst/>
              <a:cxnLst/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18288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65860" y="3291840"/>
            <a:ext cx="3291840" cy="617220"/>
            <a:chOff x="0" y="0"/>
            <a:chExt cx="4389120" cy="8229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389120" cy="822960"/>
            </a:xfrm>
            <a:custGeom>
              <a:avLst/>
              <a:gdLst/>
              <a:ahLst/>
              <a:cxnLst/>
              <a:rect l="l" t="t" r="r" b="b"/>
              <a:pathLst>
                <a:path w="4389120" h="822960">
                  <a:moveTo>
                    <a:pt x="0" y="0"/>
                  </a:moveTo>
                  <a:lnTo>
                    <a:pt x="4389120" y="0"/>
                  </a:lnTo>
                  <a:lnTo>
                    <a:pt x="43891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920" b="-53920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438912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Basic Operations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58716" y="4176236"/>
            <a:ext cx="3306128" cy="631507"/>
            <a:chOff x="0" y="0"/>
            <a:chExt cx="4408170" cy="84201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408170" cy="842010"/>
            </a:xfrm>
            <a:custGeom>
              <a:avLst/>
              <a:gdLst/>
              <a:ahLst/>
              <a:cxnLst/>
              <a:rect l="l" t="t" r="r" b="b"/>
              <a:pathLst>
                <a:path w="4408170" h="84201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4258437" y="0"/>
                  </a:lnTo>
                  <a:cubicBezTo>
                    <a:pt x="4341114" y="0"/>
                    <a:pt x="4408170" y="67056"/>
                    <a:pt x="4408170" y="149733"/>
                  </a:cubicBezTo>
                  <a:lnTo>
                    <a:pt x="4408170" y="692277"/>
                  </a:lnTo>
                  <a:cubicBezTo>
                    <a:pt x="4408170" y="774954"/>
                    <a:pt x="4341114" y="842010"/>
                    <a:pt x="4258437" y="842010"/>
                  </a:cubicBezTo>
                  <a:lnTo>
                    <a:pt x="149733" y="842010"/>
                  </a:lnTo>
                  <a:cubicBezTo>
                    <a:pt x="67056" y="842010"/>
                    <a:pt x="0" y="774954"/>
                    <a:pt x="0" y="692277"/>
                  </a:cubicBezTo>
                  <a:close/>
                </a:path>
              </a:pathLst>
            </a:custGeom>
            <a:solidFill>
              <a:srgbClr val="F7F3E8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371600" y="4183380"/>
            <a:ext cx="3017520" cy="617220"/>
            <a:chOff x="0" y="0"/>
            <a:chExt cx="4023360" cy="82296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023360" cy="822960"/>
            </a:xfrm>
            <a:custGeom>
              <a:avLst/>
              <a:gdLst/>
              <a:ahLst/>
              <a:cxnLst/>
              <a:rect l="l" t="t" r="r" b="b"/>
              <a:pathLst>
                <a:path w="4023360" h="822960">
                  <a:moveTo>
                    <a:pt x="0" y="0"/>
                  </a:moveTo>
                  <a:lnTo>
                    <a:pt x="4023360" y="0"/>
                  </a:lnTo>
                  <a:lnTo>
                    <a:pt x="40233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4023360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CREATE TABLE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58716" y="4930616"/>
            <a:ext cx="3306128" cy="631507"/>
            <a:chOff x="0" y="0"/>
            <a:chExt cx="4408170" cy="84201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408170" cy="842010"/>
            </a:xfrm>
            <a:custGeom>
              <a:avLst/>
              <a:gdLst/>
              <a:ahLst/>
              <a:cxnLst/>
              <a:rect l="l" t="t" r="r" b="b"/>
              <a:pathLst>
                <a:path w="4408170" h="84201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4258437" y="0"/>
                  </a:lnTo>
                  <a:cubicBezTo>
                    <a:pt x="4341114" y="0"/>
                    <a:pt x="4408170" y="67056"/>
                    <a:pt x="4408170" y="149733"/>
                  </a:cubicBezTo>
                  <a:lnTo>
                    <a:pt x="4408170" y="692277"/>
                  </a:lnTo>
                  <a:cubicBezTo>
                    <a:pt x="4408170" y="774954"/>
                    <a:pt x="4341114" y="842010"/>
                    <a:pt x="4258437" y="842010"/>
                  </a:cubicBezTo>
                  <a:lnTo>
                    <a:pt x="149733" y="842010"/>
                  </a:lnTo>
                  <a:cubicBezTo>
                    <a:pt x="67056" y="842010"/>
                    <a:pt x="0" y="774954"/>
                    <a:pt x="0" y="692277"/>
                  </a:cubicBezTo>
                  <a:close/>
                </a:path>
              </a:pathLst>
            </a:custGeom>
            <a:solidFill>
              <a:srgbClr val="F7F3E8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371600" y="4937760"/>
            <a:ext cx="3017520" cy="617220"/>
            <a:chOff x="0" y="0"/>
            <a:chExt cx="4023360" cy="82296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023360" cy="822960"/>
            </a:xfrm>
            <a:custGeom>
              <a:avLst/>
              <a:gdLst/>
              <a:ahLst/>
              <a:cxnLst/>
              <a:rect l="l" t="t" r="r" b="b"/>
              <a:pathLst>
                <a:path w="4023360" h="822960">
                  <a:moveTo>
                    <a:pt x="0" y="0"/>
                  </a:moveTo>
                  <a:lnTo>
                    <a:pt x="4023360" y="0"/>
                  </a:lnTo>
                  <a:lnTo>
                    <a:pt x="40233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4023360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INSERT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58716" y="5684996"/>
            <a:ext cx="3306128" cy="631507"/>
            <a:chOff x="0" y="0"/>
            <a:chExt cx="4408170" cy="84201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408170" cy="842010"/>
            </a:xfrm>
            <a:custGeom>
              <a:avLst/>
              <a:gdLst/>
              <a:ahLst/>
              <a:cxnLst/>
              <a:rect l="l" t="t" r="r" b="b"/>
              <a:pathLst>
                <a:path w="4408170" h="84201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4258437" y="0"/>
                  </a:lnTo>
                  <a:cubicBezTo>
                    <a:pt x="4341114" y="0"/>
                    <a:pt x="4408170" y="67056"/>
                    <a:pt x="4408170" y="149733"/>
                  </a:cubicBezTo>
                  <a:lnTo>
                    <a:pt x="4408170" y="692277"/>
                  </a:lnTo>
                  <a:cubicBezTo>
                    <a:pt x="4408170" y="774954"/>
                    <a:pt x="4341114" y="842010"/>
                    <a:pt x="4258437" y="842010"/>
                  </a:cubicBezTo>
                  <a:lnTo>
                    <a:pt x="149733" y="842010"/>
                  </a:lnTo>
                  <a:cubicBezTo>
                    <a:pt x="67056" y="842010"/>
                    <a:pt x="0" y="774954"/>
                    <a:pt x="0" y="692277"/>
                  </a:cubicBezTo>
                  <a:close/>
                </a:path>
              </a:pathLst>
            </a:custGeom>
            <a:solidFill>
              <a:srgbClr val="F7F3E8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371600" y="5692140"/>
            <a:ext cx="3017520" cy="617220"/>
            <a:chOff x="0" y="0"/>
            <a:chExt cx="4023360" cy="82296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023360" cy="822960"/>
            </a:xfrm>
            <a:custGeom>
              <a:avLst/>
              <a:gdLst/>
              <a:ahLst/>
              <a:cxnLst/>
              <a:rect l="l" t="t" r="r" b="b"/>
              <a:pathLst>
                <a:path w="4023360" h="822960">
                  <a:moveTo>
                    <a:pt x="0" y="0"/>
                  </a:moveTo>
                  <a:lnTo>
                    <a:pt x="4023360" y="0"/>
                  </a:lnTo>
                  <a:lnTo>
                    <a:pt x="40233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4023360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SELECT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58716" y="6439376"/>
            <a:ext cx="3306128" cy="631507"/>
            <a:chOff x="0" y="0"/>
            <a:chExt cx="4408170" cy="84201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408170" cy="842010"/>
            </a:xfrm>
            <a:custGeom>
              <a:avLst/>
              <a:gdLst/>
              <a:ahLst/>
              <a:cxnLst/>
              <a:rect l="l" t="t" r="r" b="b"/>
              <a:pathLst>
                <a:path w="4408170" h="84201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4258437" y="0"/>
                  </a:lnTo>
                  <a:cubicBezTo>
                    <a:pt x="4341114" y="0"/>
                    <a:pt x="4408170" y="67056"/>
                    <a:pt x="4408170" y="149733"/>
                  </a:cubicBezTo>
                  <a:lnTo>
                    <a:pt x="4408170" y="692277"/>
                  </a:lnTo>
                  <a:cubicBezTo>
                    <a:pt x="4408170" y="774954"/>
                    <a:pt x="4341114" y="842010"/>
                    <a:pt x="4258437" y="842010"/>
                  </a:cubicBezTo>
                  <a:lnTo>
                    <a:pt x="149733" y="842010"/>
                  </a:lnTo>
                  <a:cubicBezTo>
                    <a:pt x="67056" y="842010"/>
                    <a:pt x="0" y="774954"/>
                    <a:pt x="0" y="692277"/>
                  </a:cubicBezTo>
                  <a:close/>
                </a:path>
              </a:pathLst>
            </a:custGeom>
            <a:solidFill>
              <a:srgbClr val="F7F3E8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371600" y="6446520"/>
            <a:ext cx="3017520" cy="617220"/>
            <a:chOff x="0" y="0"/>
            <a:chExt cx="4023360" cy="82296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023360" cy="822960"/>
            </a:xfrm>
            <a:custGeom>
              <a:avLst/>
              <a:gdLst/>
              <a:ahLst/>
              <a:cxnLst/>
              <a:rect l="l" t="t" r="r" b="b"/>
              <a:pathLst>
                <a:path w="4023360" h="822960">
                  <a:moveTo>
                    <a:pt x="0" y="0"/>
                  </a:moveTo>
                  <a:lnTo>
                    <a:pt x="4023360" y="0"/>
                  </a:lnTo>
                  <a:lnTo>
                    <a:pt x="40233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4023360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WHERE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040344" y="2187416"/>
            <a:ext cx="3978212" cy="5363528"/>
            <a:chOff x="0" y="0"/>
            <a:chExt cx="5304282" cy="715137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304282" cy="7151370"/>
            </a:xfrm>
            <a:custGeom>
              <a:avLst/>
              <a:gdLst/>
              <a:ahLst/>
              <a:cxnLst/>
              <a:rect l="l" t="t" r="r" b="b"/>
              <a:pathLst>
                <a:path w="5304282" h="715137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5120767" y="0"/>
                  </a:lnTo>
                  <a:cubicBezTo>
                    <a:pt x="5222113" y="0"/>
                    <a:pt x="5304282" y="82169"/>
                    <a:pt x="5304282" y="183515"/>
                  </a:cubicBezTo>
                  <a:lnTo>
                    <a:pt x="5304282" y="6967855"/>
                  </a:lnTo>
                  <a:cubicBezTo>
                    <a:pt x="5304282" y="7069201"/>
                    <a:pt x="5222113" y="7151370"/>
                    <a:pt x="5120767" y="7151370"/>
                  </a:cubicBezTo>
                  <a:lnTo>
                    <a:pt x="183515" y="7151370"/>
                  </a:lnTo>
                  <a:cubicBezTo>
                    <a:pt x="82169" y="7151370"/>
                    <a:pt x="0" y="7069201"/>
                    <a:pt x="0" y="69678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5390388" y="2468880"/>
            <a:ext cx="1371600" cy="685800"/>
            <a:chOff x="0" y="0"/>
            <a:chExt cx="1828800" cy="9144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828800" cy="914400"/>
            </a:xfrm>
            <a:custGeom>
              <a:avLst/>
              <a:gdLst/>
              <a:ahLst/>
              <a:cxnLst/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18288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390388" y="3291840"/>
            <a:ext cx="3291840" cy="617220"/>
            <a:chOff x="0" y="0"/>
            <a:chExt cx="4389120" cy="82296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389120" cy="822960"/>
            </a:xfrm>
            <a:custGeom>
              <a:avLst/>
              <a:gdLst/>
              <a:ahLst/>
              <a:cxnLst/>
              <a:rect l="l" t="t" r="r" b="b"/>
              <a:pathLst>
                <a:path w="4389120" h="822960">
                  <a:moveTo>
                    <a:pt x="0" y="0"/>
                  </a:moveTo>
                  <a:lnTo>
                    <a:pt x="4389120" y="0"/>
                  </a:lnTo>
                  <a:lnTo>
                    <a:pt x="43891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920" b="-53920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0"/>
              <a:ext cx="438912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Filtering &amp; Conditions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383244" y="4176236"/>
            <a:ext cx="3306128" cy="631507"/>
            <a:chOff x="0" y="0"/>
            <a:chExt cx="4408170" cy="84201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408170" cy="842010"/>
            </a:xfrm>
            <a:custGeom>
              <a:avLst/>
              <a:gdLst/>
              <a:ahLst/>
              <a:cxnLst/>
              <a:rect l="l" t="t" r="r" b="b"/>
              <a:pathLst>
                <a:path w="4408170" h="84201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4258437" y="0"/>
                  </a:lnTo>
                  <a:cubicBezTo>
                    <a:pt x="4341114" y="0"/>
                    <a:pt x="4408170" y="67056"/>
                    <a:pt x="4408170" y="149733"/>
                  </a:cubicBezTo>
                  <a:lnTo>
                    <a:pt x="4408170" y="692277"/>
                  </a:lnTo>
                  <a:cubicBezTo>
                    <a:pt x="4408170" y="774954"/>
                    <a:pt x="4341114" y="842010"/>
                    <a:pt x="4258437" y="842010"/>
                  </a:cubicBezTo>
                  <a:lnTo>
                    <a:pt x="149733" y="842010"/>
                  </a:lnTo>
                  <a:cubicBezTo>
                    <a:pt x="67056" y="842010"/>
                    <a:pt x="0" y="774954"/>
                    <a:pt x="0" y="692277"/>
                  </a:cubicBezTo>
                  <a:close/>
                </a:path>
              </a:pathLst>
            </a:custGeom>
            <a:solidFill>
              <a:srgbClr val="F7F3E8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5596128" y="4183380"/>
            <a:ext cx="3017520" cy="617220"/>
            <a:chOff x="0" y="0"/>
            <a:chExt cx="4023360" cy="82296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023360" cy="822960"/>
            </a:xfrm>
            <a:custGeom>
              <a:avLst/>
              <a:gdLst/>
              <a:ahLst/>
              <a:cxnLst/>
              <a:rect l="l" t="t" r="r" b="b"/>
              <a:pathLst>
                <a:path w="4023360" h="822960">
                  <a:moveTo>
                    <a:pt x="0" y="0"/>
                  </a:moveTo>
                  <a:lnTo>
                    <a:pt x="4023360" y="0"/>
                  </a:lnTo>
                  <a:lnTo>
                    <a:pt x="40233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9525"/>
              <a:ext cx="4023360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AND / OR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383244" y="4930616"/>
            <a:ext cx="3306128" cy="631507"/>
            <a:chOff x="0" y="0"/>
            <a:chExt cx="4408170" cy="84201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408170" cy="842010"/>
            </a:xfrm>
            <a:custGeom>
              <a:avLst/>
              <a:gdLst/>
              <a:ahLst/>
              <a:cxnLst/>
              <a:rect l="l" t="t" r="r" b="b"/>
              <a:pathLst>
                <a:path w="4408170" h="84201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4258437" y="0"/>
                  </a:lnTo>
                  <a:cubicBezTo>
                    <a:pt x="4341114" y="0"/>
                    <a:pt x="4408170" y="67056"/>
                    <a:pt x="4408170" y="149733"/>
                  </a:cubicBezTo>
                  <a:lnTo>
                    <a:pt x="4408170" y="692277"/>
                  </a:lnTo>
                  <a:cubicBezTo>
                    <a:pt x="4408170" y="774954"/>
                    <a:pt x="4341114" y="842010"/>
                    <a:pt x="4258437" y="842010"/>
                  </a:cubicBezTo>
                  <a:lnTo>
                    <a:pt x="149733" y="842010"/>
                  </a:lnTo>
                  <a:cubicBezTo>
                    <a:pt x="67056" y="842010"/>
                    <a:pt x="0" y="774954"/>
                    <a:pt x="0" y="692277"/>
                  </a:cubicBezTo>
                  <a:close/>
                </a:path>
              </a:pathLst>
            </a:custGeom>
            <a:solidFill>
              <a:srgbClr val="F7F3E8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5596128" y="4937760"/>
            <a:ext cx="3017520" cy="617220"/>
            <a:chOff x="0" y="0"/>
            <a:chExt cx="4023360" cy="82296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023360" cy="822960"/>
            </a:xfrm>
            <a:custGeom>
              <a:avLst/>
              <a:gdLst/>
              <a:ahLst/>
              <a:cxnLst/>
              <a:rect l="l" t="t" r="r" b="b"/>
              <a:pathLst>
                <a:path w="4023360" h="822960">
                  <a:moveTo>
                    <a:pt x="0" y="0"/>
                  </a:moveTo>
                  <a:lnTo>
                    <a:pt x="4023360" y="0"/>
                  </a:lnTo>
                  <a:lnTo>
                    <a:pt x="40233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9525"/>
              <a:ext cx="4023360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LIKE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383244" y="5684996"/>
            <a:ext cx="3306128" cy="631507"/>
            <a:chOff x="0" y="0"/>
            <a:chExt cx="4408170" cy="84201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408170" cy="842010"/>
            </a:xfrm>
            <a:custGeom>
              <a:avLst/>
              <a:gdLst/>
              <a:ahLst/>
              <a:cxnLst/>
              <a:rect l="l" t="t" r="r" b="b"/>
              <a:pathLst>
                <a:path w="4408170" h="84201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4258437" y="0"/>
                  </a:lnTo>
                  <a:cubicBezTo>
                    <a:pt x="4341114" y="0"/>
                    <a:pt x="4408170" y="67056"/>
                    <a:pt x="4408170" y="149733"/>
                  </a:cubicBezTo>
                  <a:lnTo>
                    <a:pt x="4408170" y="692277"/>
                  </a:lnTo>
                  <a:cubicBezTo>
                    <a:pt x="4408170" y="774954"/>
                    <a:pt x="4341114" y="842010"/>
                    <a:pt x="4258437" y="842010"/>
                  </a:cubicBezTo>
                  <a:lnTo>
                    <a:pt x="149733" y="842010"/>
                  </a:lnTo>
                  <a:cubicBezTo>
                    <a:pt x="67056" y="842010"/>
                    <a:pt x="0" y="774954"/>
                    <a:pt x="0" y="692277"/>
                  </a:cubicBezTo>
                  <a:close/>
                </a:path>
              </a:pathLst>
            </a:custGeom>
            <a:solidFill>
              <a:srgbClr val="F7F3E8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5596128" y="5692140"/>
            <a:ext cx="3017520" cy="617220"/>
            <a:chOff x="0" y="0"/>
            <a:chExt cx="4023360" cy="82296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023360" cy="822960"/>
            </a:xfrm>
            <a:custGeom>
              <a:avLst/>
              <a:gdLst/>
              <a:ahLst/>
              <a:cxnLst/>
              <a:rect l="l" t="t" r="r" b="b"/>
              <a:pathLst>
                <a:path w="4023360" h="822960">
                  <a:moveTo>
                    <a:pt x="0" y="0"/>
                  </a:moveTo>
                  <a:lnTo>
                    <a:pt x="4023360" y="0"/>
                  </a:lnTo>
                  <a:lnTo>
                    <a:pt x="40233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9525"/>
              <a:ext cx="4023360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CASE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383244" y="6439376"/>
            <a:ext cx="3306128" cy="631507"/>
            <a:chOff x="0" y="0"/>
            <a:chExt cx="4408170" cy="84201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4408170" cy="842010"/>
            </a:xfrm>
            <a:custGeom>
              <a:avLst/>
              <a:gdLst/>
              <a:ahLst/>
              <a:cxnLst/>
              <a:rect l="l" t="t" r="r" b="b"/>
              <a:pathLst>
                <a:path w="4408170" h="84201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4258437" y="0"/>
                  </a:lnTo>
                  <a:cubicBezTo>
                    <a:pt x="4341114" y="0"/>
                    <a:pt x="4408170" y="67056"/>
                    <a:pt x="4408170" y="149733"/>
                  </a:cubicBezTo>
                  <a:lnTo>
                    <a:pt x="4408170" y="692277"/>
                  </a:lnTo>
                  <a:cubicBezTo>
                    <a:pt x="4408170" y="774954"/>
                    <a:pt x="4341114" y="842010"/>
                    <a:pt x="4258437" y="842010"/>
                  </a:cubicBezTo>
                  <a:lnTo>
                    <a:pt x="149733" y="842010"/>
                  </a:lnTo>
                  <a:cubicBezTo>
                    <a:pt x="67056" y="842010"/>
                    <a:pt x="0" y="774954"/>
                    <a:pt x="0" y="692277"/>
                  </a:cubicBezTo>
                  <a:close/>
                </a:path>
              </a:pathLst>
            </a:custGeom>
            <a:solidFill>
              <a:srgbClr val="F7F3E8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5596128" y="6446520"/>
            <a:ext cx="3017520" cy="617220"/>
            <a:chOff x="0" y="0"/>
            <a:chExt cx="4023360" cy="82296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023360" cy="822960"/>
            </a:xfrm>
            <a:custGeom>
              <a:avLst/>
              <a:gdLst/>
              <a:ahLst/>
              <a:cxnLst/>
              <a:rect l="l" t="t" r="r" b="b"/>
              <a:pathLst>
                <a:path w="4023360" h="822960">
                  <a:moveTo>
                    <a:pt x="0" y="0"/>
                  </a:moveTo>
                  <a:lnTo>
                    <a:pt x="4023360" y="0"/>
                  </a:lnTo>
                  <a:lnTo>
                    <a:pt x="40233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9525"/>
              <a:ext cx="4023360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LIMIT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9264872" y="2187416"/>
            <a:ext cx="3978212" cy="5363528"/>
            <a:chOff x="0" y="0"/>
            <a:chExt cx="5304282" cy="715137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5304282" cy="7151370"/>
            </a:xfrm>
            <a:custGeom>
              <a:avLst/>
              <a:gdLst/>
              <a:ahLst/>
              <a:cxnLst/>
              <a:rect l="l" t="t" r="r" b="b"/>
              <a:pathLst>
                <a:path w="5304282" h="715137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5120767" y="0"/>
                  </a:lnTo>
                  <a:cubicBezTo>
                    <a:pt x="5222113" y="0"/>
                    <a:pt x="5304282" y="82169"/>
                    <a:pt x="5304282" y="183515"/>
                  </a:cubicBezTo>
                  <a:lnTo>
                    <a:pt x="5304282" y="6967855"/>
                  </a:lnTo>
                  <a:cubicBezTo>
                    <a:pt x="5304282" y="7069201"/>
                    <a:pt x="5222113" y="7151370"/>
                    <a:pt x="5120767" y="7151370"/>
                  </a:cubicBezTo>
                  <a:lnTo>
                    <a:pt x="183515" y="7151370"/>
                  </a:lnTo>
                  <a:cubicBezTo>
                    <a:pt x="82169" y="7151370"/>
                    <a:pt x="0" y="7069201"/>
                    <a:pt x="0" y="69678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74" name="Group 74"/>
          <p:cNvGrpSpPr/>
          <p:nvPr/>
        </p:nvGrpSpPr>
        <p:grpSpPr>
          <a:xfrm>
            <a:off x="9614916" y="2468880"/>
            <a:ext cx="1371600" cy="685800"/>
            <a:chOff x="0" y="0"/>
            <a:chExt cx="1828800" cy="9144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828800" cy="914400"/>
            </a:xfrm>
            <a:custGeom>
              <a:avLst/>
              <a:gdLst/>
              <a:ahLst/>
              <a:cxnLst/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0"/>
              <a:ext cx="18288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614916" y="3291840"/>
            <a:ext cx="3291840" cy="617220"/>
            <a:chOff x="0" y="0"/>
            <a:chExt cx="4389120" cy="82296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389120" cy="822960"/>
            </a:xfrm>
            <a:custGeom>
              <a:avLst/>
              <a:gdLst/>
              <a:ahLst/>
              <a:cxnLst/>
              <a:rect l="l" t="t" r="r" b="b"/>
              <a:pathLst>
                <a:path w="4389120" h="822960">
                  <a:moveTo>
                    <a:pt x="0" y="0"/>
                  </a:moveTo>
                  <a:lnTo>
                    <a:pt x="4389120" y="0"/>
                  </a:lnTo>
                  <a:lnTo>
                    <a:pt x="43891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920" b="-53920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0"/>
              <a:ext cx="438912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Aggregation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607772" y="4176236"/>
            <a:ext cx="3306128" cy="631507"/>
            <a:chOff x="0" y="0"/>
            <a:chExt cx="4408170" cy="84201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408170" cy="842010"/>
            </a:xfrm>
            <a:custGeom>
              <a:avLst/>
              <a:gdLst/>
              <a:ahLst/>
              <a:cxnLst/>
              <a:rect l="l" t="t" r="r" b="b"/>
              <a:pathLst>
                <a:path w="4408170" h="84201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4258437" y="0"/>
                  </a:lnTo>
                  <a:cubicBezTo>
                    <a:pt x="4341114" y="0"/>
                    <a:pt x="4408170" y="67056"/>
                    <a:pt x="4408170" y="149733"/>
                  </a:cubicBezTo>
                  <a:lnTo>
                    <a:pt x="4408170" y="692277"/>
                  </a:lnTo>
                  <a:cubicBezTo>
                    <a:pt x="4408170" y="774954"/>
                    <a:pt x="4341114" y="842010"/>
                    <a:pt x="4258437" y="842010"/>
                  </a:cubicBezTo>
                  <a:lnTo>
                    <a:pt x="149733" y="842010"/>
                  </a:lnTo>
                  <a:cubicBezTo>
                    <a:pt x="67056" y="842010"/>
                    <a:pt x="0" y="774954"/>
                    <a:pt x="0" y="692277"/>
                  </a:cubicBezTo>
                  <a:close/>
                </a:path>
              </a:pathLst>
            </a:custGeom>
            <a:solidFill>
              <a:srgbClr val="F7F3E8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82" name="Group 82"/>
          <p:cNvGrpSpPr/>
          <p:nvPr/>
        </p:nvGrpSpPr>
        <p:grpSpPr>
          <a:xfrm>
            <a:off x="9820656" y="4183380"/>
            <a:ext cx="3017520" cy="617220"/>
            <a:chOff x="0" y="0"/>
            <a:chExt cx="4023360" cy="82296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4023360" cy="822960"/>
            </a:xfrm>
            <a:custGeom>
              <a:avLst/>
              <a:gdLst/>
              <a:ahLst/>
              <a:cxnLst/>
              <a:rect l="l" t="t" r="r" b="b"/>
              <a:pathLst>
                <a:path w="4023360" h="822960">
                  <a:moveTo>
                    <a:pt x="0" y="0"/>
                  </a:moveTo>
                  <a:lnTo>
                    <a:pt x="4023360" y="0"/>
                  </a:lnTo>
                  <a:lnTo>
                    <a:pt x="40233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9525"/>
              <a:ext cx="4023360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COUNT()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9607772" y="4930616"/>
            <a:ext cx="3306128" cy="631507"/>
            <a:chOff x="0" y="0"/>
            <a:chExt cx="4408170" cy="84201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4408170" cy="842010"/>
            </a:xfrm>
            <a:custGeom>
              <a:avLst/>
              <a:gdLst/>
              <a:ahLst/>
              <a:cxnLst/>
              <a:rect l="l" t="t" r="r" b="b"/>
              <a:pathLst>
                <a:path w="4408170" h="84201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4258437" y="0"/>
                  </a:lnTo>
                  <a:cubicBezTo>
                    <a:pt x="4341114" y="0"/>
                    <a:pt x="4408170" y="67056"/>
                    <a:pt x="4408170" y="149733"/>
                  </a:cubicBezTo>
                  <a:lnTo>
                    <a:pt x="4408170" y="692277"/>
                  </a:lnTo>
                  <a:cubicBezTo>
                    <a:pt x="4408170" y="774954"/>
                    <a:pt x="4341114" y="842010"/>
                    <a:pt x="4258437" y="842010"/>
                  </a:cubicBezTo>
                  <a:lnTo>
                    <a:pt x="149733" y="842010"/>
                  </a:lnTo>
                  <a:cubicBezTo>
                    <a:pt x="67056" y="842010"/>
                    <a:pt x="0" y="774954"/>
                    <a:pt x="0" y="692277"/>
                  </a:cubicBezTo>
                  <a:close/>
                </a:path>
              </a:pathLst>
            </a:custGeom>
            <a:solidFill>
              <a:srgbClr val="F7F3E8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87" name="Group 87"/>
          <p:cNvGrpSpPr/>
          <p:nvPr/>
        </p:nvGrpSpPr>
        <p:grpSpPr>
          <a:xfrm>
            <a:off x="9820656" y="4937760"/>
            <a:ext cx="3017520" cy="617220"/>
            <a:chOff x="0" y="0"/>
            <a:chExt cx="4023360" cy="82296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4023360" cy="822960"/>
            </a:xfrm>
            <a:custGeom>
              <a:avLst/>
              <a:gdLst/>
              <a:ahLst/>
              <a:cxnLst/>
              <a:rect l="l" t="t" r="r" b="b"/>
              <a:pathLst>
                <a:path w="4023360" h="822960">
                  <a:moveTo>
                    <a:pt x="0" y="0"/>
                  </a:moveTo>
                  <a:lnTo>
                    <a:pt x="4023360" y="0"/>
                  </a:lnTo>
                  <a:lnTo>
                    <a:pt x="40233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9525"/>
              <a:ext cx="4023360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SUM()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9607772" y="5684996"/>
            <a:ext cx="3306128" cy="631507"/>
            <a:chOff x="0" y="0"/>
            <a:chExt cx="4408170" cy="84201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4408170" cy="842010"/>
            </a:xfrm>
            <a:custGeom>
              <a:avLst/>
              <a:gdLst/>
              <a:ahLst/>
              <a:cxnLst/>
              <a:rect l="l" t="t" r="r" b="b"/>
              <a:pathLst>
                <a:path w="4408170" h="84201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4258437" y="0"/>
                  </a:lnTo>
                  <a:cubicBezTo>
                    <a:pt x="4341114" y="0"/>
                    <a:pt x="4408170" y="67056"/>
                    <a:pt x="4408170" y="149733"/>
                  </a:cubicBezTo>
                  <a:lnTo>
                    <a:pt x="4408170" y="692277"/>
                  </a:lnTo>
                  <a:cubicBezTo>
                    <a:pt x="4408170" y="774954"/>
                    <a:pt x="4341114" y="842010"/>
                    <a:pt x="4258437" y="842010"/>
                  </a:cubicBezTo>
                  <a:lnTo>
                    <a:pt x="149733" y="842010"/>
                  </a:lnTo>
                  <a:cubicBezTo>
                    <a:pt x="67056" y="842010"/>
                    <a:pt x="0" y="774954"/>
                    <a:pt x="0" y="692277"/>
                  </a:cubicBezTo>
                  <a:close/>
                </a:path>
              </a:pathLst>
            </a:custGeom>
            <a:solidFill>
              <a:srgbClr val="F7F3E8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92" name="Group 92"/>
          <p:cNvGrpSpPr/>
          <p:nvPr/>
        </p:nvGrpSpPr>
        <p:grpSpPr>
          <a:xfrm>
            <a:off x="9820656" y="5692140"/>
            <a:ext cx="3017520" cy="617220"/>
            <a:chOff x="0" y="0"/>
            <a:chExt cx="4023360" cy="82296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4023360" cy="822960"/>
            </a:xfrm>
            <a:custGeom>
              <a:avLst/>
              <a:gdLst/>
              <a:ahLst/>
              <a:cxnLst/>
              <a:rect l="l" t="t" r="r" b="b"/>
              <a:pathLst>
                <a:path w="4023360" h="822960">
                  <a:moveTo>
                    <a:pt x="0" y="0"/>
                  </a:moveTo>
                  <a:lnTo>
                    <a:pt x="4023360" y="0"/>
                  </a:lnTo>
                  <a:lnTo>
                    <a:pt x="40233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9525"/>
              <a:ext cx="4023360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GROUP BY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9607772" y="6439376"/>
            <a:ext cx="3306128" cy="631507"/>
            <a:chOff x="0" y="0"/>
            <a:chExt cx="4408170" cy="842010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4408170" cy="842010"/>
            </a:xfrm>
            <a:custGeom>
              <a:avLst/>
              <a:gdLst/>
              <a:ahLst/>
              <a:cxnLst/>
              <a:rect l="l" t="t" r="r" b="b"/>
              <a:pathLst>
                <a:path w="4408170" h="84201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4258437" y="0"/>
                  </a:lnTo>
                  <a:cubicBezTo>
                    <a:pt x="4341114" y="0"/>
                    <a:pt x="4408170" y="67056"/>
                    <a:pt x="4408170" y="149733"/>
                  </a:cubicBezTo>
                  <a:lnTo>
                    <a:pt x="4408170" y="692277"/>
                  </a:lnTo>
                  <a:cubicBezTo>
                    <a:pt x="4408170" y="774954"/>
                    <a:pt x="4341114" y="842010"/>
                    <a:pt x="4258437" y="842010"/>
                  </a:cubicBezTo>
                  <a:lnTo>
                    <a:pt x="149733" y="842010"/>
                  </a:lnTo>
                  <a:cubicBezTo>
                    <a:pt x="67056" y="842010"/>
                    <a:pt x="0" y="774954"/>
                    <a:pt x="0" y="692277"/>
                  </a:cubicBezTo>
                  <a:close/>
                </a:path>
              </a:pathLst>
            </a:custGeom>
            <a:solidFill>
              <a:srgbClr val="F7F3E8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97" name="Group 97"/>
          <p:cNvGrpSpPr/>
          <p:nvPr/>
        </p:nvGrpSpPr>
        <p:grpSpPr>
          <a:xfrm>
            <a:off x="9820656" y="6446520"/>
            <a:ext cx="3017520" cy="617220"/>
            <a:chOff x="0" y="0"/>
            <a:chExt cx="4023360" cy="82296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4023360" cy="822960"/>
            </a:xfrm>
            <a:custGeom>
              <a:avLst/>
              <a:gdLst/>
              <a:ahLst/>
              <a:cxnLst/>
              <a:rect l="l" t="t" r="r" b="b"/>
              <a:pathLst>
                <a:path w="4023360" h="822960">
                  <a:moveTo>
                    <a:pt x="0" y="0"/>
                  </a:moveTo>
                  <a:lnTo>
                    <a:pt x="4023360" y="0"/>
                  </a:lnTo>
                  <a:lnTo>
                    <a:pt x="40233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-9525"/>
              <a:ext cx="4023360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HAVING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13489400" y="2187416"/>
            <a:ext cx="3978212" cy="5363528"/>
            <a:chOff x="0" y="0"/>
            <a:chExt cx="5304282" cy="715137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5304282" cy="7151370"/>
            </a:xfrm>
            <a:custGeom>
              <a:avLst/>
              <a:gdLst/>
              <a:ahLst/>
              <a:cxnLst/>
              <a:rect l="l" t="t" r="r" b="b"/>
              <a:pathLst>
                <a:path w="5304282" h="715137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5120767" y="0"/>
                  </a:lnTo>
                  <a:cubicBezTo>
                    <a:pt x="5222113" y="0"/>
                    <a:pt x="5304282" y="82169"/>
                    <a:pt x="5304282" y="183515"/>
                  </a:cubicBezTo>
                  <a:lnTo>
                    <a:pt x="5304282" y="6967855"/>
                  </a:lnTo>
                  <a:cubicBezTo>
                    <a:pt x="5304282" y="7069201"/>
                    <a:pt x="5222113" y="7151370"/>
                    <a:pt x="5120767" y="7151370"/>
                  </a:cubicBezTo>
                  <a:lnTo>
                    <a:pt x="183515" y="7151370"/>
                  </a:lnTo>
                  <a:cubicBezTo>
                    <a:pt x="82169" y="7151370"/>
                    <a:pt x="0" y="7069201"/>
                    <a:pt x="0" y="69678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102" name="Group 102"/>
          <p:cNvGrpSpPr/>
          <p:nvPr/>
        </p:nvGrpSpPr>
        <p:grpSpPr>
          <a:xfrm>
            <a:off x="13839444" y="2468880"/>
            <a:ext cx="1371600" cy="685800"/>
            <a:chOff x="0" y="0"/>
            <a:chExt cx="1828800" cy="914400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1828800" cy="914400"/>
            </a:xfrm>
            <a:custGeom>
              <a:avLst/>
              <a:gdLst/>
              <a:ahLst/>
              <a:cxnLst/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04" name="TextBox 104"/>
            <p:cNvSpPr txBox="1"/>
            <p:nvPr/>
          </p:nvSpPr>
          <p:spPr>
            <a:xfrm>
              <a:off x="0" y="0"/>
              <a:ext cx="18288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3839444" y="3291840"/>
            <a:ext cx="3291840" cy="617220"/>
            <a:chOff x="0" y="0"/>
            <a:chExt cx="4389120" cy="822960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4389120" cy="822960"/>
            </a:xfrm>
            <a:custGeom>
              <a:avLst/>
              <a:gdLst/>
              <a:ahLst/>
              <a:cxnLst/>
              <a:rect l="l" t="t" r="r" b="b"/>
              <a:pathLst>
                <a:path w="4389120" h="822960">
                  <a:moveTo>
                    <a:pt x="0" y="0"/>
                  </a:moveTo>
                  <a:lnTo>
                    <a:pt x="4389120" y="0"/>
                  </a:lnTo>
                  <a:lnTo>
                    <a:pt x="43891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920" b="-53920"/>
              </a:stretch>
            </a:blipFill>
          </p:spPr>
        </p:sp>
        <p:sp>
          <p:nvSpPr>
            <p:cNvPr id="107" name="TextBox 107"/>
            <p:cNvSpPr txBox="1"/>
            <p:nvPr/>
          </p:nvSpPr>
          <p:spPr>
            <a:xfrm>
              <a:off x="0" y="0"/>
              <a:ext cx="438912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Advanced Queries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13832300" y="4176236"/>
            <a:ext cx="3306128" cy="631507"/>
            <a:chOff x="0" y="0"/>
            <a:chExt cx="4408170" cy="842010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4408170" cy="842010"/>
            </a:xfrm>
            <a:custGeom>
              <a:avLst/>
              <a:gdLst/>
              <a:ahLst/>
              <a:cxnLst/>
              <a:rect l="l" t="t" r="r" b="b"/>
              <a:pathLst>
                <a:path w="4408170" h="84201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4258437" y="0"/>
                  </a:lnTo>
                  <a:cubicBezTo>
                    <a:pt x="4341114" y="0"/>
                    <a:pt x="4408170" y="67056"/>
                    <a:pt x="4408170" y="149733"/>
                  </a:cubicBezTo>
                  <a:lnTo>
                    <a:pt x="4408170" y="692277"/>
                  </a:lnTo>
                  <a:cubicBezTo>
                    <a:pt x="4408170" y="774954"/>
                    <a:pt x="4341114" y="842010"/>
                    <a:pt x="4258437" y="842010"/>
                  </a:cubicBezTo>
                  <a:lnTo>
                    <a:pt x="149733" y="842010"/>
                  </a:lnTo>
                  <a:cubicBezTo>
                    <a:pt x="67056" y="842010"/>
                    <a:pt x="0" y="774954"/>
                    <a:pt x="0" y="692277"/>
                  </a:cubicBezTo>
                  <a:close/>
                </a:path>
              </a:pathLst>
            </a:custGeom>
            <a:solidFill>
              <a:srgbClr val="F7F3E8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110" name="Group 110"/>
          <p:cNvGrpSpPr/>
          <p:nvPr/>
        </p:nvGrpSpPr>
        <p:grpSpPr>
          <a:xfrm>
            <a:off x="14045184" y="4183380"/>
            <a:ext cx="3017520" cy="617220"/>
            <a:chOff x="0" y="0"/>
            <a:chExt cx="4023360" cy="822960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4023360" cy="822960"/>
            </a:xfrm>
            <a:custGeom>
              <a:avLst/>
              <a:gdLst/>
              <a:ahLst/>
              <a:cxnLst/>
              <a:rect l="l" t="t" r="r" b="b"/>
              <a:pathLst>
                <a:path w="4023360" h="822960">
                  <a:moveTo>
                    <a:pt x="0" y="0"/>
                  </a:moveTo>
                  <a:lnTo>
                    <a:pt x="4023360" y="0"/>
                  </a:lnTo>
                  <a:lnTo>
                    <a:pt x="40233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112" name="TextBox 112"/>
            <p:cNvSpPr txBox="1"/>
            <p:nvPr/>
          </p:nvSpPr>
          <p:spPr>
            <a:xfrm>
              <a:off x="0" y="-9525"/>
              <a:ext cx="4023360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Subqueries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13832300" y="4930616"/>
            <a:ext cx="3306128" cy="631507"/>
            <a:chOff x="0" y="0"/>
            <a:chExt cx="4408170" cy="842010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4408170" cy="842010"/>
            </a:xfrm>
            <a:custGeom>
              <a:avLst/>
              <a:gdLst/>
              <a:ahLst/>
              <a:cxnLst/>
              <a:rect l="l" t="t" r="r" b="b"/>
              <a:pathLst>
                <a:path w="4408170" h="84201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4258437" y="0"/>
                  </a:lnTo>
                  <a:cubicBezTo>
                    <a:pt x="4341114" y="0"/>
                    <a:pt x="4408170" y="67056"/>
                    <a:pt x="4408170" y="149733"/>
                  </a:cubicBezTo>
                  <a:lnTo>
                    <a:pt x="4408170" y="692277"/>
                  </a:lnTo>
                  <a:cubicBezTo>
                    <a:pt x="4408170" y="774954"/>
                    <a:pt x="4341114" y="842010"/>
                    <a:pt x="4258437" y="842010"/>
                  </a:cubicBezTo>
                  <a:lnTo>
                    <a:pt x="149733" y="842010"/>
                  </a:lnTo>
                  <a:cubicBezTo>
                    <a:pt x="67056" y="842010"/>
                    <a:pt x="0" y="774954"/>
                    <a:pt x="0" y="692277"/>
                  </a:cubicBezTo>
                  <a:close/>
                </a:path>
              </a:pathLst>
            </a:custGeom>
            <a:solidFill>
              <a:srgbClr val="F7F3E8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115" name="Group 115"/>
          <p:cNvGrpSpPr/>
          <p:nvPr/>
        </p:nvGrpSpPr>
        <p:grpSpPr>
          <a:xfrm>
            <a:off x="14045184" y="4937760"/>
            <a:ext cx="3017520" cy="617220"/>
            <a:chOff x="0" y="0"/>
            <a:chExt cx="4023360" cy="822960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4023360" cy="822960"/>
            </a:xfrm>
            <a:custGeom>
              <a:avLst/>
              <a:gdLst/>
              <a:ahLst/>
              <a:cxnLst/>
              <a:rect l="l" t="t" r="r" b="b"/>
              <a:pathLst>
                <a:path w="4023360" h="822960">
                  <a:moveTo>
                    <a:pt x="0" y="0"/>
                  </a:moveTo>
                  <a:lnTo>
                    <a:pt x="4023360" y="0"/>
                  </a:lnTo>
                  <a:lnTo>
                    <a:pt x="40233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117" name="TextBox 117"/>
            <p:cNvSpPr txBox="1"/>
            <p:nvPr/>
          </p:nvSpPr>
          <p:spPr>
            <a:xfrm>
              <a:off x="0" y="-9525"/>
              <a:ext cx="4023360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INNER JOIN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13832300" y="5684996"/>
            <a:ext cx="3306128" cy="631507"/>
            <a:chOff x="0" y="0"/>
            <a:chExt cx="4408170" cy="842010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4408170" cy="842010"/>
            </a:xfrm>
            <a:custGeom>
              <a:avLst/>
              <a:gdLst/>
              <a:ahLst/>
              <a:cxnLst/>
              <a:rect l="l" t="t" r="r" b="b"/>
              <a:pathLst>
                <a:path w="4408170" h="84201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4258437" y="0"/>
                  </a:lnTo>
                  <a:cubicBezTo>
                    <a:pt x="4341114" y="0"/>
                    <a:pt x="4408170" y="67056"/>
                    <a:pt x="4408170" y="149733"/>
                  </a:cubicBezTo>
                  <a:lnTo>
                    <a:pt x="4408170" y="692277"/>
                  </a:lnTo>
                  <a:cubicBezTo>
                    <a:pt x="4408170" y="774954"/>
                    <a:pt x="4341114" y="842010"/>
                    <a:pt x="4258437" y="842010"/>
                  </a:cubicBezTo>
                  <a:lnTo>
                    <a:pt x="149733" y="842010"/>
                  </a:lnTo>
                  <a:cubicBezTo>
                    <a:pt x="67056" y="842010"/>
                    <a:pt x="0" y="774954"/>
                    <a:pt x="0" y="692277"/>
                  </a:cubicBezTo>
                  <a:close/>
                </a:path>
              </a:pathLst>
            </a:custGeom>
            <a:solidFill>
              <a:srgbClr val="F7F3E8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120" name="Group 120"/>
          <p:cNvGrpSpPr/>
          <p:nvPr/>
        </p:nvGrpSpPr>
        <p:grpSpPr>
          <a:xfrm>
            <a:off x="14045184" y="5692140"/>
            <a:ext cx="3017520" cy="617220"/>
            <a:chOff x="0" y="0"/>
            <a:chExt cx="4023360" cy="822960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4023360" cy="822960"/>
            </a:xfrm>
            <a:custGeom>
              <a:avLst/>
              <a:gdLst/>
              <a:ahLst/>
              <a:cxnLst/>
              <a:rect l="l" t="t" r="r" b="b"/>
              <a:pathLst>
                <a:path w="4023360" h="822960">
                  <a:moveTo>
                    <a:pt x="0" y="0"/>
                  </a:moveTo>
                  <a:lnTo>
                    <a:pt x="4023360" y="0"/>
                  </a:lnTo>
                  <a:lnTo>
                    <a:pt x="40233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122" name="TextBox 122"/>
            <p:cNvSpPr txBox="1"/>
            <p:nvPr/>
          </p:nvSpPr>
          <p:spPr>
            <a:xfrm>
              <a:off x="0" y="-9525"/>
              <a:ext cx="4023360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LEFT JOIN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13832300" y="6439376"/>
            <a:ext cx="3306128" cy="631507"/>
            <a:chOff x="0" y="0"/>
            <a:chExt cx="4408170" cy="842010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4408170" cy="842010"/>
            </a:xfrm>
            <a:custGeom>
              <a:avLst/>
              <a:gdLst/>
              <a:ahLst/>
              <a:cxnLst/>
              <a:rect l="l" t="t" r="r" b="b"/>
              <a:pathLst>
                <a:path w="4408170" h="84201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4258437" y="0"/>
                  </a:lnTo>
                  <a:cubicBezTo>
                    <a:pt x="4341114" y="0"/>
                    <a:pt x="4408170" y="67056"/>
                    <a:pt x="4408170" y="149733"/>
                  </a:cubicBezTo>
                  <a:lnTo>
                    <a:pt x="4408170" y="692277"/>
                  </a:lnTo>
                  <a:cubicBezTo>
                    <a:pt x="4408170" y="774954"/>
                    <a:pt x="4341114" y="842010"/>
                    <a:pt x="4258437" y="842010"/>
                  </a:cubicBezTo>
                  <a:lnTo>
                    <a:pt x="149733" y="842010"/>
                  </a:lnTo>
                  <a:cubicBezTo>
                    <a:pt x="67056" y="842010"/>
                    <a:pt x="0" y="774954"/>
                    <a:pt x="0" y="692277"/>
                  </a:cubicBezTo>
                  <a:close/>
                </a:path>
              </a:pathLst>
            </a:custGeom>
            <a:solidFill>
              <a:srgbClr val="F7F3E8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125" name="Group 125"/>
          <p:cNvGrpSpPr/>
          <p:nvPr/>
        </p:nvGrpSpPr>
        <p:grpSpPr>
          <a:xfrm>
            <a:off x="14045184" y="6446520"/>
            <a:ext cx="3017520" cy="617220"/>
            <a:chOff x="0" y="0"/>
            <a:chExt cx="4023360" cy="822960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4023360" cy="822960"/>
            </a:xfrm>
            <a:custGeom>
              <a:avLst/>
              <a:gdLst/>
              <a:ahLst/>
              <a:cxnLst/>
              <a:rect l="l" t="t" r="r" b="b"/>
              <a:pathLst>
                <a:path w="4023360" h="822960">
                  <a:moveTo>
                    <a:pt x="0" y="0"/>
                  </a:moveTo>
                  <a:lnTo>
                    <a:pt x="4023360" y="0"/>
                  </a:lnTo>
                  <a:lnTo>
                    <a:pt x="40233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127" name="TextBox 127"/>
            <p:cNvSpPr txBox="1"/>
            <p:nvPr/>
          </p:nvSpPr>
          <p:spPr>
            <a:xfrm>
              <a:off x="0" y="-9525"/>
              <a:ext cx="4023360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JOIN + Aggregation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822960" y="8023860"/>
            <a:ext cx="16637508" cy="548640"/>
            <a:chOff x="0" y="0"/>
            <a:chExt cx="22183344" cy="731520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22183344" cy="731520"/>
            </a:xfrm>
            <a:custGeom>
              <a:avLst/>
              <a:gdLst/>
              <a:ahLst/>
              <a:cxnLst/>
              <a:rect l="l" t="t" r="r" b="b"/>
              <a:pathLst>
                <a:path w="22183344" h="731520">
                  <a:moveTo>
                    <a:pt x="0" y="0"/>
                  </a:moveTo>
                  <a:lnTo>
                    <a:pt x="22183344" y="0"/>
                  </a:lnTo>
                  <a:lnTo>
                    <a:pt x="221833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0883" b="-540883"/>
              </a:stretch>
            </a:blipFill>
          </p:spPr>
        </p:sp>
        <p:sp>
          <p:nvSpPr>
            <p:cNvPr id="130" name="TextBox 130"/>
            <p:cNvSpPr txBox="1"/>
            <p:nvPr/>
          </p:nvSpPr>
          <p:spPr>
            <a:xfrm>
              <a:off x="0" y="0"/>
              <a:ext cx="22183344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15 queries implemented across these four categories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920">
            <a:off x="811044" y="1805750"/>
            <a:ext cx="16661340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2940">
            <a:off x="815816" y="9569006"/>
            <a:ext cx="16651805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22960" y="9683496"/>
            <a:ext cx="10972800" cy="342900"/>
            <a:chOff x="0" y="0"/>
            <a:chExt cx="146304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1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LIBRARY MANAGEMENT SYSTEM  ·  MYSQL DATABASE PROJECT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850392"/>
            <a:ext cx="16637508" cy="850392"/>
            <a:chOff x="0" y="0"/>
            <a:chExt cx="22183344" cy="11338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3344" cy="1133856"/>
            </a:xfrm>
            <a:custGeom>
              <a:avLst/>
              <a:gdLst/>
              <a:ahLst/>
              <a:cxnLst/>
              <a:rect l="l" t="t" r="r" b="b"/>
              <a:pathLst>
                <a:path w="22183344" h="1133856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1215" b="-33121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2183344" cy="1124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SQL Query — SELECT &amp; WHERE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2960" y="466344"/>
            <a:ext cx="10972800" cy="342900"/>
            <a:chOff x="0" y="0"/>
            <a:chExt cx="1463040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SQL QUERY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73400" y="9683496"/>
            <a:ext cx="1687068" cy="342900"/>
            <a:chOff x="0" y="0"/>
            <a:chExt cx="2249424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4" cy="457200"/>
            </a:xfrm>
            <a:custGeom>
              <a:avLst/>
              <a:gdLst/>
              <a:ahLst/>
              <a:cxnLst/>
              <a:rect l="l" t="t" r="r" b="b"/>
              <a:pathLst>
                <a:path w="2249424" h="457200">
                  <a:moveTo>
                    <a:pt x="0" y="0"/>
                  </a:moveTo>
                  <a:lnTo>
                    <a:pt x="2249424" y="0"/>
                  </a:lnTo>
                  <a:lnTo>
                    <a:pt x="22494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866" b="-4586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2494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14 / 25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 rot="5391000">
            <a:off x="5500183" y="5687378"/>
            <a:ext cx="7288559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822960" y="1920240"/>
            <a:ext cx="802386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1F3A5F"/>
                </a:solidFill>
                <a:latin typeface="Aptos Bold"/>
                <a:ea typeface="Aptos Bold"/>
                <a:cs typeface="Aptos Bold"/>
                <a:sym typeface="Aptos Bold"/>
              </a:rPr>
              <a:t>Query 1 — Books Published Before 2000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13435" y="2665095"/>
            <a:ext cx="2391918" cy="403098"/>
            <a:chOff x="0" y="0"/>
            <a:chExt cx="3189224" cy="53746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189224" cy="537464"/>
            </a:xfrm>
            <a:custGeom>
              <a:avLst/>
              <a:gdLst/>
              <a:ahLst/>
              <a:cxnLst/>
              <a:rect l="l" t="t" r="r" b="b"/>
              <a:pathLst>
                <a:path w="3189224" h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lnTo>
                    <a:pt x="2920492" y="0"/>
                  </a:lnTo>
                  <a:cubicBezTo>
                    <a:pt x="3068955" y="0"/>
                    <a:pt x="3189224" y="120269"/>
                    <a:pt x="3189224" y="268732"/>
                  </a:cubicBezTo>
                  <a:cubicBezTo>
                    <a:pt x="3189224" y="417195"/>
                    <a:pt x="3068955" y="537464"/>
                    <a:pt x="2920492" y="537464"/>
                  </a:cubicBezTo>
                  <a:lnTo>
                    <a:pt x="268732" y="537464"/>
                  </a:ln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22960" y="2674620"/>
            <a:ext cx="2372868" cy="384048"/>
            <a:chOff x="0" y="0"/>
            <a:chExt cx="3163824" cy="51206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163824" cy="512064"/>
            </a:xfrm>
            <a:custGeom>
              <a:avLst/>
              <a:gdLst/>
              <a:ahLst/>
              <a:cxnLst/>
              <a:rect l="l" t="t" r="r" b="b"/>
              <a:pathLst>
                <a:path w="3163824" h="512064">
                  <a:moveTo>
                    <a:pt x="0" y="0"/>
                  </a:moveTo>
                  <a:lnTo>
                    <a:pt x="3163824" y="0"/>
                  </a:lnTo>
                  <a:lnTo>
                    <a:pt x="316382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389" b="-70389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3163824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SELECT + WHERE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5816" y="3120104"/>
            <a:ext cx="8038147" cy="3168967"/>
            <a:chOff x="0" y="0"/>
            <a:chExt cx="10717530" cy="422529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717530" cy="4225290"/>
            </a:xfrm>
            <a:custGeom>
              <a:avLst/>
              <a:gdLst/>
              <a:ahLst/>
              <a:cxnLst/>
              <a:rect l="l" t="t" r="r" b="b"/>
              <a:pathLst>
                <a:path w="10717530" h="422529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10533761" y="0"/>
                  </a:lnTo>
                  <a:cubicBezTo>
                    <a:pt x="10635234" y="0"/>
                    <a:pt x="10717530" y="82296"/>
                    <a:pt x="10717530" y="183769"/>
                  </a:cubicBezTo>
                  <a:lnTo>
                    <a:pt x="10717530" y="4041521"/>
                  </a:lnTo>
                  <a:cubicBezTo>
                    <a:pt x="10717530" y="4142994"/>
                    <a:pt x="10635234" y="4225290"/>
                    <a:pt x="10533761" y="4225290"/>
                  </a:cubicBezTo>
                  <a:lnTo>
                    <a:pt x="183769" y="4225290"/>
                  </a:lnTo>
                  <a:cubicBezTo>
                    <a:pt x="82296" y="4225290"/>
                    <a:pt x="0" y="4142994"/>
                    <a:pt x="0" y="404152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097280" y="3264408"/>
            <a:ext cx="7475220" cy="342900"/>
            <a:chOff x="0" y="0"/>
            <a:chExt cx="9966960" cy="457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966960" cy="457200"/>
            </a:xfrm>
            <a:custGeom>
              <a:avLst/>
              <a:gdLst/>
              <a:ahLst/>
              <a:cxnLst/>
              <a:rect l="l" t="t" r="r" b="b"/>
              <a:pathLst>
                <a:path w="9966960" h="457200">
                  <a:moveTo>
                    <a:pt x="0" y="0"/>
                  </a:moveTo>
                  <a:lnTo>
                    <a:pt x="9966960" y="0"/>
                  </a:lnTo>
                  <a:lnTo>
                    <a:pt x="99669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773" b="-374773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996696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MYSQL CODE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917630" y="3744468"/>
            <a:ext cx="5834510" cy="2331720"/>
            <a:chOff x="0" y="0"/>
            <a:chExt cx="7779347" cy="3108960"/>
          </a:xfrm>
        </p:grpSpPr>
        <p:sp>
          <p:nvSpPr>
            <p:cNvPr id="29" name="Freeform 29" descr="MySQL Workbench screenshot: q1c"/>
            <p:cNvSpPr/>
            <p:nvPr/>
          </p:nvSpPr>
          <p:spPr>
            <a:xfrm>
              <a:off x="0" y="0"/>
              <a:ext cx="7779385" cy="3108960"/>
            </a:xfrm>
            <a:custGeom>
              <a:avLst/>
              <a:gdLst/>
              <a:ahLst/>
              <a:cxnLst/>
              <a:rect l="l" t="t" r="r" b="b"/>
              <a:pathLst>
                <a:path w="7779385" h="3108960">
                  <a:moveTo>
                    <a:pt x="0" y="0"/>
                  </a:moveTo>
                  <a:lnTo>
                    <a:pt x="7779385" y="0"/>
                  </a:lnTo>
                  <a:lnTo>
                    <a:pt x="7779385" y="3108960"/>
                  </a:lnTo>
                  <a:lnTo>
                    <a:pt x="0" y="3108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491" b="-2491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815816" y="6411944"/>
            <a:ext cx="8038147" cy="2414588"/>
            <a:chOff x="0" y="0"/>
            <a:chExt cx="10717530" cy="321945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717530" cy="3219450"/>
            </a:xfrm>
            <a:custGeom>
              <a:avLst/>
              <a:gdLst/>
              <a:ahLst/>
              <a:cxnLst/>
              <a:rect l="l" t="t" r="r" b="b"/>
              <a:pathLst>
                <a:path w="10717530" h="3219450">
                  <a:moveTo>
                    <a:pt x="0" y="183896"/>
                  </a:moveTo>
                  <a:cubicBezTo>
                    <a:pt x="0" y="82423"/>
                    <a:pt x="82423" y="0"/>
                    <a:pt x="183896" y="0"/>
                  </a:cubicBezTo>
                  <a:lnTo>
                    <a:pt x="10533634" y="0"/>
                  </a:lnTo>
                  <a:cubicBezTo>
                    <a:pt x="10635234" y="0"/>
                    <a:pt x="10717530" y="82423"/>
                    <a:pt x="10717530" y="183896"/>
                  </a:cubicBezTo>
                  <a:lnTo>
                    <a:pt x="10717530" y="3035554"/>
                  </a:lnTo>
                  <a:cubicBezTo>
                    <a:pt x="10717530" y="3137154"/>
                    <a:pt x="10635107" y="3219450"/>
                    <a:pt x="10533634" y="3219450"/>
                  </a:cubicBezTo>
                  <a:lnTo>
                    <a:pt x="183896" y="3219450"/>
                  </a:lnTo>
                  <a:cubicBezTo>
                    <a:pt x="82296" y="3219450"/>
                    <a:pt x="0" y="3137027"/>
                    <a:pt x="0" y="303555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097280" y="6556248"/>
            <a:ext cx="7475220" cy="342900"/>
            <a:chOff x="0" y="0"/>
            <a:chExt cx="9966960" cy="4572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966960" cy="457200"/>
            </a:xfrm>
            <a:custGeom>
              <a:avLst/>
              <a:gdLst/>
              <a:ahLst/>
              <a:cxnLst/>
              <a:rect l="l" t="t" r="r" b="b"/>
              <a:pathLst>
                <a:path w="9966960" h="457200">
                  <a:moveTo>
                    <a:pt x="0" y="0"/>
                  </a:moveTo>
                  <a:lnTo>
                    <a:pt x="9966960" y="0"/>
                  </a:lnTo>
                  <a:lnTo>
                    <a:pt x="99669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773" b="-374773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996696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QUERY OUTPUT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198560" y="7036308"/>
            <a:ext cx="5272649" cy="1577340"/>
            <a:chOff x="0" y="0"/>
            <a:chExt cx="7030199" cy="2103120"/>
          </a:xfrm>
        </p:grpSpPr>
        <p:sp>
          <p:nvSpPr>
            <p:cNvPr id="36" name="Freeform 36" descr="MySQL Workbench screenshot: q1o"/>
            <p:cNvSpPr/>
            <p:nvPr/>
          </p:nvSpPr>
          <p:spPr>
            <a:xfrm>
              <a:off x="0" y="0"/>
              <a:ext cx="7030212" cy="2103120"/>
            </a:xfrm>
            <a:custGeom>
              <a:avLst/>
              <a:gdLst/>
              <a:ahLst/>
              <a:cxnLst/>
              <a:rect l="l" t="t" r="r" b="b"/>
              <a:pathLst>
                <a:path w="7030212" h="2103120">
                  <a:moveTo>
                    <a:pt x="0" y="0"/>
                  </a:moveTo>
                  <a:lnTo>
                    <a:pt x="7030212" y="0"/>
                  </a:lnTo>
                  <a:lnTo>
                    <a:pt x="7030212" y="2103120"/>
                  </a:lnTo>
                  <a:lnTo>
                    <a:pt x="0" y="2103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2" r="-112"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822960" y="8915400"/>
            <a:ext cx="1234440" cy="438912"/>
            <a:chOff x="0" y="0"/>
            <a:chExt cx="1645920" cy="58521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645920" cy="585216"/>
            </a:xfrm>
            <a:custGeom>
              <a:avLst/>
              <a:gdLst/>
              <a:ahLst/>
              <a:cxnLst/>
              <a:rect l="l" t="t" r="r" b="b"/>
              <a:pathLst>
                <a:path w="1645920" h="585216">
                  <a:moveTo>
                    <a:pt x="0" y="0"/>
                  </a:moveTo>
                  <a:lnTo>
                    <a:pt x="1645920" y="0"/>
                  </a:lnTo>
                  <a:lnTo>
                    <a:pt x="1645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01" b="-4801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164592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150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RESULT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116455" y="8905875"/>
            <a:ext cx="1664970" cy="457962"/>
            <a:chOff x="0" y="0"/>
            <a:chExt cx="2219960" cy="61061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219960" cy="610616"/>
            </a:xfrm>
            <a:custGeom>
              <a:avLst/>
              <a:gdLst/>
              <a:ahLst/>
              <a:cxnLst/>
              <a:rect l="l" t="t" r="r" b="b"/>
              <a:pathLst>
                <a:path w="221996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1914652" y="0"/>
                  </a:lnTo>
                  <a:cubicBezTo>
                    <a:pt x="2083308" y="0"/>
                    <a:pt x="2219960" y="136652"/>
                    <a:pt x="2219960" y="305308"/>
                  </a:cubicBezTo>
                  <a:cubicBezTo>
                    <a:pt x="2219960" y="473964"/>
                    <a:pt x="2083308" y="610616"/>
                    <a:pt x="191465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2125980" y="8915400"/>
            <a:ext cx="1645920" cy="438912"/>
            <a:chOff x="0" y="0"/>
            <a:chExt cx="2194560" cy="58521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194560" cy="585216"/>
            </a:xfrm>
            <a:custGeom>
              <a:avLst/>
              <a:gdLst/>
              <a:ahLst/>
              <a:cxnLst/>
              <a:rect l="l" t="t" r="r" b="b"/>
              <a:pathLst>
                <a:path w="2194560" h="585216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068" b="-23068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219456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7 BOOKS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9436608" y="1920240"/>
            <a:ext cx="802386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1F3A5F"/>
                </a:solidFill>
                <a:latin typeface="Aptos Bold"/>
                <a:ea typeface="Aptos Bold"/>
                <a:cs typeface="Aptos Bold"/>
                <a:sym typeface="Aptos Bold"/>
              </a:rPr>
              <a:t>Query 2 — 2024 Loans Not Returned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427083" y="2665095"/>
            <a:ext cx="3304032" cy="403098"/>
            <a:chOff x="0" y="0"/>
            <a:chExt cx="4405376" cy="53746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405376" cy="537464"/>
            </a:xfrm>
            <a:custGeom>
              <a:avLst/>
              <a:gdLst/>
              <a:ahLst/>
              <a:cxnLst/>
              <a:rect l="l" t="t" r="r" b="b"/>
              <a:pathLst>
                <a:path w="4405376" h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lnTo>
                    <a:pt x="4136644" y="0"/>
                  </a:lnTo>
                  <a:cubicBezTo>
                    <a:pt x="4285107" y="0"/>
                    <a:pt x="4405376" y="120269"/>
                    <a:pt x="4405376" y="268732"/>
                  </a:cubicBezTo>
                  <a:cubicBezTo>
                    <a:pt x="4405376" y="417195"/>
                    <a:pt x="4285107" y="537464"/>
                    <a:pt x="4136644" y="537464"/>
                  </a:cubicBezTo>
                  <a:lnTo>
                    <a:pt x="268732" y="537464"/>
                  </a:ln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9436608" y="2674620"/>
            <a:ext cx="3284982" cy="384048"/>
            <a:chOff x="0" y="0"/>
            <a:chExt cx="4379976" cy="51206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379976" cy="512064"/>
            </a:xfrm>
            <a:custGeom>
              <a:avLst/>
              <a:gdLst/>
              <a:ahLst/>
              <a:cxnLst/>
              <a:rect l="l" t="t" r="r" b="b"/>
              <a:pathLst>
                <a:path w="4379976" h="512064">
                  <a:moveTo>
                    <a:pt x="0" y="0"/>
                  </a:moveTo>
                  <a:lnTo>
                    <a:pt x="4379976" y="0"/>
                  </a:lnTo>
                  <a:lnTo>
                    <a:pt x="437997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6666" b="-116666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4379976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WHERE + AND + IS NULL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429464" y="3120104"/>
            <a:ext cx="8038147" cy="3168967"/>
            <a:chOff x="0" y="0"/>
            <a:chExt cx="10717530" cy="422529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0717530" cy="4225290"/>
            </a:xfrm>
            <a:custGeom>
              <a:avLst/>
              <a:gdLst/>
              <a:ahLst/>
              <a:cxnLst/>
              <a:rect l="l" t="t" r="r" b="b"/>
              <a:pathLst>
                <a:path w="10717530" h="422529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10533761" y="0"/>
                  </a:lnTo>
                  <a:cubicBezTo>
                    <a:pt x="10635234" y="0"/>
                    <a:pt x="10717530" y="82296"/>
                    <a:pt x="10717530" y="183769"/>
                  </a:cubicBezTo>
                  <a:lnTo>
                    <a:pt x="10717530" y="4041521"/>
                  </a:lnTo>
                  <a:cubicBezTo>
                    <a:pt x="10717530" y="4142994"/>
                    <a:pt x="10635234" y="4225290"/>
                    <a:pt x="10533761" y="4225290"/>
                  </a:cubicBezTo>
                  <a:lnTo>
                    <a:pt x="183769" y="4225290"/>
                  </a:lnTo>
                  <a:cubicBezTo>
                    <a:pt x="82296" y="4225290"/>
                    <a:pt x="0" y="4142994"/>
                    <a:pt x="0" y="404152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9710928" y="3264408"/>
            <a:ext cx="7475220" cy="342900"/>
            <a:chOff x="0" y="0"/>
            <a:chExt cx="9966960" cy="4572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966960" cy="457200"/>
            </a:xfrm>
            <a:custGeom>
              <a:avLst/>
              <a:gdLst/>
              <a:ahLst/>
              <a:cxnLst/>
              <a:rect l="l" t="t" r="r" b="b"/>
              <a:pathLst>
                <a:path w="9966960" h="457200">
                  <a:moveTo>
                    <a:pt x="0" y="0"/>
                  </a:moveTo>
                  <a:lnTo>
                    <a:pt x="9966960" y="0"/>
                  </a:lnTo>
                  <a:lnTo>
                    <a:pt x="99669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773" b="-374773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0"/>
              <a:ext cx="996696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MYSQL CODE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736817" y="3744468"/>
            <a:ext cx="7423433" cy="2331720"/>
            <a:chOff x="0" y="0"/>
            <a:chExt cx="9897910" cy="3108960"/>
          </a:xfrm>
        </p:grpSpPr>
        <p:sp>
          <p:nvSpPr>
            <p:cNvPr id="57" name="Freeform 57" descr="MySQL Workbench screenshot: q2c"/>
            <p:cNvSpPr/>
            <p:nvPr/>
          </p:nvSpPr>
          <p:spPr>
            <a:xfrm>
              <a:off x="0" y="0"/>
              <a:ext cx="9897872" cy="3108960"/>
            </a:xfrm>
            <a:custGeom>
              <a:avLst/>
              <a:gdLst/>
              <a:ahLst/>
              <a:cxnLst/>
              <a:rect l="l" t="t" r="r" b="b"/>
              <a:pathLst>
                <a:path w="9897872" h="3108960">
                  <a:moveTo>
                    <a:pt x="0" y="0"/>
                  </a:moveTo>
                  <a:lnTo>
                    <a:pt x="9897872" y="0"/>
                  </a:lnTo>
                  <a:lnTo>
                    <a:pt x="9897872" y="3108960"/>
                  </a:lnTo>
                  <a:lnTo>
                    <a:pt x="0" y="3108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>
            <a:off x="9429464" y="6411944"/>
            <a:ext cx="8038147" cy="2414588"/>
            <a:chOff x="0" y="0"/>
            <a:chExt cx="10717530" cy="321945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0717530" cy="3219450"/>
            </a:xfrm>
            <a:custGeom>
              <a:avLst/>
              <a:gdLst/>
              <a:ahLst/>
              <a:cxnLst/>
              <a:rect l="l" t="t" r="r" b="b"/>
              <a:pathLst>
                <a:path w="10717530" h="3219450">
                  <a:moveTo>
                    <a:pt x="0" y="183896"/>
                  </a:moveTo>
                  <a:cubicBezTo>
                    <a:pt x="0" y="82423"/>
                    <a:pt x="82423" y="0"/>
                    <a:pt x="183896" y="0"/>
                  </a:cubicBezTo>
                  <a:lnTo>
                    <a:pt x="10533634" y="0"/>
                  </a:lnTo>
                  <a:cubicBezTo>
                    <a:pt x="10635234" y="0"/>
                    <a:pt x="10717530" y="82423"/>
                    <a:pt x="10717530" y="183896"/>
                  </a:cubicBezTo>
                  <a:lnTo>
                    <a:pt x="10717530" y="3035554"/>
                  </a:lnTo>
                  <a:cubicBezTo>
                    <a:pt x="10717530" y="3137154"/>
                    <a:pt x="10635107" y="3219450"/>
                    <a:pt x="10533634" y="3219450"/>
                  </a:cubicBezTo>
                  <a:lnTo>
                    <a:pt x="183896" y="3219450"/>
                  </a:lnTo>
                  <a:cubicBezTo>
                    <a:pt x="82296" y="3219450"/>
                    <a:pt x="0" y="3137027"/>
                    <a:pt x="0" y="303555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9710928" y="6556248"/>
            <a:ext cx="7475220" cy="342900"/>
            <a:chOff x="0" y="0"/>
            <a:chExt cx="9966960" cy="4572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9966960" cy="457200"/>
            </a:xfrm>
            <a:custGeom>
              <a:avLst/>
              <a:gdLst/>
              <a:ahLst/>
              <a:cxnLst/>
              <a:rect l="l" t="t" r="r" b="b"/>
              <a:pathLst>
                <a:path w="9966960" h="457200">
                  <a:moveTo>
                    <a:pt x="0" y="0"/>
                  </a:moveTo>
                  <a:lnTo>
                    <a:pt x="9966960" y="0"/>
                  </a:lnTo>
                  <a:lnTo>
                    <a:pt x="99669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773" b="-374773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0"/>
              <a:ext cx="996696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QUERY OUTPUT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1632759" y="7036308"/>
            <a:ext cx="3631549" cy="1577340"/>
            <a:chOff x="0" y="0"/>
            <a:chExt cx="4842066" cy="2103120"/>
          </a:xfrm>
        </p:grpSpPr>
        <p:sp>
          <p:nvSpPr>
            <p:cNvPr id="64" name="Freeform 64" descr="MySQL Workbench screenshot: q2o"/>
            <p:cNvSpPr/>
            <p:nvPr/>
          </p:nvSpPr>
          <p:spPr>
            <a:xfrm>
              <a:off x="0" y="0"/>
              <a:ext cx="4842129" cy="2103120"/>
            </a:xfrm>
            <a:custGeom>
              <a:avLst/>
              <a:gdLst/>
              <a:ahLst/>
              <a:cxnLst/>
              <a:rect l="l" t="t" r="r" b="b"/>
              <a:pathLst>
                <a:path w="4842129" h="2103120">
                  <a:moveTo>
                    <a:pt x="0" y="0"/>
                  </a:moveTo>
                  <a:lnTo>
                    <a:pt x="4842129" y="0"/>
                  </a:lnTo>
                  <a:lnTo>
                    <a:pt x="4842129" y="2103120"/>
                  </a:lnTo>
                  <a:lnTo>
                    <a:pt x="0" y="2103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1"/>
              </a:stretch>
            </a:blipFill>
          </p:spPr>
        </p:sp>
      </p:grpSp>
      <p:grpSp>
        <p:nvGrpSpPr>
          <p:cNvPr id="65" name="Group 65"/>
          <p:cNvGrpSpPr/>
          <p:nvPr/>
        </p:nvGrpSpPr>
        <p:grpSpPr>
          <a:xfrm>
            <a:off x="9436608" y="8915400"/>
            <a:ext cx="1234440" cy="438912"/>
            <a:chOff x="0" y="0"/>
            <a:chExt cx="1645920" cy="58521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645920" cy="585216"/>
            </a:xfrm>
            <a:custGeom>
              <a:avLst/>
              <a:gdLst/>
              <a:ahLst/>
              <a:cxnLst/>
              <a:rect l="l" t="t" r="r" b="b"/>
              <a:pathLst>
                <a:path w="1645920" h="585216">
                  <a:moveTo>
                    <a:pt x="0" y="0"/>
                  </a:moveTo>
                  <a:lnTo>
                    <a:pt x="1645920" y="0"/>
                  </a:lnTo>
                  <a:lnTo>
                    <a:pt x="1645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01" b="-4801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0"/>
              <a:ext cx="164592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150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RESULT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0730103" y="8905875"/>
            <a:ext cx="1664970" cy="457962"/>
            <a:chOff x="0" y="0"/>
            <a:chExt cx="2219960" cy="610616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219960" cy="610616"/>
            </a:xfrm>
            <a:custGeom>
              <a:avLst/>
              <a:gdLst/>
              <a:ahLst/>
              <a:cxnLst/>
              <a:rect l="l" t="t" r="r" b="b"/>
              <a:pathLst>
                <a:path w="221996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1914652" y="0"/>
                  </a:lnTo>
                  <a:cubicBezTo>
                    <a:pt x="2083308" y="0"/>
                    <a:pt x="2219960" y="136652"/>
                    <a:pt x="2219960" y="305308"/>
                  </a:cubicBezTo>
                  <a:cubicBezTo>
                    <a:pt x="2219960" y="473964"/>
                    <a:pt x="2083308" y="610616"/>
                    <a:pt x="191465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10739628" y="8915400"/>
            <a:ext cx="1645920" cy="438912"/>
            <a:chOff x="0" y="0"/>
            <a:chExt cx="2194560" cy="585216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194560" cy="585216"/>
            </a:xfrm>
            <a:custGeom>
              <a:avLst/>
              <a:gdLst/>
              <a:ahLst/>
              <a:cxnLst/>
              <a:rect l="l" t="t" r="r" b="b"/>
              <a:pathLst>
                <a:path w="2194560" h="585216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068" b="-23068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0"/>
              <a:ext cx="219456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 LOANS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920">
            <a:off x="811044" y="1805750"/>
            <a:ext cx="16661340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2940">
            <a:off x="815816" y="9569006"/>
            <a:ext cx="16651805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22960" y="9683496"/>
            <a:ext cx="10972800" cy="342900"/>
            <a:chOff x="0" y="0"/>
            <a:chExt cx="146304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1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LIBRARY MANAGEMENT SYSTEM  ·  MYSQL DATABASE PROJECT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850392"/>
            <a:ext cx="16637508" cy="850392"/>
            <a:chOff x="0" y="0"/>
            <a:chExt cx="22183344" cy="11338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3344" cy="1133856"/>
            </a:xfrm>
            <a:custGeom>
              <a:avLst/>
              <a:gdLst/>
              <a:ahLst/>
              <a:cxnLst/>
              <a:rect l="l" t="t" r="r" b="b"/>
              <a:pathLst>
                <a:path w="22183344" h="1133856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1215" b="-33121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2183344" cy="1124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SQL Query — LIKE &amp; CASE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2960" y="466344"/>
            <a:ext cx="10972800" cy="342900"/>
            <a:chOff x="0" y="0"/>
            <a:chExt cx="1463040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SQL QUERY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73400" y="9683496"/>
            <a:ext cx="1687068" cy="342900"/>
            <a:chOff x="0" y="0"/>
            <a:chExt cx="2249424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4" cy="457200"/>
            </a:xfrm>
            <a:custGeom>
              <a:avLst/>
              <a:gdLst/>
              <a:ahLst/>
              <a:cxnLst/>
              <a:rect l="l" t="t" r="r" b="b"/>
              <a:pathLst>
                <a:path w="2249424" h="457200">
                  <a:moveTo>
                    <a:pt x="0" y="0"/>
                  </a:moveTo>
                  <a:lnTo>
                    <a:pt x="2249424" y="0"/>
                  </a:lnTo>
                  <a:lnTo>
                    <a:pt x="22494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866" b="-4586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2494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15 / 25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 rot="5391000">
            <a:off x="5500183" y="5687378"/>
            <a:ext cx="7288559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822960" y="1920240"/>
            <a:ext cx="802386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1F3A5F"/>
                </a:solidFill>
                <a:latin typeface="Aptos Bold"/>
                <a:ea typeface="Aptos Bold"/>
                <a:cs typeface="Aptos Bold"/>
                <a:sym typeface="Aptos Bold"/>
              </a:rPr>
              <a:t>Query 3 — Books Containing “Science”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13435" y="2665095"/>
            <a:ext cx="1088898" cy="403098"/>
            <a:chOff x="0" y="0"/>
            <a:chExt cx="1451864" cy="53746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51864" cy="537464"/>
            </a:xfrm>
            <a:custGeom>
              <a:avLst/>
              <a:gdLst/>
              <a:ahLst/>
              <a:cxnLst/>
              <a:rect l="l" t="t" r="r" b="b"/>
              <a:pathLst>
                <a:path w="1451864" h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lnTo>
                    <a:pt x="1183132" y="0"/>
                  </a:lnTo>
                  <a:cubicBezTo>
                    <a:pt x="1331595" y="0"/>
                    <a:pt x="1451864" y="120269"/>
                    <a:pt x="1451864" y="268732"/>
                  </a:cubicBezTo>
                  <a:cubicBezTo>
                    <a:pt x="1451864" y="417195"/>
                    <a:pt x="1331595" y="537464"/>
                    <a:pt x="1183132" y="537464"/>
                  </a:cubicBezTo>
                  <a:lnTo>
                    <a:pt x="268732" y="537464"/>
                  </a:ln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22960" y="2674620"/>
            <a:ext cx="1069848" cy="384048"/>
            <a:chOff x="0" y="0"/>
            <a:chExt cx="1426464" cy="51206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26464" cy="512064"/>
            </a:xfrm>
            <a:custGeom>
              <a:avLst/>
              <a:gdLst/>
              <a:ahLst/>
              <a:cxnLst/>
              <a:rect l="l" t="t" r="r" b="b"/>
              <a:pathLst>
                <a:path w="1426464" h="512064">
                  <a:moveTo>
                    <a:pt x="0" y="0"/>
                  </a:moveTo>
                  <a:lnTo>
                    <a:pt x="1426464" y="0"/>
                  </a:lnTo>
                  <a:lnTo>
                    <a:pt x="14264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79" b="-4279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1426464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LIKE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5816" y="3120104"/>
            <a:ext cx="8038147" cy="3168967"/>
            <a:chOff x="0" y="0"/>
            <a:chExt cx="10717530" cy="422529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717530" cy="4225290"/>
            </a:xfrm>
            <a:custGeom>
              <a:avLst/>
              <a:gdLst/>
              <a:ahLst/>
              <a:cxnLst/>
              <a:rect l="l" t="t" r="r" b="b"/>
              <a:pathLst>
                <a:path w="10717530" h="422529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10533761" y="0"/>
                  </a:lnTo>
                  <a:cubicBezTo>
                    <a:pt x="10635234" y="0"/>
                    <a:pt x="10717530" y="82296"/>
                    <a:pt x="10717530" y="183769"/>
                  </a:cubicBezTo>
                  <a:lnTo>
                    <a:pt x="10717530" y="4041521"/>
                  </a:lnTo>
                  <a:cubicBezTo>
                    <a:pt x="10717530" y="4142994"/>
                    <a:pt x="10635234" y="4225290"/>
                    <a:pt x="10533761" y="4225290"/>
                  </a:cubicBezTo>
                  <a:lnTo>
                    <a:pt x="183769" y="4225290"/>
                  </a:lnTo>
                  <a:cubicBezTo>
                    <a:pt x="82296" y="4225290"/>
                    <a:pt x="0" y="4142994"/>
                    <a:pt x="0" y="404152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097280" y="3264408"/>
            <a:ext cx="7475220" cy="342900"/>
            <a:chOff x="0" y="0"/>
            <a:chExt cx="9966960" cy="457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966960" cy="457200"/>
            </a:xfrm>
            <a:custGeom>
              <a:avLst/>
              <a:gdLst/>
              <a:ahLst/>
              <a:cxnLst/>
              <a:rect l="l" t="t" r="r" b="b"/>
              <a:pathLst>
                <a:path w="9966960" h="457200">
                  <a:moveTo>
                    <a:pt x="0" y="0"/>
                  </a:moveTo>
                  <a:lnTo>
                    <a:pt x="9966960" y="0"/>
                  </a:lnTo>
                  <a:lnTo>
                    <a:pt x="99669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773" b="-374773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996696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MYSQL CODE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406395" y="3744468"/>
            <a:ext cx="6856981" cy="2331720"/>
            <a:chOff x="0" y="0"/>
            <a:chExt cx="9142641" cy="3108960"/>
          </a:xfrm>
        </p:grpSpPr>
        <p:sp>
          <p:nvSpPr>
            <p:cNvPr id="29" name="Freeform 29" descr="MySQL Workbench screenshot: q3c"/>
            <p:cNvSpPr/>
            <p:nvPr/>
          </p:nvSpPr>
          <p:spPr>
            <a:xfrm>
              <a:off x="0" y="0"/>
              <a:ext cx="9142603" cy="3108960"/>
            </a:xfrm>
            <a:custGeom>
              <a:avLst/>
              <a:gdLst/>
              <a:ahLst/>
              <a:cxnLst/>
              <a:rect l="l" t="t" r="r" b="b"/>
              <a:pathLst>
                <a:path w="9142603" h="3108960">
                  <a:moveTo>
                    <a:pt x="0" y="0"/>
                  </a:moveTo>
                  <a:lnTo>
                    <a:pt x="9142603" y="0"/>
                  </a:lnTo>
                  <a:lnTo>
                    <a:pt x="9142603" y="3108960"/>
                  </a:lnTo>
                  <a:lnTo>
                    <a:pt x="0" y="3108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815816" y="6411944"/>
            <a:ext cx="8038147" cy="2414588"/>
            <a:chOff x="0" y="0"/>
            <a:chExt cx="10717530" cy="321945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717530" cy="3219450"/>
            </a:xfrm>
            <a:custGeom>
              <a:avLst/>
              <a:gdLst/>
              <a:ahLst/>
              <a:cxnLst/>
              <a:rect l="l" t="t" r="r" b="b"/>
              <a:pathLst>
                <a:path w="10717530" h="3219450">
                  <a:moveTo>
                    <a:pt x="0" y="183896"/>
                  </a:moveTo>
                  <a:cubicBezTo>
                    <a:pt x="0" y="82423"/>
                    <a:pt x="82423" y="0"/>
                    <a:pt x="183896" y="0"/>
                  </a:cubicBezTo>
                  <a:lnTo>
                    <a:pt x="10533634" y="0"/>
                  </a:lnTo>
                  <a:cubicBezTo>
                    <a:pt x="10635234" y="0"/>
                    <a:pt x="10717530" y="82423"/>
                    <a:pt x="10717530" y="183896"/>
                  </a:cubicBezTo>
                  <a:lnTo>
                    <a:pt x="10717530" y="3035554"/>
                  </a:lnTo>
                  <a:cubicBezTo>
                    <a:pt x="10717530" y="3137154"/>
                    <a:pt x="10635107" y="3219450"/>
                    <a:pt x="10533634" y="3219450"/>
                  </a:cubicBezTo>
                  <a:lnTo>
                    <a:pt x="183896" y="3219450"/>
                  </a:lnTo>
                  <a:cubicBezTo>
                    <a:pt x="82296" y="3219450"/>
                    <a:pt x="0" y="3137027"/>
                    <a:pt x="0" y="303555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097280" y="6556248"/>
            <a:ext cx="7475220" cy="342900"/>
            <a:chOff x="0" y="0"/>
            <a:chExt cx="9966960" cy="4572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966960" cy="457200"/>
            </a:xfrm>
            <a:custGeom>
              <a:avLst/>
              <a:gdLst/>
              <a:ahLst/>
              <a:cxnLst/>
              <a:rect l="l" t="t" r="r" b="b"/>
              <a:pathLst>
                <a:path w="9966960" h="457200">
                  <a:moveTo>
                    <a:pt x="0" y="0"/>
                  </a:moveTo>
                  <a:lnTo>
                    <a:pt x="9966960" y="0"/>
                  </a:lnTo>
                  <a:lnTo>
                    <a:pt x="99669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773" b="-374773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996696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QUERY OUTPUT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97280" y="7316953"/>
            <a:ext cx="7475220" cy="1016051"/>
            <a:chOff x="0" y="0"/>
            <a:chExt cx="9966960" cy="1354734"/>
          </a:xfrm>
        </p:grpSpPr>
        <p:sp>
          <p:nvSpPr>
            <p:cNvPr id="36" name="Freeform 36" descr="MySQL Workbench screenshot: q3o"/>
            <p:cNvSpPr/>
            <p:nvPr/>
          </p:nvSpPr>
          <p:spPr>
            <a:xfrm>
              <a:off x="0" y="0"/>
              <a:ext cx="9966960" cy="1354709"/>
            </a:xfrm>
            <a:custGeom>
              <a:avLst/>
              <a:gdLst/>
              <a:ahLst/>
              <a:cxnLst/>
              <a:rect l="l" t="t" r="r" b="b"/>
              <a:pathLst>
                <a:path w="9966960" h="1354709">
                  <a:moveTo>
                    <a:pt x="0" y="0"/>
                  </a:moveTo>
                  <a:lnTo>
                    <a:pt x="9966960" y="0"/>
                  </a:lnTo>
                  <a:lnTo>
                    <a:pt x="9966960" y="1354709"/>
                  </a:lnTo>
                  <a:lnTo>
                    <a:pt x="0" y="1354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1"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822960" y="8915400"/>
            <a:ext cx="1234440" cy="438912"/>
            <a:chOff x="0" y="0"/>
            <a:chExt cx="1645920" cy="58521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645920" cy="585216"/>
            </a:xfrm>
            <a:custGeom>
              <a:avLst/>
              <a:gdLst/>
              <a:ahLst/>
              <a:cxnLst/>
              <a:rect l="l" t="t" r="r" b="b"/>
              <a:pathLst>
                <a:path w="1645920" h="585216">
                  <a:moveTo>
                    <a:pt x="0" y="0"/>
                  </a:moveTo>
                  <a:lnTo>
                    <a:pt x="1645920" y="0"/>
                  </a:lnTo>
                  <a:lnTo>
                    <a:pt x="1645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01" b="-4801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164592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150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RESULT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116455" y="8905875"/>
            <a:ext cx="1527810" cy="457962"/>
            <a:chOff x="0" y="0"/>
            <a:chExt cx="2037080" cy="61061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037080" cy="610616"/>
            </a:xfrm>
            <a:custGeom>
              <a:avLst/>
              <a:gdLst/>
              <a:ahLst/>
              <a:cxnLst/>
              <a:rect l="l" t="t" r="r" b="b"/>
              <a:pathLst>
                <a:path w="203708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1731772" y="0"/>
                  </a:lnTo>
                  <a:cubicBezTo>
                    <a:pt x="1900428" y="0"/>
                    <a:pt x="2037080" y="136652"/>
                    <a:pt x="2037080" y="305308"/>
                  </a:cubicBezTo>
                  <a:cubicBezTo>
                    <a:pt x="2037080" y="473964"/>
                    <a:pt x="1900428" y="610616"/>
                    <a:pt x="173177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2125980" y="8915400"/>
            <a:ext cx="1508760" cy="438912"/>
            <a:chOff x="0" y="0"/>
            <a:chExt cx="2011680" cy="58521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011680" cy="585216"/>
            </a:xfrm>
            <a:custGeom>
              <a:avLst/>
              <a:gdLst/>
              <a:ahLst/>
              <a:cxnLst/>
              <a:rect l="l" t="t" r="r" b="b"/>
              <a:pathLst>
                <a:path w="2011680" h="585216">
                  <a:moveTo>
                    <a:pt x="0" y="0"/>
                  </a:moveTo>
                  <a:lnTo>
                    <a:pt x="2011680" y="0"/>
                  </a:lnTo>
                  <a:lnTo>
                    <a:pt x="2011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79" b="-16979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201168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 BOOK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9436608" y="1920240"/>
            <a:ext cx="802386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1F3A5F"/>
                </a:solidFill>
                <a:latin typeface="Aptos Bold"/>
                <a:ea typeface="Aptos Bold"/>
                <a:cs typeface="Aptos Bold"/>
                <a:sym typeface="Aptos Bold"/>
              </a:rPr>
              <a:t>Query 4 — Book Availability Using CASE + EXISTS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427083" y="2665095"/>
            <a:ext cx="2261616" cy="403098"/>
            <a:chOff x="0" y="0"/>
            <a:chExt cx="3015488" cy="53746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015488" cy="537464"/>
            </a:xfrm>
            <a:custGeom>
              <a:avLst/>
              <a:gdLst/>
              <a:ahLst/>
              <a:cxnLst/>
              <a:rect l="l" t="t" r="r" b="b"/>
              <a:pathLst>
                <a:path w="3015488" h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lnTo>
                    <a:pt x="2746756" y="0"/>
                  </a:lnTo>
                  <a:cubicBezTo>
                    <a:pt x="2895219" y="0"/>
                    <a:pt x="3015488" y="120269"/>
                    <a:pt x="3015488" y="268732"/>
                  </a:cubicBezTo>
                  <a:cubicBezTo>
                    <a:pt x="3015488" y="417195"/>
                    <a:pt x="2895219" y="537464"/>
                    <a:pt x="2746756" y="537464"/>
                  </a:cubicBezTo>
                  <a:lnTo>
                    <a:pt x="268732" y="537464"/>
                  </a:ln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9436608" y="2674620"/>
            <a:ext cx="2242566" cy="384048"/>
            <a:chOff x="0" y="0"/>
            <a:chExt cx="2990088" cy="51206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990088" cy="512064"/>
            </a:xfrm>
            <a:custGeom>
              <a:avLst/>
              <a:gdLst/>
              <a:ahLst/>
              <a:cxnLst/>
              <a:rect l="l" t="t" r="r" b="b"/>
              <a:pathLst>
                <a:path w="2990088" h="512064">
                  <a:moveTo>
                    <a:pt x="0" y="0"/>
                  </a:moveTo>
                  <a:lnTo>
                    <a:pt x="2990088" y="0"/>
                  </a:lnTo>
                  <a:lnTo>
                    <a:pt x="299008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778" b="-63778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2990088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CASE + EXISTS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429464" y="3120104"/>
            <a:ext cx="8038147" cy="3168967"/>
            <a:chOff x="0" y="0"/>
            <a:chExt cx="10717530" cy="422529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0717530" cy="4225290"/>
            </a:xfrm>
            <a:custGeom>
              <a:avLst/>
              <a:gdLst/>
              <a:ahLst/>
              <a:cxnLst/>
              <a:rect l="l" t="t" r="r" b="b"/>
              <a:pathLst>
                <a:path w="10717530" h="422529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10533761" y="0"/>
                  </a:lnTo>
                  <a:cubicBezTo>
                    <a:pt x="10635234" y="0"/>
                    <a:pt x="10717530" y="82296"/>
                    <a:pt x="10717530" y="183769"/>
                  </a:cubicBezTo>
                  <a:lnTo>
                    <a:pt x="10717530" y="4041521"/>
                  </a:lnTo>
                  <a:cubicBezTo>
                    <a:pt x="10717530" y="4142994"/>
                    <a:pt x="10635234" y="4225290"/>
                    <a:pt x="10533761" y="4225290"/>
                  </a:cubicBezTo>
                  <a:lnTo>
                    <a:pt x="183769" y="4225290"/>
                  </a:lnTo>
                  <a:cubicBezTo>
                    <a:pt x="82296" y="4225290"/>
                    <a:pt x="0" y="4142994"/>
                    <a:pt x="0" y="404152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9710928" y="3264408"/>
            <a:ext cx="7475220" cy="342900"/>
            <a:chOff x="0" y="0"/>
            <a:chExt cx="9966960" cy="4572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966960" cy="457200"/>
            </a:xfrm>
            <a:custGeom>
              <a:avLst/>
              <a:gdLst/>
              <a:ahLst/>
              <a:cxnLst/>
              <a:rect l="l" t="t" r="r" b="b"/>
              <a:pathLst>
                <a:path w="9966960" h="457200">
                  <a:moveTo>
                    <a:pt x="0" y="0"/>
                  </a:moveTo>
                  <a:lnTo>
                    <a:pt x="9966960" y="0"/>
                  </a:lnTo>
                  <a:lnTo>
                    <a:pt x="99669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773" b="-374773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0"/>
              <a:ext cx="996696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MYSQL CODE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1827088" y="3744468"/>
            <a:ext cx="3242901" cy="2331720"/>
            <a:chOff x="0" y="0"/>
            <a:chExt cx="4323867" cy="3108960"/>
          </a:xfrm>
        </p:grpSpPr>
        <p:sp>
          <p:nvSpPr>
            <p:cNvPr id="57" name="Freeform 57" descr="MySQL Workbench screenshot: q4c"/>
            <p:cNvSpPr/>
            <p:nvPr/>
          </p:nvSpPr>
          <p:spPr>
            <a:xfrm>
              <a:off x="0" y="0"/>
              <a:ext cx="4323842" cy="3108960"/>
            </a:xfrm>
            <a:custGeom>
              <a:avLst/>
              <a:gdLst/>
              <a:ahLst/>
              <a:cxnLst/>
              <a:rect l="l" t="t" r="r" b="b"/>
              <a:pathLst>
                <a:path w="4323842" h="3108960">
                  <a:moveTo>
                    <a:pt x="0" y="0"/>
                  </a:moveTo>
                  <a:lnTo>
                    <a:pt x="4323842" y="0"/>
                  </a:lnTo>
                  <a:lnTo>
                    <a:pt x="4323842" y="3108960"/>
                  </a:lnTo>
                  <a:lnTo>
                    <a:pt x="0" y="3108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>
            <a:off x="9429464" y="6411944"/>
            <a:ext cx="8038147" cy="2414588"/>
            <a:chOff x="0" y="0"/>
            <a:chExt cx="10717530" cy="321945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0717530" cy="3219450"/>
            </a:xfrm>
            <a:custGeom>
              <a:avLst/>
              <a:gdLst/>
              <a:ahLst/>
              <a:cxnLst/>
              <a:rect l="l" t="t" r="r" b="b"/>
              <a:pathLst>
                <a:path w="10717530" h="3219450">
                  <a:moveTo>
                    <a:pt x="0" y="183896"/>
                  </a:moveTo>
                  <a:cubicBezTo>
                    <a:pt x="0" y="82423"/>
                    <a:pt x="82423" y="0"/>
                    <a:pt x="183896" y="0"/>
                  </a:cubicBezTo>
                  <a:lnTo>
                    <a:pt x="10533634" y="0"/>
                  </a:lnTo>
                  <a:cubicBezTo>
                    <a:pt x="10635234" y="0"/>
                    <a:pt x="10717530" y="82423"/>
                    <a:pt x="10717530" y="183896"/>
                  </a:cubicBezTo>
                  <a:lnTo>
                    <a:pt x="10717530" y="3035554"/>
                  </a:lnTo>
                  <a:cubicBezTo>
                    <a:pt x="10717530" y="3137154"/>
                    <a:pt x="10635107" y="3219450"/>
                    <a:pt x="10533634" y="3219450"/>
                  </a:cubicBezTo>
                  <a:lnTo>
                    <a:pt x="183896" y="3219450"/>
                  </a:lnTo>
                  <a:cubicBezTo>
                    <a:pt x="82296" y="3219450"/>
                    <a:pt x="0" y="3137027"/>
                    <a:pt x="0" y="303555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9710928" y="6556248"/>
            <a:ext cx="7475220" cy="342900"/>
            <a:chOff x="0" y="0"/>
            <a:chExt cx="9966960" cy="4572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9966960" cy="457200"/>
            </a:xfrm>
            <a:custGeom>
              <a:avLst/>
              <a:gdLst/>
              <a:ahLst/>
              <a:cxnLst/>
              <a:rect l="l" t="t" r="r" b="b"/>
              <a:pathLst>
                <a:path w="9966960" h="457200">
                  <a:moveTo>
                    <a:pt x="0" y="0"/>
                  </a:moveTo>
                  <a:lnTo>
                    <a:pt x="9966960" y="0"/>
                  </a:lnTo>
                  <a:lnTo>
                    <a:pt x="99669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773" b="-374773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0"/>
              <a:ext cx="996696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QUERY OUTPUT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2366565" y="7036308"/>
            <a:ext cx="2163956" cy="1577340"/>
            <a:chOff x="0" y="0"/>
            <a:chExt cx="2885275" cy="2103120"/>
          </a:xfrm>
        </p:grpSpPr>
        <p:sp>
          <p:nvSpPr>
            <p:cNvPr id="64" name="Freeform 64" descr="MySQL Workbench screenshot: q4o"/>
            <p:cNvSpPr/>
            <p:nvPr/>
          </p:nvSpPr>
          <p:spPr>
            <a:xfrm>
              <a:off x="0" y="0"/>
              <a:ext cx="2885313" cy="2103120"/>
            </a:xfrm>
            <a:custGeom>
              <a:avLst/>
              <a:gdLst/>
              <a:ahLst/>
              <a:cxnLst/>
              <a:rect l="l" t="t" r="r" b="b"/>
              <a:pathLst>
                <a:path w="2885313" h="2103120">
                  <a:moveTo>
                    <a:pt x="0" y="0"/>
                  </a:moveTo>
                  <a:lnTo>
                    <a:pt x="2885313" y="0"/>
                  </a:lnTo>
                  <a:lnTo>
                    <a:pt x="2885313" y="2103120"/>
                  </a:lnTo>
                  <a:lnTo>
                    <a:pt x="0" y="2103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1"/>
              </a:stretch>
            </a:blipFill>
          </p:spPr>
        </p:sp>
      </p:grpSp>
      <p:grpSp>
        <p:nvGrpSpPr>
          <p:cNvPr id="65" name="Group 65"/>
          <p:cNvGrpSpPr/>
          <p:nvPr/>
        </p:nvGrpSpPr>
        <p:grpSpPr>
          <a:xfrm>
            <a:off x="9436608" y="8915400"/>
            <a:ext cx="1234440" cy="438912"/>
            <a:chOff x="0" y="0"/>
            <a:chExt cx="1645920" cy="58521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645920" cy="585216"/>
            </a:xfrm>
            <a:custGeom>
              <a:avLst/>
              <a:gdLst/>
              <a:ahLst/>
              <a:cxnLst/>
              <a:rect l="l" t="t" r="r" b="b"/>
              <a:pathLst>
                <a:path w="1645920" h="585216">
                  <a:moveTo>
                    <a:pt x="0" y="0"/>
                  </a:moveTo>
                  <a:lnTo>
                    <a:pt x="1645920" y="0"/>
                  </a:lnTo>
                  <a:lnTo>
                    <a:pt x="1645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01" b="-4801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0"/>
              <a:ext cx="164592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150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RESULT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0730103" y="8905875"/>
            <a:ext cx="4408170" cy="457962"/>
            <a:chOff x="0" y="0"/>
            <a:chExt cx="5877560" cy="610616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5877560" cy="610616"/>
            </a:xfrm>
            <a:custGeom>
              <a:avLst/>
              <a:gdLst/>
              <a:ahLst/>
              <a:cxnLst/>
              <a:rect l="l" t="t" r="r" b="b"/>
              <a:pathLst>
                <a:path w="587756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5572252" y="0"/>
                  </a:lnTo>
                  <a:cubicBezTo>
                    <a:pt x="5740908" y="0"/>
                    <a:pt x="5877560" y="136652"/>
                    <a:pt x="5877560" y="305308"/>
                  </a:cubicBezTo>
                  <a:cubicBezTo>
                    <a:pt x="5877560" y="473964"/>
                    <a:pt x="5740908" y="610616"/>
                    <a:pt x="557225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10739628" y="8915400"/>
            <a:ext cx="4389120" cy="438912"/>
            <a:chOff x="0" y="0"/>
            <a:chExt cx="5852160" cy="585216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5852160" cy="585216"/>
            </a:xfrm>
            <a:custGeom>
              <a:avLst/>
              <a:gdLst/>
              <a:ahLst/>
              <a:cxnLst/>
              <a:rect l="l" t="t" r="r" b="b"/>
              <a:pathLst>
                <a:path w="5852160" h="585216">
                  <a:moveTo>
                    <a:pt x="0" y="0"/>
                  </a:moveTo>
                  <a:lnTo>
                    <a:pt x="5852160" y="0"/>
                  </a:lnTo>
                  <a:lnTo>
                    <a:pt x="5852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0"/>
              <a:ext cx="585216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 CHECKED OUT · 6 AVAILABLE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920">
            <a:off x="811044" y="1805750"/>
            <a:ext cx="16661340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2940">
            <a:off x="815816" y="9569006"/>
            <a:ext cx="16651805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22960" y="9683496"/>
            <a:ext cx="10972800" cy="342900"/>
            <a:chOff x="0" y="0"/>
            <a:chExt cx="146304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1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LIBRARY MANAGEMENT SYSTEM  ·  MYSQL DATABASE PROJECT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850392"/>
            <a:ext cx="16637508" cy="850392"/>
            <a:chOff x="0" y="0"/>
            <a:chExt cx="22183344" cy="11338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3344" cy="1133856"/>
            </a:xfrm>
            <a:custGeom>
              <a:avLst/>
              <a:gdLst/>
              <a:ahLst/>
              <a:cxnLst/>
              <a:rect l="l" t="t" r="r" b="b"/>
              <a:pathLst>
                <a:path w="22183344" h="1133856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1215" b="-33121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2183344" cy="1124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SQL Query — Subquery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2960" y="466344"/>
            <a:ext cx="10972800" cy="342900"/>
            <a:chOff x="0" y="0"/>
            <a:chExt cx="1463040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SQL QUERY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73400" y="9683496"/>
            <a:ext cx="1687068" cy="342900"/>
            <a:chOff x="0" y="0"/>
            <a:chExt cx="2249424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4" cy="457200"/>
            </a:xfrm>
            <a:custGeom>
              <a:avLst/>
              <a:gdLst/>
              <a:ahLst/>
              <a:cxnLst/>
              <a:rect l="l" t="t" r="r" b="b"/>
              <a:pathLst>
                <a:path w="2249424" h="457200">
                  <a:moveTo>
                    <a:pt x="0" y="0"/>
                  </a:moveTo>
                  <a:lnTo>
                    <a:pt x="2249424" y="0"/>
                  </a:lnTo>
                  <a:lnTo>
                    <a:pt x="22494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866" b="-4586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2494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16 / 25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2960" y="1988820"/>
            <a:ext cx="12344400" cy="548640"/>
            <a:chOff x="0" y="0"/>
            <a:chExt cx="16459200" cy="731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459200" cy="731520"/>
            </a:xfrm>
            <a:custGeom>
              <a:avLst/>
              <a:gdLst/>
              <a:ahLst/>
              <a:cxnLst/>
              <a:rect l="l" t="t" r="r" b="b"/>
              <a:pathLst>
                <a:path w="16459200" h="73152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8413" b="-38841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164592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F3A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Query 5 — Members Who Borrowed More Than 5 Books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859887" y="2047875"/>
            <a:ext cx="1610106" cy="403098"/>
            <a:chOff x="0" y="0"/>
            <a:chExt cx="2146808" cy="53746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46808" cy="537464"/>
            </a:xfrm>
            <a:custGeom>
              <a:avLst/>
              <a:gdLst/>
              <a:ahLst/>
              <a:cxnLst/>
              <a:rect l="l" t="t" r="r" b="b"/>
              <a:pathLst>
                <a:path w="2146808" h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lnTo>
                    <a:pt x="1878076" y="0"/>
                  </a:lnTo>
                  <a:cubicBezTo>
                    <a:pt x="2026539" y="0"/>
                    <a:pt x="2146808" y="120269"/>
                    <a:pt x="2146808" y="268732"/>
                  </a:cubicBezTo>
                  <a:cubicBezTo>
                    <a:pt x="2146808" y="417195"/>
                    <a:pt x="2026539" y="537464"/>
                    <a:pt x="1878076" y="537464"/>
                  </a:cubicBezTo>
                  <a:lnTo>
                    <a:pt x="268732" y="537464"/>
                  </a:ln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5869412" y="2057400"/>
            <a:ext cx="1591056" cy="384048"/>
            <a:chOff x="0" y="0"/>
            <a:chExt cx="2121408" cy="51206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21408" cy="512064"/>
            </a:xfrm>
            <a:custGeom>
              <a:avLst/>
              <a:gdLst/>
              <a:ahLst/>
              <a:cxnLst/>
              <a:rect l="l" t="t" r="r" b="b"/>
              <a:pathLst>
                <a:path w="2121408" h="512064">
                  <a:moveTo>
                    <a:pt x="0" y="0"/>
                  </a:moveTo>
                  <a:lnTo>
                    <a:pt x="2121408" y="0"/>
                  </a:lnTo>
                  <a:lnTo>
                    <a:pt x="212140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723" b="-30723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2121408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SUBQUERY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15816" y="2736056"/>
            <a:ext cx="7283768" cy="4952047"/>
            <a:chOff x="0" y="0"/>
            <a:chExt cx="9711690" cy="660273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711690" cy="6602730"/>
            </a:xfrm>
            <a:custGeom>
              <a:avLst/>
              <a:gdLst/>
              <a:ahLst/>
              <a:cxnLst/>
              <a:rect l="l" t="t" r="r" b="b"/>
              <a:pathLst>
                <a:path w="9711690" h="6602730">
                  <a:moveTo>
                    <a:pt x="0" y="183388"/>
                  </a:moveTo>
                  <a:cubicBezTo>
                    <a:pt x="0" y="82169"/>
                    <a:pt x="82169" y="0"/>
                    <a:pt x="183388" y="0"/>
                  </a:cubicBezTo>
                  <a:lnTo>
                    <a:pt x="9528302" y="0"/>
                  </a:lnTo>
                  <a:cubicBezTo>
                    <a:pt x="9629648" y="0"/>
                    <a:pt x="9711690" y="82169"/>
                    <a:pt x="9711690" y="183388"/>
                  </a:cubicBezTo>
                  <a:lnTo>
                    <a:pt x="9711690" y="6419342"/>
                  </a:lnTo>
                  <a:cubicBezTo>
                    <a:pt x="9711690" y="6520688"/>
                    <a:pt x="9629521" y="6602730"/>
                    <a:pt x="9528302" y="6602730"/>
                  </a:cubicBezTo>
                  <a:lnTo>
                    <a:pt x="183388" y="6602730"/>
                  </a:lnTo>
                  <a:cubicBezTo>
                    <a:pt x="82169" y="6602730"/>
                    <a:pt x="0" y="6520561"/>
                    <a:pt x="0" y="641934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097280" y="2880360"/>
            <a:ext cx="6720840" cy="342900"/>
            <a:chOff x="0" y="0"/>
            <a:chExt cx="8961120" cy="457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961120" cy="457200"/>
            </a:xfrm>
            <a:custGeom>
              <a:avLst/>
              <a:gdLst/>
              <a:ahLst/>
              <a:cxnLst/>
              <a:rect l="l" t="t" r="r" b="b"/>
              <a:pathLst>
                <a:path w="8961120" h="457200">
                  <a:moveTo>
                    <a:pt x="0" y="0"/>
                  </a:moveTo>
                  <a:lnTo>
                    <a:pt x="8961120" y="0"/>
                  </a:lnTo>
                  <a:lnTo>
                    <a:pt x="89611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1906" b="-331906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896112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MYSQL CODE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73928" y="3360420"/>
            <a:ext cx="6567545" cy="4114800"/>
            <a:chOff x="0" y="0"/>
            <a:chExt cx="8756726" cy="5486400"/>
          </a:xfrm>
        </p:grpSpPr>
        <p:sp>
          <p:nvSpPr>
            <p:cNvPr id="30" name="Freeform 30" descr="MySQL Workbench screenshot: q5c"/>
            <p:cNvSpPr/>
            <p:nvPr/>
          </p:nvSpPr>
          <p:spPr>
            <a:xfrm>
              <a:off x="0" y="0"/>
              <a:ext cx="8756777" cy="5486400"/>
            </a:xfrm>
            <a:custGeom>
              <a:avLst/>
              <a:gdLst/>
              <a:ahLst/>
              <a:cxnLst/>
              <a:rect l="l" t="t" r="r" b="b"/>
              <a:pathLst>
                <a:path w="8756777" h="5486400">
                  <a:moveTo>
                    <a:pt x="0" y="0"/>
                  </a:moveTo>
                  <a:lnTo>
                    <a:pt x="8756777" y="0"/>
                  </a:lnTo>
                  <a:lnTo>
                    <a:pt x="8756777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8359616" y="2736056"/>
            <a:ext cx="9107996" cy="4952047"/>
            <a:chOff x="0" y="0"/>
            <a:chExt cx="12143994" cy="660273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143994" cy="6602730"/>
            </a:xfrm>
            <a:custGeom>
              <a:avLst/>
              <a:gdLst/>
              <a:ahLst/>
              <a:cxnLst/>
              <a:rect l="l" t="t" r="r" b="b"/>
              <a:pathLst>
                <a:path w="12143994" h="6602730">
                  <a:moveTo>
                    <a:pt x="0" y="183388"/>
                  </a:moveTo>
                  <a:cubicBezTo>
                    <a:pt x="0" y="82169"/>
                    <a:pt x="82169" y="0"/>
                    <a:pt x="183388" y="0"/>
                  </a:cubicBezTo>
                  <a:lnTo>
                    <a:pt x="11960606" y="0"/>
                  </a:lnTo>
                  <a:cubicBezTo>
                    <a:pt x="12061952" y="0"/>
                    <a:pt x="12143994" y="82169"/>
                    <a:pt x="12143994" y="183388"/>
                  </a:cubicBezTo>
                  <a:lnTo>
                    <a:pt x="12143994" y="6419342"/>
                  </a:lnTo>
                  <a:cubicBezTo>
                    <a:pt x="12143994" y="6520688"/>
                    <a:pt x="12061825" y="6602730"/>
                    <a:pt x="11960606" y="6602730"/>
                  </a:cubicBezTo>
                  <a:lnTo>
                    <a:pt x="183388" y="6602730"/>
                  </a:lnTo>
                  <a:cubicBezTo>
                    <a:pt x="82169" y="6602730"/>
                    <a:pt x="0" y="6520561"/>
                    <a:pt x="0" y="641934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8641080" y="2880360"/>
            <a:ext cx="8545068" cy="342900"/>
            <a:chOff x="0" y="0"/>
            <a:chExt cx="11393424" cy="4572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393424" cy="457200"/>
            </a:xfrm>
            <a:custGeom>
              <a:avLst/>
              <a:gdLst/>
              <a:ahLst/>
              <a:cxnLst/>
              <a:rect l="l" t="t" r="r" b="b"/>
              <a:pathLst>
                <a:path w="11393424" h="457200">
                  <a:moveTo>
                    <a:pt x="0" y="0"/>
                  </a:moveTo>
                  <a:lnTo>
                    <a:pt x="11393424" y="0"/>
                  </a:lnTo>
                  <a:lnTo>
                    <a:pt x="113934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5567" b="-435567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113934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QUERY OUTPUT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641080" y="4784284"/>
            <a:ext cx="8545068" cy="1267082"/>
            <a:chOff x="0" y="0"/>
            <a:chExt cx="11393424" cy="1689443"/>
          </a:xfrm>
        </p:grpSpPr>
        <p:sp>
          <p:nvSpPr>
            <p:cNvPr id="37" name="Freeform 37" descr="MySQL Workbench screenshot: q5o"/>
            <p:cNvSpPr/>
            <p:nvPr/>
          </p:nvSpPr>
          <p:spPr>
            <a:xfrm>
              <a:off x="0" y="0"/>
              <a:ext cx="11393424" cy="1689481"/>
            </a:xfrm>
            <a:custGeom>
              <a:avLst/>
              <a:gdLst/>
              <a:ahLst/>
              <a:cxnLst/>
              <a:rect l="l" t="t" r="r" b="b"/>
              <a:pathLst>
                <a:path w="11393424" h="1689481">
                  <a:moveTo>
                    <a:pt x="0" y="0"/>
                  </a:moveTo>
                  <a:lnTo>
                    <a:pt x="11393424" y="0"/>
                  </a:lnTo>
                  <a:lnTo>
                    <a:pt x="11393424" y="1689481"/>
                  </a:lnTo>
                  <a:lnTo>
                    <a:pt x="0" y="1689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2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822960" y="8023860"/>
            <a:ext cx="1234440" cy="438912"/>
            <a:chOff x="0" y="0"/>
            <a:chExt cx="1645920" cy="58521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645920" cy="585216"/>
            </a:xfrm>
            <a:custGeom>
              <a:avLst/>
              <a:gdLst/>
              <a:ahLst/>
              <a:cxnLst/>
              <a:rect l="l" t="t" r="r" b="b"/>
              <a:pathLst>
                <a:path w="1645920" h="585216">
                  <a:moveTo>
                    <a:pt x="0" y="0"/>
                  </a:moveTo>
                  <a:lnTo>
                    <a:pt x="1645920" y="0"/>
                  </a:lnTo>
                  <a:lnTo>
                    <a:pt x="1645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01" b="-4801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164592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150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RESULT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116455" y="8014335"/>
            <a:ext cx="4956810" cy="457962"/>
            <a:chOff x="0" y="0"/>
            <a:chExt cx="6609080" cy="61061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609080" cy="610616"/>
            </a:xfrm>
            <a:custGeom>
              <a:avLst/>
              <a:gdLst/>
              <a:ahLst/>
              <a:cxnLst/>
              <a:rect l="l" t="t" r="r" b="b"/>
              <a:pathLst>
                <a:path w="660908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6303772" y="0"/>
                  </a:lnTo>
                  <a:cubicBezTo>
                    <a:pt x="6472428" y="0"/>
                    <a:pt x="6609080" y="136652"/>
                    <a:pt x="6609080" y="305308"/>
                  </a:cubicBezTo>
                  <a:cubicBezTo>
                    <a:pt x="6609080" y="473964"/>
                    <a:pt x="6472428" y="610616"/>
                    <a:pt x="630377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2125980" y="8023860"/>
            <a:ext cx="4937760" cy="438912"/>
            <a:chOff x="0" y="0"/>
            <a:chExt cx="6583680" cy="58521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583680" cy="585216"/>
            </a:xfrm>
            <a:custGeom>
              <a:avLst/>
              <a:gdLst/>
              <a:ahLst/>
              <a:cxnLst/>
              <a:rect l="l" t="t" r="r" b="b"/>
              <a:pathLst>
                <a:path w="6583680" h="585216">
                  <a:moveTo>
                    <a:pt x="0" y="0"/>
                  </a:moveTo>
                  <a:lnTo>
                    <a:pt x="6583680" y="0"/>
                  </a:lnTo>
                  <a:lnTo>
                    <a:pt x="6583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206" b="-169206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658368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 MEMBER · JOHN SMITH — 7 LOANS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22960" y="8641080"/>
            <a:ext cx="16637508" cy="685800"/>
            <a:chOff x="0" y="0"/>
            <a:chExt cx="22183344" cy="9144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2183344" cy="914400"/>
            </a:xfrm>
            <a:custGeom>
              <a:avLst/>
              <a:gdLst/>
              <a:ahLst/>
              <a:cxnLst/>
              <a:rect l="l" t="t" r="r" b="b"/>
              <a:pathLst>
                <a:path w="22183344" h="914400">
                  <a:moveTo>
                    <a:pt x="0" y="0"/>
                  </a:moveTo>
                  <a:lnTo>
                    <a:pt x="22183344" y="0"/>
                  </a:lnTo>
                  <a:lnTo>
                    <a:pt x="2218334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2707" b="-422707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22183344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The subquery groups loans by MemberID and keeps members with more than five loans.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920">
            <a:off x="811044" y="1805750"/>
            <a:ext cx="16661340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2940">
            <a:off x="815816" y="9569006"/>
            <a:ext cx="16651805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22960" y="9683496"/>
            <a:ext cx="10972800" cy="342900"/>
            <a:chOff x="0" y="0"/>
            <a:chExt cx="146304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1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LIBRARY MANAGEMENT SYSTEM  ·  MYSQL DATABASE PROJECT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850392"/>
            <a:ext cx="16637508" cy="850392"/>
            <a:chOff x="0" y="0"/>
            <a:chExt cx="22183344" cy="11338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3344" cy="1133856"/>
            </a:xfrm>
            <a:custGeom>
              <a:avLst/>
              <a:gdLst/>
              <a:ahLst/>
              <a:cxnLst/>
              <a:rect l="l" t="t" r="r" b="b"/>
              <a:pathLst>
                <a:path w="22183344" h="1133856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1215" b="-33121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2183344" cy="1124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SQL Query — GROUP BY &amp; HAVING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2960" y="466344"/>
            <a:ext cx="10972800" cy="342900"/>
            <a:chOff x="0" y="0"/>
            <a:chExt cx="1463040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SQL QUERY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73400" y="9683496"/>
            <a:ext cx="1687068" cy="342900"/>
            <a:chOff x="0" y="0"/>
            <a:chExt cx="2249424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4" cy="457200"/>
            </a:xfrm>
            <a:custGeom>
              <a:avLst/>
              <a:gdLst/>
              <a:ahLst/>
              <a:cxnLst/>
              <a:rect l="l" t="t" r="r" b="b"/>
              <a:pathLst>
                <a:path w="2249424" h="457200">
                  <a:moveTo>
                    <a:pt x="0" y="0"/>
                  </a:moveTo>
                  <a:lnTo>
                    <a:pt x="2249424" y="0"/>
                  </a:lnTo>
                  <a:lnTo>
                    <a:pt x="22494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866" b="-4586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2494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17 / 25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 rot="5391000">
            <a:off x="5500183" y="5687378"/>
            <a:ext cx="7288559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822960" y="1920240"/>
            <a:ext cx="802386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1F3A5F"/>
                </a:solidFill>
                <a:latin typeface="Aptos Bold"/>
                <a:ea typeface="Aptos Bold"/>
                <a:cs typeface="Aptos Bold"/>
                <a:sym typeface="Aptos Bold"/>
              </a:rPr>
              <a:t>Query 6 — Total Books Borrowed by Each Member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13435" y="2665095"/>
            <a:ext cx="1610106" cy="403098"/>
            <a:chOff x="0" y="0"/>
            <a:chExt cx="2146808" cy="53746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46808" cy="537464"/>
            </a:xfrm>
            <a:custGeom>
              <a:avLst/>
              <a:gdLst/>
              <a:ahLst/>
              <a:cxnLst/>
              <a:rect l="l" t="t" r="r" b="b"/>
              <a:pathLst>
                <a:path w="2146808" h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lnTo>
                    <a:pt x="1878076" y="0"/>
                  </a:lnTo>
                  <a:cubicBezTo>
                    <a:pt x="2026539" y="0"/>
                    <a:pt x="2146808" y="120269"/>
                    <a:pt x="2146808" y="268732"/>
                  </a:cubicBezTo>
                  <a:cubicBezTo>
                    <a:pt x="2146808" y="417195"/>
                    <a:pt x="2026539" y="537464"/>
                    <a:pt x="1878076" y="537464"/>
                  </a:cubicBezTo>
                  <a:lnTo>
                    <a:pt x="268732" y="537464"/>
                  </a:ln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22960" y="2674620"/>
            <a:ext cx="1591056" cy="384048"/>
            <a:chOff x="0" y="0"/>
            <a:chExt cx="2121408" cy="51206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21408" cy="512064"/>
            </a:xfrm>
            <a:custGeom>
              <a:avLst/>
              <a:gdLst/>
              <a:ahLst/>
              <a:cxnLst/>
              <a:rect l="l" t="t" r="r" b="b"/>
              <a:pathLst>
                <a:path w="2121408" h="512064">
                  <a:moveTo>
                    <a:pt x="0" y="0"/>
                  </a:moveTo>
                  <a:lnTo>
                    <a:pt x="2121408" y="0"/>
                  </a:lnTo>
                  <a:lnTo>
                    <a:pt x="212140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723" b="-3072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2121408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GROUP BY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5816" y="3120104"/>
            <a:ext cx="8038147" cy="3168967"/>
            <a:chOff x="0" y="0"/>
            <a:chExt cx="10717530" cy="422529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717530" cy="4225290"/>
            </a:xfrm>
            <a:custGeom>
              <a:avLst/>
              <a:gdLst/>
              <a:ahLst/>
              <a:cxnLst/>
              <a:rect l="l" t="t" r="r" b="b"/>
              <a:pathLst>
                <a:path w="10717530" h="422529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10533761" y="0"/>
                  </a:lnTo>
                  <a:cubicBezTo>
                    <a:pt x="10635234" y="0"/>
                    <a:pt x="10717530" y="82296"/>
                    <a:pt x="10717530" y="183769"/>
                  </a:cubicBezTo>
                  <a:lnTo>
                    <a:pt x="10717530" y="4041521"/>
                  </a:lnTo>
                  <a:cubicBezTo>
                    <a:pt x="10717530" y="4142994"/>
                    <a:pt x="10635234" y="4225290"/>
                    <a:pt x="10533761" y="4225290"/>
                  </a:cubicBezTo>
                  <a:lnTo>
                    <a:pt x="183769" y="4225290"/>
                  </a:lnTo>
                  <a:cubicBezTo>
                    <a:pt x="82296" y="4225290"/>
                    <a:pt x="0" y="4142994"/>
                    <a:pt x="0" y="404152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097280" y="3264408"/>
            <a:ext cx="7475220" cy="342900"/>
            <a:chOff x="0" y="0"/>
            <a:chExt cx="9966960" cy="457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966960" cy="457200"/>
            </a:xfrm>
            <a:custGeom>
              <a:avLst/>
              <a:gdLst/>
              <a:ahLst/>
              <a:cxnLst/>
              <a:rect l="l" t="t" r="r" b="b"/>
              <a:pathLst>
                <a:path w="9966960" h="457200">
                  <a:moveTo>
                    <a:pt x="0" y="0"/>
                  </a:moveTo>
                  <a:lnTo>
                    <a:pt x="9966960" y="0"/>
                  </a:lnTo>
                  <a:lnTo>
                    <a:pt x="99669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773" b="-374773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996696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MYSQL CODE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694355" y="3744468"/>
            <a:ext cx="6281071" cy="2331720"/>
            <a:chOff x="0" y="0"/>
            <a:chExt cx="8374761" cy="3108960"/>
          </a:xfrm>
        </p:grpSpPr>
        <p:sp>
          <p:nvSpPr>
            <p:cNvPr id="29" name="Freeform 29" descr="MySQL Workbench screenshot: q6c"/>
            <p:cNvSpPr/>
            <p:nvPr/>
          </p:nvSpPr>
          <p:spPr>
            <a:xfrm>
              <a:off x="0" y="0"/>
              <a:ext cx="8374761" cy="3108960"/>
            </a:xfrm>
            <a:custGeom>
              <a:avLst/>
              <a:gdLst/>
              <a:ahLst/>
              <a:cxnLst/>
              <a:rect l="l" t="t" r="r" b="b"/>
              <a:pathLst>
                <a:path w="8374761" h="3108960">
                  <a:moveTo>
                    <a:pt x="0" y="0"/>
                  </a:moveTo>
                  <a:lnTo>
                    <a:pt x="8374761" y="0"/>
                  </a:lnTo>
                  <a:lnTo>
                    <a:pt x="8374761" y="3108960"/>
                  </a:lnTo>
                  <a:lnTo>
                    <a:pt x="0" y="3108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815816" y="6411944"/>
            <a:ext cx="8038147" cy="2414588"/>
            <a:chOff x="0" y="0"/>
            <a:chExt cx="10717530" cy="321945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717530" cy="3219450"/>
            </a:xfrm>
            <a:custGeom>
              <a:avLst/>
              <a:gdLst/>
              <a:ahLst/>
              <a:cxnLst/>
              <a:rect l="l" t="t" r="r" b="b"/>
              <a:pathLst>
                <a:path w="10717530" h="3219450">
                  <a:moveTo>
                    <a:pt x="0" y="183896"/>
                  </a:moveTo>
                  <a:cubicBezTo>
                    <a:pt x="0" y="82423"/>
                    <a:pt x="82423" y="0"/>
                    <a:pt x="183896" y="0"/>
                  </a:cubicBezTo>
                  <a:lnTo>
                    <a:pt x="10533634" y="0"/>
                  </a:lnTo>
                  <a:cubicBezTo>
                    <a:pt x="10635234" y="0"/>
                    <a:pt x="10717530" y="82423"/>
                    <a:pt x="10717530" y="183896"/>
                  </a:cubicBezTo>
                  <a:lnTo>
                    <a:pt x="10717530" y="3035554"/>
                  </a:lnTo>
                  <a:cubicBezTo>
                    <a:pt x="10717530" y="3137154"/>
                    <a:pt x="10635107" y="3219450"/>
                    <a:pt x="10533634" y="3219450"/>
                  </a:cubicBezTo>
                  <a:lnTo>
                    <a:pt x="183896" y="3219450"/>
                  </a:lnTo>
                  <a:cubicBezTo>
                    <a:pt x="82296" y="3219450"/>
                    <a:pt x="0" y="3137027"/>
                    <a:pt x="0" y="303555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097280" y="6556248"/>
            <a:ext cx="7475220" cy="342900"/>
            <a:chOff x="0" y="0"/>
            <a:chExt cx="9966960" cy="4572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966960" cy="457200"/>
            </a:xfrm>
            <a:custGeom>
              <a:avLst/>
              <a:gdLst/>
              <a:ahLst/>
              <a:cxnLst/>
              <a:rect l="l" t="t" r="r" b="b"/>
              <a:pathLst>
                <a:path w="9966960" h="457200">
                  <a:moveTo>
                    <a:pt x="0" y="0"/>
                  </a:moveTo>
                  <a:lnTo>
                    <a:pt x="9966960" y="0"/>
                  </a:lnTo>
                  <a:lnTo>
                    <a:pt x="99669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773" b="-374773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996696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QUERY OUTPUT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22960" y="8915400"/>
            <a:ext cx="1234440" cy="438912"/>
            <a:chOff x="0" y="0"/>
            <a:chExt cx="1645920" cy="58521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645920" cy="585216"/>
            </a:xfrm>
            <a:custGeom>
              <a:avLst/>
              <a:gdLst/>
              <a:ahLst/>
              <a:cxnLst/>
              <a:rect l="l" t="t" r="r" b="b"/>
              <a:pathLst>
                <a:path w="1645920" h="585216">
                  <a:moveTo>
                    <a:pt x="0" y="0"/>
                  </a:moveTo>
                  <a:lnTo>
                    <a:pt x="1645920" y="0"/>
                  </a:lnTo>
                  <a:lnTo>
                    <a:pt x="1645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01" b="-4801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164592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150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RESULT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116455" y="8905875"/>
            <a:ext cx="3996690" cy="457962"/>
            <a:chOff x="0" y="0"/>
            <a:chExt cx="5328920" cy="61061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328920" cy="610616"/>
            </a:xfrm>
            <a:custGeom>
              <a:avLst/>
              <a:gdLst/>
              <a:ahLst/>
              <a:cxnLst/>
              <a:rect l="l" t="t" r="r" b="b"/>
              <a:pathLst>
                <a:path w="532892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5023612" y="0"/>
                  </a:lnTo>
                  <a:cubicBezTo>
                    <a:pt x="5192268" y="0"/>
                    <a:pt x="5328920" y="136652"/>
                    <a:pt x="5328920" y="305308"/>
                  </a:cubicBezTo>
                  <a:cubicBezTo>
                    <a:pt x="5328920" y="473964"/>
                    <a:pt x="5192268" y="610616"/>
                    <a:pt x="502361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2125980" y="8915400"/>
            <a:ext cx="3977640" cy="438912"/>
            <a:chOff x="0" y="0"/>
            <a:chExt cx="5303520" cy="58521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303520" cy="585216"/>
            </a:xfrm>
            <a:custGeom>
              <a:avLst/>
              <a:gdLst/>
              <a:ahLst/>
              <a:cxnLst/>
              <a:rect l="l" t="t" r="r" b="b"/>
              <a:pathLst>
                <a:path w="5303520" h="585216">
                  <a:moveTo>
                    <a:pt x="0" y="0"/>
                  </a:moveTo>
                  <a:lnTo>
                    <a:pt x="5303520" y="0"/>
                  </a:lnTo>
                  <a:lnTo>
                    <a:pt x="5303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583" b="-126583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530352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MEMBER 1 LEADS — 7 LOANS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9436608" y="1920240"/>
            <a:ext cx="802386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1F3A5F"/>
                </a:solidFill>
                <a:latin typeface="Aptos Bold"/>
                <a:ea typeface="Aptos Bold"/>
                <a:cs typeface="Aptos Bold"/>
                <a:sym typeface="Aptos Bold"/>
              </a:rPr>
              <a:t>Query 7 — Loans with Total Fine Above $10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427083" y="2665095"/>
            <a:ext cx="1349502" cy="403098"/>
            <a:chOff x="0" y="0"/>
            <a:chExt cx="1799336" cy="53746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799336" cy="537464"/>
            </a:xfrm>
            <a:custGeom>
              <a:avLst/>
              <a:gdLst/>
              <a:ahLst/>
              <a:cxnLst/>
              <a:rect l="l" t="t" r="r" b="b"/>
              <a:pathLst>
                <a:path w="1799336" h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lnTo>
                    <a:pt x="1530604" y="0"/>
                  </a:lnTo>
                  <a:cubicBezTo>
                    <a:pt x="1679067" y="0"/>
                    <a:pt x="1799336" y="120269"/>
                    <a:pt x="1799336" y="268732"/>
                  </a:cubicBezTo>
                  <a:cubicBezTo>
                    <a:pt x="1799336" y="417195"/>
                    <a:pt x="1679067" y="537464"/>
                    <a:pt x="1530604" y="537464"/>
                  </a:cubicBezTo>
                  <a:lnTo>
                    <a:pt x="268732" y="537464"/>
                  </a:ln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9436608" y="2674620"/>
            <a:ext cx="1330452" cy="384048"/>
            <a:chOff x="0" y="0"/>
            <a:chExt cx="1773936" cy="51206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773936" cy="512064"/>
            </a:xfrm>
            <a:custGeom>
              <a:avLst/>
              <a:gdLst/>
              <a:ahLst/>
              <a:cxnLst/>
              <a:rect l="l" t="t" r="r" b="b"/>
              <a:pathLst>
                <a:path w="1773936" h="512064">
                  <a:moveTo>
                    <a:pt x="0" y="0"/>
                  </a:moveTo>
                  <a:lnTo>
                    <a:pt x="1773936" y="0"/>
                  </a:lnTo>
                  <a:lnTo>
                    <a:pt x="177393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01" b="-17501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1773936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HAVING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429464" y="3120104"/>
            <a:ext cx="8038147" cy="3168967"/>
            <a:chOff x="0" y="0"/>
            <a:chExt cx="10717530" cy="422529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0717530" cy="4225290"/>
            </a:xfrm>
            <a:custGeom>
              <a:avLst/>
              <a:gdLst/>
              <a:ahLst/>
              <a:cxnLst/>
              <a:rect l="l" t="t" r="r" b="b"/>
              <a:pathLst>
                <a:path w="10717530" h="422529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10533761" y="0"/>
                  </a:lnTo>
                  <a:cubicBezTo>
                    <a:pt x="10635234" y="0"/>
                    <a:pt x="10717530" y="82296"/>
                    <a:pt x="10717530" y="183769"/>
                  </a:cubicBezTo>
                  <a:lnTo>
                    <a:pt x="10717530" y="4041521"/>
                  </a:lnTo>
                  <a:cubicBezTo>
                    <a:pt x="10717530" y="4142994"/>
                    <a:pt x="10635234" y="4225290"/>
                    <a:pt x="10533761" y="4225290"/>
                  </a:cubicBezTo>
                  <a:lnTo>
                    <a:pt x="183769" y="4225290"/>
                  </a:lnTo>
                  <a:cubicBezTo>
                    <a:pt x="82296" y="4225290"/>
                    <a:pt x="0" y="4142994"/>
                    <a:pt x="0" y="404152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9710928" y="3264408"/>
            <a:ext cx="7475220" cy="342900"/>
            <a:chOff x="0" y="0"/>
            <a:chExt cx="9966960" cy="4572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966960" cy="457200"/>
            </a:xfrm>
            <a:custGeom>
              <a:avLst/>
              <a:gdLst/>
              <a:ahLst/>
              <a:cxnLst/>
              <a:rect l="l" t="t" r="r" b="b"/>
              <a:pathLst>
                <a:path w="9966960" h="457200">
                  <a:moveTo>
                    <a:pt x="0" y="0"/>
                  </a:moveTo>
                  <a:lnTo>
                    <a:pt x="9966960" y="0"/>
                  </a:lnTo>
                  <a:lnTo>
                    <a:pt x="99669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773" b="-374773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0"/>
              <a:ext cx="996696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MYSQL CODE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426894" y="3744468"/>
            <a:ext cx="6043298" cy="2331720"/>
            <a:chOff x="0" y="0"/>
            <a:chExt cx="8057731" cy="3108960"/>
          </a:xfrm>
        </p:grpSpPr>
        <p:sp>
          <p:nvSpPr>
            <p:cNvPr id="57" name="Freeform 57" descr="MySQL Workbench screenshot: q7c"/>
            <p:cNvSpPr/>
            <p:nvPr/>
          </p:nvSpPr>
          <p:spPr>
            <a:xfrm>
              <a:off x="0" y="0"/>
              <a:ext cx="8057769" cy="3108960"/>
            </a:xfrm>
            <a:custGeom>
              <a:avLst/>
              <a:gdLst/>
              <a:ahLst/>
              <a:cxnLst/>
              <a:rect l="l" t="t" r="r" b="b"/>
              <a:pathLst>
                <a:path w="8057769" h="3108960">
                  <a:moveTo>
                    <a:pt x="0" y="0"/>
                  </a:moveTo>
                  <a:lnTo>
                    <a:pt x="8057769" y="0"/>
                  </a:lnTo>
                  <a:lnTo>
                    <a:pt x="8057769" y="3108960"/>
                  </a:lnTo>
                  <a:lnTo>
                    <a:pt x="0" y="3108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05" r="-5704"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>
            <a:off x="9429464" y="6411944"/>
            <a:ext cx="8038147" cy="2414588"/>
            <a:chOff x="0" y="0"/>
            <a:chExt cx="10717530" cy="321945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0717530" cy="3219450"/>
            </a:xfrm>
            <a:custGeom>
              <a:avLst/>
              <a:gdLst/>
              <a:ahLst/>
              <a:cxnLst/>
              <a:rect l="l" t="t" r="r" b="b"/>
              <a:pathLst>
                <a:path w="10717530" h="3219450">
                  <a:moveTo>
                    <a:pt x="0" y="183896"/>
                  </a:moveTo>
                  <a:cubicBezTo>
                    <a:pt x="0" y="82423"/>
                    <a:pt x="82423" y="0"/>
                    <a:pt x="183896" y="0"/>
                  </a:cubicBezTo>
                  <a:lnTo>
                    <a:pt x="10533634" y="0"/>
                  </a:lnTo>
                  <a:cubicBezTo>
                    <a:pt x="10635234" y="0"/>
                    <a:pt x="10717530" y="82423"/>
                    <a:pt x="10717530" y="183896"/>
                  </a:cubicBezTo>
                  <a:lnTo>
                    <a:pt x="10717530" y="3035554"/>
                  </a:lnTo>
                  <a:cubicBezTo>
                    <a:pt x="10717530" y="3137154"/>
                    <a:pt x="10635107" y="3219450"/>
                    <a:pt x="10533634" y="3219450"/>
                  </a:cubicBezTo>
                  <a:lnTo>
                    <a:pt x="183896" y="3219450"/>
                  </a:lnTo>
                  <a:cubicBezTo>
                    <a:pt x="82296" y="3219450"/>
                    <a:pt x="0" y="3137027"/>
                    <a:pt x="0" y="303555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9710928" y="6556248"/>
            <a:ext cx="7475220" cy="342900"/>
            <a:chOff x="0" y="0"/>
            <a:chExt cx="9966960" cy="4572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9966960" cy="457200"/>
            </a:xfrm>
            <a:custGeom>
              <a:avLst/>
              <a:gdLst/>
              <a:ahLst/>
              <a:cxnLst/>
              <a:rect l="l" t="t" r="r" b="b"/>
              <a:pathLst>
                <a:path w="9966960" h="457200">
                  <a:moveTo>
                    <a:pt x="0" y="0"/>
                  </a:moveTo>
                  <a:lnTo>
                    <a:pt x="9966960" y="0"/>
                  </a:lnTo>
                  <a:lnTo>
                    <a:pt x="99669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773" b="-374773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0"/>
              <a:ext cx="996696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QUERY OUTPUT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2374737" y="7036308"/>
            <a:ext cx="2147611" cy="1577340"/>
            <a:chOff x="0" y="0"/>
            <a:chExt cx="2863482" cy="2103120"/>
          </a:xfrm>
        </p:grpSpPr>
        <p:sp>
          <p:nvSpPr>
            <p:cNvPr id="64" name="Freeform 64" descr="MySQL Workbench screenshot: q7o"/>
            <p:cNvSpPr/>
            <p:nvPr/>
          </p:nvSpPr>
          <p:spPr>
            <a:xfrm>
              <a:off x="0" y="0"/>
              <a:ext cx="2863469" cy="2103120"/>
            </a:xfrm>
            <a:custGeom>
              <a:avLst/>
              <a:gdLst/>
              <a:ahLst/>
              <a:cxnLst/>
              <a:rect l="l" t="t" r="r" b="b"/>
              <a:pathLst>
                <a:path w="2863469" h="2103120">
                  <a:moveTo>
                    <a:pt x="0" y="0"/>
                  </a:moveTo>
                  <a:lnTo>
                    <a:pt x="2863469" y="0"/>
                  </a:lnTo>
                  <a:lnTo>
                    <a:pt x="2863469" y="2103120"/>
                  </a:lnTo>
                  <a:lnTo>
                    <a:pt x="0" y="2103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65" name="Group 65"/>
          <p:cNvGrpSpPr/>
          <p:nvPr/>
        </p:nvGrpSpPr>
        <p:grpSpPr>
          <a:xfrm>
            <a:off x="9436608" y="8915400"/>
            <a:ext cx="1234440" cy="438912"/>
            <a:chOff x="0" y="0"/>
            <a:chExt cx="1645920" cy="58521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645920" cy="585216"/>
            </a:xfrm>
            <a:custGeom>
              <a:avLst/>
              <a:gdLst/>
              <a:ahLst/>
              <a:cxnLst/>
              <a:rect l="l" t="t" r="r" b="b"/>
              <a:pathLst>
                <a:path w="1645920" h="585216">
                  <a:moveTo>
                    <a:pt x="0" y="0"/>
                  </a:moveTo>
                  <a:lnTo>
                    <a:pt x="1645920" y="0"/>
                  </a:lnTo>
                  <a:lnTo>
                    <a:pt x="1645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01" b="-4801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0"/>
              <a:ext cx="164592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150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RESULT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0730103" y="8905875"/>
            <a:ext cx="3036570" cy="457962"/>
            <a:chOff x="0" y="0"/>
            <a:chExt cx="4048760" cy="610616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048760" cy="610616"/>
            </a:xfrm>
            <a:custGeom>
              <a:avLst/>
              <a:gdLst/>
              <a:ahLst/>
              <a:cxnLst/>
              <a:rect l="l" t="t" r="r" b="b"/>
              <a:pathLst>
                <a:path w="404876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3743452" y="0"/>
                  </a:lnTo>
                  <a:cubicBezTo>
                    <a:pt x="3912108" y="0"/>
                    <a:pt x="4048760" y="136652"/>
                    <a:pt x="4048760" y="305308"/>
                  </a:cubicBezTo>
                  <a:cubicBezTo>
                    <a:pt x="4048760" y="473964"/>
                    <a:pt x="3912108" y="610616"/>
                    <a:pt x="374345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10739628" y="8915400"/>
            <a:ext cx="3017520" cy="438912"/>
            <a:chOff x="0" y="0"/>
            <a:chExt cx="4023360" cy="585216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4023360" cy="585216"/>
            </a:xfrm>
            <a:custGeom>
              <a:avLst/>
              <a:gdLst/>
              <a:ahLst/>
              <a:cxnLst/>
              <a:rect l="l" t="t" r="r" b="b"/>
              <a:pathLst>
                <a:path w="4023360" h="585216">
                  <a:moveTo>
                    <a:pt x="0" y="0"/>
                  </a:moveTo>
                  <a:lnTo>
                    <a:pt x="4023360" y="0"/>
                  </a:lnTo>
                  <a:lnTo>
                    <a:pt x="40233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959" b="-83959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0"/>
              <a:ext cx="402336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 HIGH-FINE LOANS</a:t>
              </a:r>
            </a:p>
          </p:txBody>
        </p:sp>
      </p:grpSp>
      <p:pic>
        <p:nvPicPr>
          <p:cNvPr id="74" name="Picture 73">
            <a:extLst>
              <a:ext uri="{FF2B5EF4-FFF2-40B4-BE49-F238E27FC236}">
                <a16:creationId xmlns:a16="http://schemas.microsoft.com/office/drawing/2014/main" id="{89480302-2729-4FB6-3A4E-FDAB8C13A0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6737771"/>
            <a:ext cx="1767993" cy="192802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920">
            <a:off x="811044" y="1805750"/>
            <a:ext cx="16661340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2940">
            <a:off x="815816" y="9569006"/>
            <a:ext cx="16651805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22960" y="9683496"/>
            <a:ext cx="10972800" cy="342900"/>
            <a:chOff x="0" y="0"/>
            <a:chExt cx="146304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1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LIBRARY MANAGEMENT SYSTEM  ·  MYSQL DATABASE PROJECT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850392"/>
            <a:ext cx="16637508" cy="850392"/>
            <a:chOff x="0" y="0"/>
            <a:chExt cx="22183344" cy="11338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3344" cy="1133856"/>
            </a:xfrm>
            <a:custGeom>
              <a:avLst/>
              <a:gdLst/>
              <a:ahLst/>
              <a:cxnLst/>
              <a:rect l="l" t="t" r="r" b="b"/>
              <a:pathLst>
                <a:path w="22183344" h="1133856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1215" b="-33121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2183344" cy="1124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SQL Query — LIMIT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2960" y="466344"/>
            <a:ext cx="10972800" cy="342900"/>
            <a:chOff x="0" y="0"/>
            <a:chExt cx="1463040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SQL QUERY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73400" y="9683496"/>
            <a:ext cx="1687068" cy="342900"/>
            <a:chOff x="0" y="0"/>
            <a:chExt cx="2249424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4" cy="457200"/>
            </a:xfrm>
            <a:custGeom>
              <a:avLst/>
              <a:gdLst/>
              <a:ahLst/>
              <a:cxnLst/>
              <a:rect l="l" t="t" r="r" b="b"/>
              <a:pathLst>
                <a:path w="2249424" h="457200">
                  <a:moveTo>
                    <a:pt x="0" y="0"/>
                  </a:moveTo>
                  <a:lnTo>
                    <a:pt x="2249424" y="0"/>
                  </a:lnTo>
                  <a:lnTo>
                    <a:pt x="22494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866" b="-4586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2494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18 / 25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2960" y="1988820"/>
            <a:ext cx="13030200" cy="548640"/>
            <a:chOff x="0" y="0"/>
            <a:chExt cx="17373600" cy="731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373600" cy="731520"/>
            </a:xfrm>
            <a:custGeom>
              <a:avLst/>
              <a:gdLst/>
              <a:ahLst/>
              <a:cxnLst/>
              <a:rect l="l" t="t" r="r" b="b"/>
              <a:pathLst>
                <a:path w="17373600" h="731520">
                  <a:moveTo>
                    <a:pt x="0" y="0"/>
                  </a:moveTo>
                  <a:lnTo>
                    <a:pt x="17373600" y="0"/>
                  </a:lnTo>
                  <a:lnTo>
                    <a:pt x="1737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2769" b="-412769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173736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F3A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Query 8 — Top 5 Most Frequently Borrowed Books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862941" y="2047875"/>
            <a:ext cx="4607052" cy="403098"/>
            <a:chOff x="0" y="0"/>
            <a:chExt cx="6142736" cy="53746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142736" cy="537464"/>
            </a:xfrm>
            <a:custGeom>
              <a:avLst/>
              <a:gdLst/>
              <a:ahLst/>
              <a:cxnLst/>
              <a:rect l="l" t="t" r="r" b="b"/>
              <a:pathLst>
                <a:path w="6142736" h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lnTo>
                    <a:pt x="5874004" y="0"/>
                  </a:lnTo>
                  <a:cubicBezTo>
                    <a:pt x="6022467" y="0"/>
                    <a:pt x="6142736" y="120269"/>
                    <a:pt x="6142736" y="268732"/>
                  </a:cubicBezTo>
                  <a:cubicBezTo>
                    <a:pt x="6142736" y="417195"/>
                    <a:pt x="6022467" y="537464"/>
                    <a:pt x="5874004" y="537464"/>
                  </a:cubicBezTo>
                  <a:lnTo>
                    <a:pt x="268732" y="537464"/>
                  </a:ln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2872466" y="2057400"/>
            <a:ext cx="4588002" cy="384048"/>
            <a:chOff x="0" y="0"/>
            <a:chExt cx="6117336" cy="51206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117336" cy="512064"/>
            </a:xfrm>
            <a:custGeom>
              <a:avLst/>
              <a:gdLst/>
              <a:ahLst/>
              <a:cxnLst/>
              <a:rect l="l" t="t" r="r" b="b"/>
              <a:pathLst>
                <a:path w="6117336" h="512064">
                  <a:moveTo>
                    <a:pt x="0" y="0"/>
                  </a:moveTo>
                  <a:lnTo>
                    <a:pt x="6117336" y="0"/>
                  </a:lnTo>
                  <a:lnTo>
                    <a:pt x="611733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2776" b="-182776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6117336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JOIN + COUNT + ORDER BY + LIMIT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15816" y="2736056"/>
            <a:ext cx="7283768" cy="3991928"/>
            <a:chOff x="0" y="0"/>
            <a:chExt cx="9711690" cy="532257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711690" cy="5322570"/>
            </a:xfrm>
            <a:custGeom>
              <a:avLst/>
              <a:gdLst/>
              <a:ahLst/>
              <a:cxnLst/>
              <a:rect l="l" t="t" r="r" b="b"/>
              <a:pathLst>
                <a:path w="9711690" h="532257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9528175" y="0"/>
                  </a:lnTo>
                  <a:cubicBezTo>
                    <a:pt x="9629521" y="0"/>
                    <a:pt x="9711690" y="82169"/>
                    <a:pt x="9711690" y="183515"/>
                  </a:cubicBezTo>
                  <a:lnTo>
                    <a:pt x="9711690" y="5139055"/>
                  </a:lnTo>
                  <a:cubicBezTo>
                    <a:pt x="9711690" y="5240401"/>
                    <a:pt x="9629521" y="5322570"/>
                    <a:pt x="9528175" y="5322570"/>
                  </a:cubicBezTo>
                  <a:lnTo>
                    <a:pt x="183515" y="5322570"/>
                  </a:lnTo>
                  <a:cubicBezTo>
                    <a:pt x="82169" y="5322570"/>
                    <a:pt x="0" y="5240401"/>
                    <a:pt x="0" y="51390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097280" y="2880360"/>
            <a:ext cx="6720840" cy="342900"/>
            <a:chOff x="0" y="0"/>
            <a:chExt cx="8961120" cy="457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961120" cy="457200"/>
            </a:xfrm>
            <a:custGeom>
              <a:avLst/>
              <a:gdLst/>
              <a:ahLst/>
              <a:cxnLst/>
              <a:rect l="l" t="t" r="r" b="b"/>
              <a:pathLst>
                <a:path w="8961120" h="457200">
                  <a:moveTo>
                    <a:pt x="0" y="0"/>
                  </a:moveTo>
                  <a:lnTo>
                    <a:pt x="8961120" y="0"/>
                  </a:lnTo>
                  <a:lnTo>
                    <a:pt x="89611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1906" b="-331906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896112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MYSQL CODE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97280" y="3645294"/>
            <a:ext cx="6720840" cy="2584942"/>
            <a:chOff x="0" y="0"/>
            <a:chExt cx="8961120" cy="3446590"/>
          </a:xfrm>
        </p:grpSpPr>
        <p:sp>
          <p:nvSpPr>
            <p:cNvPr id="30" name="Freeform 30" descr="MySQL Workbench screenshot: q8c"/>
            <p:cNvSpPr/>
            <p:nvPr/>
          </p:nvSpPr>
          <p:spPr>
            <a:xfrm>
              <a:off x="0" y="0"/>
              <a:ext cx="8961120" cy="3446526"/>
            </a:xfrm>
            <a:custGeom>
              <a:avLst/>
              <a:gdLst/>
              <a:ahLst/>
              <a:cxnLst/>
              <a:rect l="l" t="t" r="r" b="b"/>
              <a:pathLst>
                <a:path w="8961120" h="3446526">
                  <a:moveTo>
                    <a:pt x="0" y="0"/>
                  </a:moveTo>
                  <a:lnTo>
                    <a:pt x="8961120" y="0"/>
                  </a:lnTo>
                  <a:lnTo>
                    <a:pt x="8961120" y="3446526"/>
                  </a:lnTo>
                  <a:lnTo>
                    <a:pt x="0" y="3446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"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8359616" y="2736056"/>
            <a:ext cx="9107996" cy="3991928"/>
            <a:chOff x="0" y="0"/>
            <a:chExt cx="12143994" cy="532257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143994" cy="5322570"/>
            </a:xfrm>
            <a:custGeom>
              <a:avLst/>
              <a:gdLst/>
              <a:ahLst/>
              <a:cxnLst/>
              <a:rect l="l" t="t" r="r" b="b"/>
              <a:pathLst>
                <a:path w="12143994" h="532257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1960479" y="0"/>
                  </a:lnTo>
                  <a:cubicBezTo>
                    <a:pt x="12061825" y="0"/>
                    <a:pt x="12143994" y="82169"/>
                    <a:pt x="12143994" y="183515"/>
                  </a:cubicBezTo>
                  <a:lnTo>
                    <a:pt x="12143994" y="5139055"/>
                  </a:lnTo>
                  <a:cubicBezTo>
                    <a:pt x="12143994" y="5240401"/>
                    <a:pt x="12061825" y="5322570"/>
                    <a:pt x="11960479" y="5322570"/>
                  </a:cubicBezTo>
                  <a:lnTo>
                    <a:pt x="183515" y="5322570"/>
                  </a:lnTo>
                  <a:cubicBezTo>
                    <a:pt x="82169" y="5322570"/>
                    <a:pt x="0" y="5240401"/>
                    <a:pt x="0" y="513905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8641080" y="2880360"/>
            <a:ext cx="8545068" cy="342900"/>
            <a:chOff x="0" y="0"/>
            <a:chExt cx="11393424" cy="4572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393424" cy="457200"/>
            </a:xfrm>
            <a:custGeom>
              <a:avLst/>
              <a:gdLst/>
              <a:ahLst/>
              <a:cxnLst/>
              <a:rect l="l" t="t" r="r" b="b"/>
              <a:pathLst>
                <a:path w="11393424" h="457200">
                  <a:moveTo>
                    <a:pt x="0" y="0"/>
                  </a:moveTo>
                  <a:lnTo>
                    <a:pt x="11393424" y="0"/>
                  </a:lnTo>
                  <a:lnTo>
                    <a:pt x="113934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5567" b="-435567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113934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QUERY OUTPUT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641080" y="3552596"/>
            <a:ext cx="8545068" cy="2770318"/>
            <a:chOff x="0" y="0"/>
            <a:chExt cx="11393424" cy="3693757"/>
          </a:xfrm>
        </p:grpSpPr>
        <p:sp>
          <p:nvSpPr>
            <p:cNvPr id="37" name="Freeform 37" descr="MySQL Workbench screenshot: q8o"/>
            <p:cNvSpPr/>
            <p:nvPr/>
          </p:nvSpPr>
          <p:spPr>
            <a:xfrm>
              <a:off x="0" y="0"/>
              <a:ext cx="11393424" cy="3693795"/>
            </a:xfrm>
            <a:custGeom>
              <a:avLst/>
              <a:gdLst/>
              <a:ahLst/>
              <a:cxnLst/>
              <a:rect l="l" t="t" r="r" b="b"/>
              <a:pathLst>
                <a:path w="11393424" h="3693795">
                  <a:moveTo>
                    <a:pt x="0" y="0"/>
                  </a:moveTo>
                  <a:lnTo>
                    <a:pt x="11393424" y="0"/>
                  </a:lnTo>
                  <a:lnTo>
                    <a:pt x="11393424" y="3693795"/>
                  </a:lnTo>
                  <a:lnTo>
                    <a:pt x="0" y="3693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815816" y="6919436"/>
            <a:ext cx="3168967" cy="1454468"/>
            <a:chOff x="0" y="0"/>
            <a:chExt cx="4225290" cy="193929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225290" cy="1939290"/>
            </a:xfrm>
            <a:custGeom>
              <a:avLst/>
              <a:gdLst/>
              <a:ahLst/>
              <a:cxnLst/>
              <a:rect l="l" t="t" r="r" b="b"/>
              <a:pathLst>
                <a:path w="4225290" h="1939290">
                  <a:moveTo>
                    <a:pt x="0" y="184658"/>
                  </a:moveTo>
                  <a:cubicBezTo>
                    <a:pt x="0" y="82677"/>
                    <a:pt x="82677" y="0"/>
                    <a:pt x="184658" y="0"/>
                  </a:cubicBezTo>
                  <a:lnTo>
                    <a:pt x="4040632" y="0"/>
                  </a:lnTo>
                  <a:cubicBezTo>
                    <a:pt x="4142613" y="0"/>
                    <a:pt x="4225290" y="82677"/>
                    <a:pt x="4225290" y="184658"/>
                  </a:cubicBezTo>
                  <a:lnTo>
                    <a:pt x="4225290" y="1754632"/>
                  </a:lnTo>
                  <a:cubicBezTo>
                    <a:pt x="4225290" y="1856613"/>
                    <a:pt x="4142613" y="1939290"/>
                    <a:pt x="4040632" y="1939290"/>
                  </a:cubicBezTo>
                  <a:lnTo>
                    <a:pt x="184658" y="1939290"/>
                  </a:lnTo>
                  <a:cubicBezTo>
                    <a:pt x="82677" y="1939290"/>
                    <a:pt x="0" y="1856613"/>
                    <a:pt x="0" y="175463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028700" y="7022592"/>
            <a:ext cx="822960" cy="411480"/>
            <a:chOff x="0" y="0"/>
            <a:chExt cx="1097280" cy="54864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057400" y="7022592"/>
            <a:ext cx="1783080" cy="411480"/>
            <a:chOff x="0" y="0"/>
            <a:chExt cx="2377440" cy="54864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377440" cy="548640"/>
            </a:xfrm>
            <a:custGeom>
              <a:avLst/>
              <a:gdLst/>
              <a:ahLst/>
              <a:cxnLst/>
              <a:rect l="l" t="t" r="r" b="b"/>
              <a:pathLst>
                <a:path w="2377440" h="548640">
                  <a:moveTo>
                    <a:pt x="0" y="0"/>
                  </a:moveTo>
                  <a:lnTo>
                    <a:pt x="2377440" y="0"/>
                  </a:lnTo>
                  <a:lnTo>
                    <a:pt x="2377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5" b="-34435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23774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 borrows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028700" y="7475220"/>
            <a:ext cx="2743200" cy="822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4213D"/>
                </a:solidFill>
                <a:latin typeface="Aptos Bold"/>
                <a:ea typeface="Aptos Bold"/>
                <a:cs typeface="Aptos Bold"/>
                <a:sym typeface="Aptos Bold"/>
              </a:rPr>
              <a:t>A Brief History of Time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4198182" y="6919436"/>
            <a:ext cx="3168967" cy="1454468"/>
            <a:chOff x="0" y="0"/>
            <a:chExt cx="4225290" cy="193929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225290" cy="1939290"/>
            </a:xfrm>
            <a:custGeom>
              <a:avLst/>
              <a:gdLst/>
              <a:ahLst/>
              <a:cxnLst/>
              <a:rect l="l" t="t" r="r" b="b"/>
              <a:pathLst>
                <a:path w="4225290" h="1939290">
                  <a:moveTo>
                    <a:pt x="0" y="184658"/>
                  </a:moveTo>
                  <a:cubicBezTo>
                    <a:pt x="0" y="82677"/>
                    <a:pt x="82677" y="0"/>
                    <a:pt x="184658" y="0"/>
                  </a:cubicBezTo>
                  <a:lnTo>
                    <a:pt x="4040632" y="0"/>
                  </a:lnTo>
                  <a:cubicBezTo>
                    <a:pt x="4142613" y="0"/>
                    <a:pt x="4225290" y="82677"/>
                    <a:pt x="4225290" y="184658"/>
                  </a:cubicBezTo>
                  <a:lnTo>
                    <a:pt x="4225290" y="1754632"/>
                  </a:lnTo>
                  <a:cubicBezTo>
                    <a:pt x="4225290" y="1856613"/>
                    <a:pt x="4142613" y="1939290"/>
                    <a:pt x="4040632" y="1939290"/>
                  </a:cubicBezTo>
                  <a:lnTo>
                    <a:pt x="184658" y="1939290"/>
                  </a:lnTo>
                  <a:cubicBezTo>
                    <a:pt x="82677" y="1939290"/>
                    <a:pt x="0" y="1856613"/>
                    <a:pt x="0" y="175463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4411066" y="7022592"/>
            <a:ext cx="822960" cy="411480"/>
            <a:chOff x="0" y="0"/>
            <a:chExt cx="1097280" cy="54864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439766" y="7022592"/>
            <a:ext cx="1783080" cy="411480"/>
            <a:chOff x="0" y="0"/>
            <a:chExt cx="2377440" cy="54864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377440" cy="548640"/>
            </a:xfrm>
            <a:custGeom>
              <a:avLst/>
              <a:gdLst/>
              <a:ahLst/>
              <a:cxnLst/>
              <a:rect l="l" t="t" r="r" b="b"/>
              <a:pathLst>
                <a:path w="2377440" h="548640">
                  <a:moveTo>
                    <a:pt x="0" y="0"/>
                  </a:moveTo>
                  <a:lnTo>
                    <a:pt x="2377440" y="0"/>
                  </a:lnTo>
                  <a:lnTo>
                    <a:pt x="2377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5" b="-34435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0"/>
              <a:ext cx="23774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 borrows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4411066" y="7475220"/>
            <a:ext cx="2743200" cy="822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4213D"/>
                </a:solidFill>
                <a:latin typeface="Aptos Bold"/>
                <a:ea typeface="Aptos Bold"/>
                <a:cs typeface="Aptos Bold"/>
                <a:sym typeface="Aptos Bold"/>
              </a:rPr>
              <a:t>The Data Science Handbook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7580547" y="6919436"/>
            <a:ext cx="3168967" cy="1454468"/>
            <a:chOff x="0" y="0"/>
            <a:chExt cx="4225290" cy="193929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225290" cy="1939290"/>
            </a:xfrm>
            <a:custGeom>
              <a:avLst/>
              <a:gdLst/>
              <a:ahLst/>
              <a:cxnLst/>
              <a:rect l="l" t="t" r="r" b="b"/>
              <a:pathLst>
                <a:path w="4225290" h="1939290">
                  <a:moveTo>
                    <a:pt x="0" y="184658"/>
                  </a:moveTo>
                  <a:cubicBezTo>
                    <a:pt x="0" y="82677"/>
                    <a:pt x="82677" y="0"/>
                    <a:pt x="184658" y="0"/>
                  </a:cubicBezTo>
                  <a:lnTo>
                    <a:pt x="4040632" y="0"/>
                  </a:lnTo>
                  <a:cubicBezTo>
                    <a:pt x="4142613" y="0"/>
                    <a:pt x="4225290" y="82677"/>
                    <a:pt x="4225290" y="184658"/>
                  </a:cubicBezTo>
                  <a:lnTo>
                    <a:pt x="4225290" y="1754632"/>
                  </a:lnTo>
                  <a:cubicBezTo>
                    <a:pt x="4225290" y="1856613"/>
                    <a:pt x="4142613" y="1939290"/>
                    <a:pt x="4040632" y="1939290"/>
                  </a:cubicBezTo>
                  <a:lnTo>
                    <a:pt x="184658" y="1939290"/>
                  </a:lnTo>
                  <a:cubicBezTo>
                    <a:pt x="82677" y="1939290"/>
                    <a:pt x="0" y="1856613"/>
                    <a:pt x="0" y="175463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7793431" y="7022592"/>
            <a:ext cx="822960" cy="411480"/>
            <a:chOff x="0" y="0"/>
            <a:chExt cx="1097280" cy="54864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822131" y="7022592"/>
            <a:ext cx="1783080" cy="411480"/>
            <a:chOff x="0" y="0"/>
            <a:chExt cx="2377440" cy="54864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377440" cy="548640"/>
            </a:xfrm>
            <a:custGeom>
              <a:avLst/>
              <a:gdLst/>
              <a:ahLst/>
              <a:cxnLst/>
              <a:rect l="l" t="t" r="r" b="b"/>
              <a:pathLst>
                <a:path w="2377440" h="548640">
                  <a:moveTo>
                    <a:pt x="0" y="0"/>
                  </a:moveTo>
                  <a:lnTo>
                    <a:pt x="2377440" y="0"/>
                  </a:lnTo>
                  <a:lnTo>
                    <a:pt x="2377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5" b="-34435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0"/>
              <a:ext cx="23774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 borrows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7793431" y="7475220"/>
            <a:ext cx="2743200" cy="822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4213D"/>
                </a:solidFill>
                <a:latin typeface="Aptos Bold"/>
                <a:ea typeface="Aptos Bold"/>
                <a:cs typeface="Aptos Bold"/>
                <a:sym typeface="Aptos Bold"/>
              </a:rPr>
              <a:t>Sapiens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10962913" y="6919436"/>
            <a:ext cx="3168967" cy="1454468"/>
            <a:chOff x="0" y="0"/>
            <a:chExt cx="4225290" cy="193929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225290" cy="1939290"/>
            </a:xfrm>
            <a:custGeom>
              <a:avLst/>
              <a:gdLst/>
              <a:ahLst/>
              <a:cxnLst/>
              <a:rect l="l" t="t" r="r" b="b"/>
              <a:pathLst>
                <a:path w="4225290" h="1939290">
                  <a:moveTo>
                    <a:pt x="0" y="184658"/>
                  </a:moveTo>
                  <a:cubicBezTo>
                    <a:pt x="0" y="82677"/>
                    <a:pt x="82677" y="0"/>
                    <a:pt x="184658" y="0"/>
                  </a:cubicBezTo>
                  <a:lnTo>
                    <a:pt x="4040632" y="0"/>
                  </a:lnTo>
                  <a:cubicBezTo>
                    <a:pt x="4142613" y="0"/>
                    <a:pt x="4225290" y="82677"/>
                    <a:pt x="4225290" y="184658"/>
                  </a:cubicBezTo>
                  <a:lnTo>
                    <a:pt x="4225290" y="1754632"/>
                  </a:lnTo>
                  <a:cubicBezTo>
                    <a:pt x="4225290" y="1856613"/>
                    <a:pt x="4142613" y="1939290"/>
                    <a:pt x="4040632" y="1939290"/>
                  </a:cubicBezTo>
                  <a:lnTo>
                    <a:pt x="184658" y="1939290"/>
                  </a:lnTo>
                  <a:cubicBezTo>
                    <a:pt x="82677" y="1939290"/>
                    <a:pt x="0" y="1856613"/>
                    <a:pt x="0" y="175463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11175797" y="7022592"/>
            <a:ext cx="822960" cy="411480"/>
            <a:chOff x="0" y="0"/>
            <a:chExt cx="1097280" cy="54864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2204497" y="7022592"/>
            <a:ext cx="1783080" cy="411480"/>
            <a:chOff x="0" y="0"/>
            <a:chExt cx="2377440" cy="54864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377440" cy="548640"/>
            </a:xfrm>
            <a:custGeom>
              <a:avLst/>
              <a:gdLst/>
              <a:ahLst/>
              <a:cxnLst/>
              <a:rect l="l" t="t" r="r" b="b"/>
              <a:pathLst>
                <a:path w="2377440" h="548640">
                  <a:moveTo>
                    <a:pt x="0" y="0"/>
                  </a:moveTo>
                  <a:lnTo>
                    <a:pt x="2377440" y="0"/>
                  </a:lnTo>
                  <a:lnTo>
                    <a:pt x="2377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5" b="-34435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0"/>
              <a:ext cx="23774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 borrows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11175797" y="7475220"/>
            <a:ext cx="2743200" cy="822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4213D"/>
                </a:solidFill>
                <a:latin typeface="Aptos Bold"/>
                <a:ea typeface="Aptos Bold"/>
                <a:cs typeface="Aptos Bold"/>
                <a:sym typeface="Aptos Bold"/>
              </a:rPr>
              <a:t>The Art of Computer Programming</a:t>
            </a:r>
          </a:p>
        </p:txBody>
      </p:sp>
      <p:grpSp>
        <p:nvGrpSpPr>
          <p:cNvPr id="74" name="Group 74"/>
          <p:cNvGrpSpPr/>
          <p:nvPr/>
        </p:nvGrpSpPr>
        <p:grpSpPr>
          <a:xfrm>
            <a:off x="14345279" y="6919436"/>
            <a:ext cx="3168967" cy="1454468"/>
            <a:chOff x="0" y="0"/>
            <a:chExt cx="4225290" cy="193929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225290" cy="1939290"/>
            </a:xfrm>
            <a:custGeom>
              <a:avLst/>
              <a:gdLst/>
              <a:ahLst/>
              <a:cxnLst/>
              <a:rect l="l" t="t" r="r" b="b"/>
              <a:pathLst>
                <a:path w="4225290" h="1939290">
                  <a:moveTo>
                    <a:pt x="0" y="184658"/>
                  </a:moveTo>
                  <a:cubicBezTo>
                    <a:pt x="0" y="82677"/>
                    <a:pt x="82677" y="0"/>
                    <a:pt x="184658" y="0"/>
                  </a:cubicBezTo>
                  <a:lnTo>
                    <a:pt x="4040632" y="0"/>
                  </a:lnTo>
                  <a:cubicBezTo>
                    <a:pt x="4142613" y="0"/>
                    <a:pt x="4225290" y="82677"/>
                    <a:pt x="4225290" y="184658"/>
                  </a:cubicBezTo>
                  <a:lnTo>
                    <a:pt x="4225290" y="1754632"/>
                  </a:lnTo>
                  <a:cubicBezTo>
                    <a:pt x="4225290" y="1856613"/>
                    <a:pt x="4142613" y="1939290"/>
                    <a:pt x="4040632" y="1939290"/>
                  </a:cubicBezTo>
                  <a:lnTo>
                    <a:pt x="184658" y="1939290"/>
                  </a:lnTo>
                  <a:cubicBezTo>
                    <a:pt x="82677" y="1939290"/>
                    <a:pt x="0" y="1856613"/>
                    <a:pt x="0" y="175463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14558162" y="7022592"/>
            <a:ext cx="822960" cy="411480"/>
            <a:chOff x="0" y="0"/>
            <a:chExt cx="1097280" cy="54864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05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5586862" y="7022592"/>
            <a:ext cx="1783080" cy="411480"/>
            <a:chOff x="0" y="0"/>
            <a:chExt cx="2377440" cy="54864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377440" cy="548640"/>
            </a:xfrm>
            <a:custGeom>
              <a:avLst/>
              <a:gdLst/>
              <a:ahLst/>
              <a:cxnLst/>
              <a:rect l="l" t="t" r="r" b="b"/>
              <a:pathLst>
                <a:path w="2377440" h="548640">
                  <a:moveTo>
                    <a:pt x="0" y="0"/>
                  </a:moveTo>
                  <a:lnTo>
                    <a:pt x="2377440" y="0"/>
                  </a:lnTo>
                  <a:lnTo>
                    <a:pt x="2377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5" b="-34435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0"/>
              <a:ext cx="23774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 borrows</a:t>
              </a:r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14558162" y="7475220"/>
            <a:ext cx="2743200" cy="822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14213D"/>
                </a:solidFill>
                <a:latin typeface="Aptos Bold"/>
                <a:ea typeface="Aptos Bold"/>
                <a:cs typeface="Aptos Bold"/>
                <a:sym typeface="Aptos Bold"/>
              </a:rPr>
              <a:t>Cosmos</a:t>
            </a:r>
          </a:p>
        </p:txBody>
      </p:sp>
      <p:grpSp>
        <p:nvGrpSpPr>
          <p:cNvPr id="83" name="Group 83"/>
          <p:cNvGrpSpPr/>
          <p:nvPr/>
        </p:nvGrpSpPr>
        <p:grpSpPr>
          <a:xfrm>
            <a:off x="822960" y="8641080"/>
            <a:ext cx="1234440" cy="438912"/>
            <a:chOff x="0" y="0"/>
            <a:chExt cx="1645920" cy="585216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1645920" cy="585216"/>
            </a:xfrm>
            <a:custGeom>
              <a:avLst/>
              <a:gdLst/>
              <a:ahLst/>
              <a:cxnLst/>
              <a:rect l="l" t="t" r="r" b="b"/>
              <a:pathLst>
                <a:path w="1645920" h="585216">
                  <a:moveTo>
                    <a:pt x="0" y="0"/>
                  </a:moveTo>
                  <a:lnTo>
                    <a:pt x="1645920" y="0"/>
                  </a:lnTo>
                  <a:lnTo>
                    <a:pt x="1645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01" b="-4801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0"/>
              <a:ext cx="164592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150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RESULT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2116455" y="8631555"/>
            <a:ext cx="2213610" cy="457962"/>
            <a:chOff x="0" y="0"/>
            <a:chExt cx="2951480" cy="610616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2951480" cy="610616"/>
            </a:xfrm>
            <a:custGeom>
              <a:avLst/>
              <a:gdLst/>
              <a:ahLst/>
              <a:cxnLst/>
              <a:rect l="l" t="t" r="r" b="b"/>
              <a:pathLst>
                <a:path w="295148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2646172" y="0"/>
                  </a:lnTo>
                  <a:cubicBezTo>
                    <a:pt x="2814828" y="0"/>
                    <a:pt x="2951480" y="136652"/>
                    <a:pt x="2951480" y="305308"/>
                  </a:cubicBezTo>
                  <a:cubicBezTo>
                    <a:pt x="2951480" y="473964"/>
                    <a:pt x="2814828" y="610616"/>
                    <a:pt x="264617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88" name="Group 88"/>
          <p:cNvGrpSpPr/>
          <p:nvPr/>
        </p:nvGrpSpPr>
        <p:grpSpPr>
          <a:xfrm>
            <a:off x="2125980" y="8641080"/>
            <a:ext cx="2194560" cy="438912"/>
            <a:chOff x="0" y="0"/>
            <a:chExt cx="2926080" cy="585216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2926080" cy="585216"/>
            </a:xfrm>
            <a:custGeom>
              <a:avLst/>
              <a:gdLst/>
              <a:ahLst/>
              <a:cxnLst/>
              <a:rect l="l" t="t" r="r" b="b"/>
              <a:pathLst>
                <a:path w="2926080" h="585216">
                  <a:moveTo>
                    <a:pt x="0" y="0"/>
                  </a:moveTo>
                  <a:lnTo>
                    <a:pt x="2926080" y="0"/>
                  </a:lnTo>
                  <a:lnTo>
                    <a:pt x="29260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0" y="0"/>
              <a:ext cx="292608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TOP 5 BOOKS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6172200" y="8641080"/>
            <a:ext cx="11247120" cy="438912"/>
            <a:chOff x="0" y="0"/>
            <a:chExt cx="14996160" cy="585216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14996161" cy="585216"/>
            </a:xfrm>
            <a:custGeom>
              <a:avLst/>
              <a:gdLst/>
              <a:ahLst/>
              <a:cxnLst/>
              <a:rect l="l" t="t" r="r" b="b"/>
              <a:pathLst>
                <a:path w="14996161" h="585216">
                  <a:moveTo>
                    <a:pt x="0" y="0"/>
                  </a:moveTo>
                  <a:lnTo>
                    <a:pt x="14996161" y="0"/>
                  </a:lnTo>
                  <a:lnTo>
                    <a:pt x="14996161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9304" b="-449304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9525"/>
              <a:ext cx="14996160" cy="5947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JOIN + COUNT + ORDER BY + LIMIT 5 ranks the most frequently borrowed books.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920">
            <a:off x="811044" y="1805750"/>
            <a:ext cx="16661340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2940">
            <a:off x="815816" y="9569006"/>
            <a:ext cx="16651805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22960" y="9683496"/>
            <a:ext cx="10972800" cy="342900"/>
            <a:chOff x="0" y="0"/>
            <a:chExt cx="146304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1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LIBRARY MANAGEMENT SYSTEM  ·  MYSQL DATABASE PROJECT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850392"/>
            <a:ext cx="16637508" cy="850392"/>
            <a:chOff x="0" y="0"/>
            <a:chExt cx="22183344" cy="11338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3344" cy="1133856"/>
            </a:xfrm>
            <a:custGeom>
              <a:avLst/>
              <a:gdLst/>
              <a:ahLst/>
              <a:cxnLst/>
              <a:rect l="l" t="t" r="r" b="b"/>
              <a:pathLst>
                <a:path w="22183344" h="1133856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1215" b="-33121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2183344" cy="1124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SQL Query — INNER JOIN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2960" y="466344"/>
            <a:ext cx="10972800" cy="342900"/>
            <a:chOff x="0" y="0"/>
            <a:chExt cx="1463040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SQL QUERY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73400" y="9683496"/>
            <a:ext cx="1687068" cy="342900"/>
            <a:chOff x="0" y="0"/>
            <a:chExt cx="2249424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4" cy="457200"/>
            </a:xfrm>
            <a:custGeom>
              <a:avLst/>
              <a:gdLst/>
              <a:ahLst/>
              <a:cxnLst/>
              <a:rect l="l" t="t" r="r" b="b"/>
              <a:pathLst>
                <a:path w="2249424" h="457200">
                  <a:moveTo>
                    <a:pt x="0" y="0"/>
                  </a:moveTo>
                  <a:lnTo>
                    <a:pt x="2249424" y="0"/>
                  </a:lnTo>
                  <a:lnTo>
                    <a:pt x="22494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866" b="-4586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2494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19 / 25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13435" y="2116455"/>
            <a:ext cx="2213610" cy="636270"/>
            <a:chOff x="0" y="0"/>
            <a:chExt cx="2951480" cy="8483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951480" cy="848360"/>
            </a:xfrm>
            <a:custGeom>
              <a:avLst/>
              <a:gdLst/>
              <a:ahLst/>
              <a:cxnLst/>
              <a:rect l="l" t="t" r="r" b="b"/>
              <a:pathLst>
                <a:path w="2951480" h="848360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2800604" y="0"/>
                  </a:lnTo>
                  <a:cubicBezTo>
                    <a:pt x="2883916" y="0"/>
                    <a:pt x="2951480" y="67564"/>
                    <a:pt x="2951480" y="150876"/>
                  </a:cubicBezTo>
                  <a:lnTo>
                    <a:pt x="2951480" y="697484"/>
                  </a:lnTo>
                  <a:cubicBezTo>
                    <a:pt x="2951480" y="780796"/>
                    <a:pt x="2883916" y="848360"/>
                    <a:pt x="2800604" y="848360"/>
                  </a:cubicBezTo>
                  <a:lnTo>
                    <a:pt x="150876" y="848360"/>
                  </a:lnTo>
                  <a:cubicBezTo>
                    <a:pt x="67564" y="848360"/>
                    <a:pt x="0" y="780796"/>
                    <a:pt x="0" y="697484"/>
                  </a:cubicBezTo>
                  <a:close/>
                </a:path>
              </a:pathLst>
            </a:custGeom>
            <a:solidFill>
              <a:srgbClr val="14213D"/>
            </a:solidFill>
            <a:ln w="1905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822960" y="2125980"/>
            <a:ext cx="2194560" cy="617220"/>
            <a:chOff x="0" y="0"/>
            <a:chExt cx="2926080" cy="8229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926080" cy="822960"/>
            </a:xfrm>
            <a:custGeom>
              <a:avLst/>
              <a:gdLst/>
              <a:ahLst/>
              <a:cxnLst/>
              <a:rect l="l" t="t" r="r" b="b"/>
              <a:pathLst>
                <a:path w="2926080" h="82296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280" b="-19280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292608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7F3E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BOOKS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 rot="115320">
            <a:off x="3132887" y="2425065"/>
            <a:ext cx="1278017" cy="0"/>
          </a:xfrm>
          <a:prstGeom prst="line">
            <a:avLst/>
          </a:prstGeom>
          <a:ln w="19050" cap="rnd">
            <a:solidFill>
              <a:srgbClr val="C8A96B"/>
            </a:solidFill>
            <a:prstDash val="solid"/>
            <a:headEnd type="triangle" w="lg" len="med"/>
            <a:tailEnd type="triangle" w="lg" len="med"/>
          </a:ln>
        </p:spPr>
      </p:sp>
      <p:grpSp>
        <p:nvGrpSpPr>
          <p:cNvPr id="22" name="Group 22"/>
          <p:cNvGrpSpPr/>
          <p:nvPr/>
        </p:nvGrpSpPr>
        <p:grpSpPr>
          <a:xfrm>
            <a:off x="4791075" y="2116455"/>
            <a:ext cx="2213610" cy="636270"/>
            <a:chOff x="0" y="0"/>
            <a:chExt cx="2951480" cy="84836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951480" cy="848360"/>
            </a:xfrm>
            <a:custGeom>
              <a:avLst/>
              <a:gdLst/>
              <a:ahLst/>
              <a:cxnLst/>
              <a:rect l="l" t="t" r="r" b="b"/>
              <a:pathLst>
                <a:path w="2951480" h="848360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2800604" y="0"/>
                  </a:lnTo>
                  <a:cubicBezTo>
                    <a:pt x="2883916" y="0"/>
                    <a:pt x="2951480" y="67564"/>
                    <a:pt x="2951480" y="150876"/>
                  </a:cubicBezTo>
                  <a:lnTo>
                    <a:pt x="2951480" y="697484"/>
                  </a:lnTo>
                  <a:cubicBezTo>
                    <a:pt x="2951480" y="780796"/>
                    <a:pt x="2883916" y="848360"/>
                    <a:pt x="2800604" y="848360"/>
                  </a:cubicBezTo>
                  <a:lnTo>
                    <a:pt x="150876" y="848360"/>
                  </a:lnTo>
                  <a:cubicBezTo>
                    <a:pt x="67564" y="848360"/>
                    <a:pt x="0" y="780796"/>
                    <a:pt x="0" y="697484"/>
                  </a:cubicBezTo>
                  <a:close/>
                </a:path>
              </a:pathLst>
            </a:custGeom>
            <a:solidFill>
              <a:srgbClr val="14213D"/>
            </a:solidFill>
            <a:ln w="1905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800600" y="2125980"/>
            <a:ext cx="2194560" cy="617220"/>
            <a:chOff x="0" y="0"/>
            <a:chExt cx="2926080" cy="8229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926080" cy="822960"/>
            </a:xfrm>
            <a:custGeom>
              <a:avLst/>
              <a:gdLst/>
              <a:ahLst/>
              <a:cxnLst/>
              <a:rect l="l" t="t" r="r" b="b"/>
              <a:pathLst>
                <a:path w="2926080" h="82296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280" b="-1928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292608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7F3E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LOANS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2960" y="3017520"/>
            <a:ext cx="7543800" cy="548640"/>
            <a:chOff x="0" y="0"/>
            <a:chExt cx="10058400" cy="7315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058400" cy="731520"/>
            </a:xfrm>
            <a:custGeom>
              <a:avLst/>
              <a:gdLst/>
              <a:ahLst/>
              <a:cxnLst/>
              <a:rect l="l" t="t" r="r" b="b"/>
              <a:pathLst>
                <a:path w="10058400" h="73152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919" b="-217919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100584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F3A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Query 9 — Loans with Book Details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13435" y="3666363"/>
            <a:ext cx="1870710" cy="403098"/>
            <a:chOff x="0" y="0"/>
            <a:chExt cx="2494280" cy="53746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494280" cy="537464"/>
            </a:xfrm>
            <a:custGeom>
              <a:avLst/>
              <a:gdLst/>
              <a:ahLst/>
              <a:cxnLst/>
              <a:rect l="l" t="t" r="r" b="b"/>
              <a:pathLst>
                <a:path w="2494280" h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lnTo>
                    <a:pt x="2225548" y="0"/>
                  </a:lnTo>
                  <a:cubicBezTo>
                    <a:pt x="2374011" y="0"/>
                    <a:pt x="2494280" y="120269"/>
                    <a:pt x="2494280" y="268732"/>
                  </a:cubicBezTo>
                  <a:cubicBezTo>
                    <a:pt x="2494280" y="417195"/>
                    <a:pt x="2374011" y="537464"/>
                    <a:pt x="2225548" y="537464"/>
                  </a:cubicBezTo>
                  <a:lnTo>
                    <a:pt x="268732" y="537464"/>
                  </a:ln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822960" y="3675888"/>
            <a:ext cx="1851660" cy="384048"/>
            <a:chOff x="0" y="0"/>
            <a:chExt cx="2468880" cy="51206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468880" cy="512064"/>
            </a:xfrm>
            <a:custGeom>
              <a:avLst/>
              <a:gdLst/>
              <a:ahLst/>
              <a:cxnLst/>
              <a:rect l="l" t="t" r="r" b="b"/>
              <a:pathLst>
                <a:path w="2468880" h="512064">
                  <a:moveTo>
                    <a:pt x="0" y="0"/>
                  </a:moveTo>
                  <a:lnTo>
                    <a:pt x="2468880" y="0"/>
                  </a:lnTo>
                  <a:lnTo>
                    <a:pt x="24688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945" b="-43945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246888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INNER JOIN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15816" y="4244816"/>
            <a:ext cx="7558088" cy="3443288"/>
            <a:chOff x="0" y="0"/>
            <a:chExt cx="10077450" cy="459105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077450" cy="4591050"/>
            </a:xfrm>
            <a:custGeom>
              <a:avLst/>
              <a:gdLst/>
              <a:ahLst/>
              <a:cxnLst/>
              <a:rect l="l" t="t" r="r" b="b"/>
              <a:pathLst>
                <a:path w="10077450" h="4591050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9893808" y="0"/>
                  </a:lnTo>
                  <a:cubicBezTo>
                    <a:pt x="9995281" y="0"/>
                    <a:pt x="10077450" y="82169"/>
                    <a:pt x="10077450" y="183642"/>
                  </a:cubicBezTo>
                  <a:lnTo>
                    <a:pt x="10077450" y="4407408"/>
                  </a:lnTo>
                  <a:cubicBezTo>
                    <a:pt x="10077450" y="4508881"/>
                    <a:pt x="9995281" y="4591050"/>
                    <a:pt x="9893808" y="4591050"/>
                  </a:cubicBezTo>
                  <a:lnTo>
                    <a:pt x="183642" y="4591050"/>
                  </a:lnTo>
                  <a:cubicBezTo>
                    <a:pt x="82169" y="4591050"/>
                    <a:pt x="0" y="4508881"/>
                    <a:pt x="0" y="440740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097280" y="4389120"/>
            <a:ext cx="6995160" cy="342900"/>
            <a:chOff x="0" y="0"/>
            <a:chExt cx="9326880" cy="4572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326880" cy="457200"/>
            </a:xfrm>
            <a:custGeom>
              <a:avLst/>
              <a:gdLst/>
              <a:ahLst/>
              <a:cxnLst/>
              <a:rect l="l" t="t" r="r" b="b"/>
              <a:pathLst>
                <a:path w="9326880" h="457200">
                  <a:moveTo>
                    <a:pt x="0" y="0"/>
                  </a:moveTo>
                  <a:lnTo>
                    <a:pt x="9326880" y="0"/>
                  </a:lnTo>
                  <a:lnTo>
                    <a:pt x="93268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7494" b="-347494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932688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MYSQL CODE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97280" y="4933474"/>
            <a:ext cx="6995160" cy="2477452"/>
            <a:chOff x="0" y="0"/>
            <a:chExt cx="9326880" cy="3303270"/>
          </a:xfrm>
        </p:grpSpPr>
        <p:sp>
          <p:nvSpPr>
            <p:cNvPr id="41" name="Freeform 41" descr="MySQL Workbench screenshot: q9c"/>
            <p:cNvSpPr/>
            <p:nvPr/>
          </p:nvSpPr>
          <p:spPr>
            <a:xfrm>
              <a:off x="0" y="0"/>
              <a:ext cx="9326880" cy="3303270"/>
            </a:xfrm>
            <a:custGeom>
              <a:avLst/>
              <a:gdLst/>
              <a:ahLst/>
              <a:cxnLst/>
              <a:rect l="l" t="t" r="r" b="b"/>
              <a:pathLst>
                <a:path w="9326880" h="3303270">
                  <a:moveTo>
                    <a:pt x="0" y="0"/>
                  </a:moveTo>
                  <a:lnTo>
                    <a:pt x="9326880" y="0"/>
                  </a:lnTo>
                  <a:lnTo>
                    <a:pt x="9326880" y="3303270"/>
                  </a:lnTo>
                  <a:lnTo>
                    <a:pt x="0" y="3303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815816" y="7879556"/>
            <a:ext cx="7558088" cy="1454468"/>
            <a:chOff x="0" y="0"/>
            <a:chExt cx="10077450" cy="193929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077450" cy="1939290"/>
            </a:xfrm>
            <a:custGeom>
              <a:avLst/>
              <a:gdLst/>
              <a:ahLst/>
              <a:cxnLst/>
              <a:rect l="l" t="t" r="r" b="b"/>
              <a:pathLst>
                <a:path w="10077450" h="1939290">
                  <a:moveTo>
                    <a:pt x="0" y="184658"/>
                  </a:moveTo>
                  <a:cubicBezTo>
                    <a:pt x="0" y="82677"/>
                    <a:pt x="82677" y="0"/>
                    <a:pt x="184658" y="0"/>
                  </a:cubicBezTo>
                  <a:lnTo>
                    <a:pt x="9892792" y="0"/>
                  </a:lnTo>
                  <a:cubicBezTo>
                    <a:pt x="9994774" y="0"/>
                    <a:pt x="10077450" y="82677"/>
                    <a:pt x="10077450" y="184658"/>
                  </a:cubicBezTo>
                  <a:lnTo>
                    <a:pt x="10077450" y="1754632"/>
                  </a:lnTo>
                  <a:cubicBezTo>
                    <a:pt x="10077450" y="1856613"/>
                    <a:pt x="9994774" y="1939290"/>
                    <a:pt x="9892792" y="1939290"/>
                  </a:cubicBezTo>
                  <a:lnTo>
                    <a:pt x="184658" y="1939290"/>
                  </a:lnTo>
                  <a:cubicBezTo>
                    <a:pt x="82677" y="1939290"/>
                    <a:pt x="0" y="1856613"/>
                    <a:pt x="0" y="175463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165860" y="8092440"/>
            <a:ext cx="1234440" cy="438912"/>
            <a:chOff x="0" y="0"/>
            <a:chExt cx="1645920" cy="58521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645920" cy="585216"/>
            </a:xfrm>
            <a:custGeom>
              <a:avLst/>
              <a:gdLst/>
              <a:ahLst/>
              <a:cxnLst/>
              <a:rect l="l" t="t" r="r" b="b"/>
              <a:pathLst>
                <a:path w="1645920" h="585216">
                  <a:moveTo>
                    <a:pt x="0" y="0"/>
                  </a:moveTo>
                  <a:lnTo>
                    <a:pt x="1645920" y="0"/>
                  </a:lnTo>
                  <a:lnTo>
                    <a:pt x="1645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01" b="-4801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164592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150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RESULT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459355" y="8082915"/>
            <a:ext cx="3310890" cy="457962"/>
            <a:chOff x="0" y="0"/>
            <a:chExt cx="4414520" cy="61061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414520" cy="610616"/>
            </a:xfrm>
            <a:custGeom>
              <a:avLst/>
              <a:gdLst/>
              <a:ahLst/>
              <a:cxnLst/>
              <a:rect l="l" t="t" r="r" b="b"/>
              <a:pathLst>
                <a:path w="441452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4109212" y="0"/>
                  </a:lnTo>
                  <a:cubicBezTo>
                    <a:pt x="4277868" y="0"/>
                    <a:pt x="4414520" y="136652"/>
                    <a:pt x="4414520" y="305308"/>
                  </a:cubicBezTo>
                  <a:cubicBezTo>
                    <a:pt x="4414520" y="473964"/>
                    <a:pt x="4277868" y="610616"/>
                    <a:pt x="410921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2468880" y="8092440"/>
            <a:ext cx="3291840" cy="438912"/>
            <a:chOff x="0" y="0"/>
            <a:chExt cx="4389120" cy="58521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389120" cy="585216"/>
            </a:xfrm>
            <a:custGeom>
              <a:avLst/>
              <a:gdLst/>
              <a:ahLst/>
              <a:cxnLst/>
              <a:rect l="l" t="t" r="r" b="b"/>
              <a:pathLst>
                <a:path w="4389120" h="585216">
                  <a:moveTo>
                    <a:pt x="0" y="0"/>
                  </a:moveTo>
                  <a:lnTo>
                    <a:pt x="4389120" y="0"/>
                  </a:lnTo>
                  <a:lnTo>
                    <a:pt x="4389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137" b="-96137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0"/>
              <a:ext cx="438912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LOANS + BOOK TITLES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65860" y="8641080"/>
            <a:ext cx="6858000" cy="617220"/>
            <a:chOff x="0" y="0"/>
            <a:chExt cx="9144000" cy="82296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144000" cy="822960"/>
            </a:xfrm>
            <a:custGeom>
              <a:avLst/>
              <a:gdLst/>
              <a:ahLst/>
              <a:cxnLst/>
              <a:rect l="l" t="t" r="r" b="b"/>
              <a:pathLst>
                <a:path w="9144000" h="822960">
                  <a:moveTo>
                    <a:pt x="0" y="0"/>
                  </a:moveTo>
                  <a:lnTo>
                    <a:pt x="9144000" y="0"/>
                  </a:lnTo>
                  <a:lnTo>
                    <a:pt x="91440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500" b="-166500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0"/>
              <a:ext cx="914400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INNER JOIN returns matching records from both tables.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633936" y="2118836"/>
            <a:ext cx="8833676" cy="7215188"/>
            <a:chOff x="0" y="0"/>
            <a:chExt cx="11778234" cy="962025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1778234" cy="9620250"/>
            </a:xfrm>
            <a:custGeom>
              <a:avLst/>
              <a:gdLst/>
              <a:ahLst/>
              <a:cxnLst/>
              <a:rect l="l" t="t" r="r" b="b"/>
              <a:pathLst>
                <a:path w="11778234" h="9620250">
                  <a:moveTo>
                    <a:pt x="0" y="183261"/>
                  </a:moveTo>
                  <a:cubicBezTo>
                    <a:pt x="0" y="82042"/>
                    <a:pt x="82042" y="0"/>
                    <a:pt x="183261" y="0"/>
                  </a:cubicBezTo>
                  <a:lnTo>
                    <a:pt x="11594973" y="0"/>
                  </a:lnTo>
                  <a:cubicBezTo>
                    <a:pt x="11696192" y="0"/>
                    <a:pt x="11778234" y="82042"/>
                    <a:pt x="11778234" y="183261"/>
                  </a:cubicBezTo>
                  <a:lnTo>
                    <a:pt x="11778234" y="9436989"/>
                  </a:lnTo>
                  <a:cubicBezTo>
                    <a:pt x="11778234" y="9538208"/>
                    <a:pt x="11696192" y="9620250"/>
                    <a:pt x="11594973" y="9620250"/>
                  </a:cubicBezTo>
                  <a:lnTo>
                    <a:pt x="183261" y="9620250"/>
                  </a:lnTo>
                  <a:cubicBezTo>
                    <a:pt x="82042" y="9620250"/>
                    <a:pt x="0" y="9538208"/>
                    <a:pt x="0" y="943698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8915400" y="2263140"/>
            <a:ext cx="8270748" cy="342900"/>
            <a:chOff x="0" y="0"/>
            <a:chExt cx="11027664" cy="4572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1027664" cy="457200"/>
            </a:xfrm>
            <a:custGeom>
              <a:avLst/>
              <a:gdLst/>
              <a:ahLst/>
              <a:cxnLst/>
              <a:rect l="l" t="t" r="r" b="b"/>
              <a:pathLst>
                <a:path w="11027664" h="457200">
                  <a:moveTo>
                    <a:pt x="0" y="0"/>
                  </a:moveTo>
                  <a:lnTo>
                    <a:pt x="11027664" y="0"/>
                  </a:lnTo>
                  <a:lnTo>
                    <a:pt x="1102766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9979" b="-419979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1102766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QUERY OUTPUT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0198227" y="2743200"/>
            <a:ext cx="5705104" cy="6377940"/>
            <a:chOff x="0" y="0"/>
            <a:chExt cx="7606805" cy="8503920"/>
          </a:xfrm>
        </p:grpSpPr>
        <p:sp>
          <p:nvSpPr>
            <p:cNvPr id="61" name="Freeform 61" descr="MySQL Workbench screenshot: q9o"/>
            <p:cNvSpPr/>
            <p:nvPr/>
          </p:nvSpPr>
          <p:spPr>
            <a:xfrm>
              <a:off x="0" y="0"/>
              <a:ext cx="7606792" cy="8503920"/>
            </a:xfrm>
            <a:custGeom>
              <a:avLst/>
              <a:gdLst/>
              <a:ahLst/>
              <a:cxnLst/>
              <a:rect l="l" t="t" r="r" b="b"/>
              <a:pathLst>
                <a:path w="7606792" h="8503920">
                  <a:moveTo>
                    <a:pt x="0" y="0"/>
                  </a:moveTo>
                  <a:lnTo>
                    <a:pt x="7606792" y="0"/>
                  </a:lnTo>
                  <a:lnTo>
                    <a:pt x="7606792" y="8503920"/>
                  </a:lnTo>
                  <a:lnTo>
                    <a:pt x="0" y="8503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920">
            <a:off x="811044" y="1805750"/>
            <a:ext cx="16661340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2940">
            <a:off x="815816" y="9569006"/>
            <a:ext cx="16651805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22960" y="9683496"/>
            <a:ext cx="10972800" cy="342900"/>
            <a:chOff x="0" y="0"/>
            <a:chExt cx="146304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1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LIBRARY MANAGEMENT SYSTEM  ·  MYSQL DATABASE PROJECT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850392"/>
            <a:ext cx="16637508" cy="850392"/>
            <a:chOff x="0" y="0"/>
            <a:chExt cx="22183344" cy="11338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3344" cy="1133856"/>
            </a:xfrm>
            <a:custGeom>
              <a:avLst/>
              <a:gdLst/>
              <a:ahLst/>
              <a:cxnLst/>
              <a:rect l="l" t="t" r="r" b="b"/>
              <a:pathLst>
                <a:path w="22183344" h="1133856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1215" b="-33121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2183344" cy="1124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SQL Query — LEFT JOIN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2960" y="466344"/>
            <a:ext cx="10972800" cy="342900"/>
            <a:chOff x="0" y="0"/>
            <a:chExt cx="1463040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SQL QUERY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73400" y="9683496"/>
            <a:ext cx="1687068" cy="342900"/>
            <a:chOff x="0" y="0"/>
            <a:chExt cx="2249424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4" cy="457200"/>
            </a:xfrm>
            <a:custGeom>
              <a:avLst/>
              <a:gdLst/>
              <a:ahLst/>
              <a:cxnLst/>
              <a:rect l="l" t="t" r="r" b="b"/>
              <a:pathLst>
                <a:path w="2249424" h="457200">
                  <a:moveTo>
                    <a:pt x="0" y="0"/>
                  </a:moveTo>
                  <a:lnTo>
                    <a:pt x="2249424" y="0"/>
                  </a:lnTo>
                  <a:lnTo>
                    <a:pt x="22494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866" b="-4586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2494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20 / 25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13435" y="2116455"/>
            <a:ext cx="2213610" cy="636270"/>
            <a:chOff x="0" y="0"/>
            <a:chExt cx="2951480" cy="8483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951480" cy="848360"/>
            </a:xfrm>
            <a:custGeom>
              <a:avLst/>
              <a:gdLst/>
              <a:ahLst/>
              <a:cxnLst/>
              <a:rect l="l" t="t" r="r" b="b"/>
              <a:pathLst>
                <a:path w="2951480" h="848360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2800604" y="0"/>
                  </a:lnTo>
                  <a:cubicBezTo>
                    <a:pt x="2883916" y="0"/>
                    <a:pt x="2951480" y="67564"/>
                    <a:pt x="2951480" y="150876"/>
                  </a:cubicBezTo>
                  <a:lnTo>
                    <a:pt x="2951480" y="697484"/>
                  </a:lnTo>
                  <a:cubicBezTo>
                    <a:pt x="2951480" y="780796"/>
                    <a:pt x="2883916" y="848360"/>
                    <a:pt x="2800604" y="848360"/>
                  </a:cubicBezTo>
                  <a:lnTo>
                    <a:pt x="150876" y="848360"/>
                  </a:lnTo>
                  <a:cubicBezTo>
                    <a:pt x="67564" y="848360"/>
                    <a:pt x="0" y="780796"/>
                    <a:pt x="0" y="697484"/>
                  </a:cubicBezTo>
                  <a:close/>
                </a:path>
              </a:pathLst>
            </a:custGeom>
            <a:solidFill>
              <a:srgbClr val="14213D"/>
            </a:solidFill>
            <a:ln w="1905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822960" y="2125980"/>
            <a:ext cx="2194560" cy="617220"/>
            <a:chOff x="0" y="0"/>
            <a:chExt cx="2926080" cy="8229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926080" cy="822960"/>
            </a:xfrm>
            <a:custGeom>
              <a:avLst/>
              <a:gdLst/>
              <a:ahLst/>
              <a:cxnLst/>
              <a:rect l="l" t="t" r="r" b="b"/>
              <a:pathLst>
                <a:path w="2926080" h="82296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280" b="-19280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292608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7F3E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BOOKS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 rot="115320">
            <a:off x="3132887" y="2425065"/>
            <a:ext cx="1278017" cy="0"/>
          </a:xfrm>
          <a:prstGeom prst="line">
            <a:avLst/>
          </a:prstGeom>
          <a:ln w="19050" cap="rnd">
            <a:solidFill>
              <a:srgbClr val="C8A96B"/>
            </a:solidFill>
            <a:prstDash val="solid"/>
            <a:headEnd type="triangle" w="lg" len="med"/>
            <a:tailEnd type="triangle" w="lg" len="med"/>
          </a:ln>
        </p:spPr>
      </p:sp>
      <p:grpSp>
        <p:nvGrpSpPr>
          <p:cNvPr id="22" name="Group 22"/>
          <p:cNvGrpSpPr/>
          <p:nvPr/>
        </p:nvGrpSpPr>
        <p:grpSpPr>
          <a:xfrm>
            <a:off x="4791075" y="2116455"/>
            <a:ext cx="2213610" cy="636270"/>
            <a:chOff x="0" y="0"/>
            <a:chExt cx="2951480" cy="84836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951480" cy="848360"/>
            </a:xfrm>
            <a:custGeom>
              <a:avLst/>
              <a:gdLst/>
              <a:ahLst/>
              <a:cxnLst/>
              <a:rect l="l" t="t" r="r" b="b"/>
              <a:pathLst>
                <a:path w="2951480" h="848360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2800604" y="0"/>
                  </a:lnTo>
                  <a:cubicBezTo>
                    <a:pt x="2883916" y="0"/>
                    <a:pt x="2951480" y="67564"/>
                    <a:pt x="2951480" y="150876"/>
                  </a:cubicBezTo>
                  <a:lnTo>
                    <a:pt x="2951480" y="697484"/>
                  </a:lnTo>
                  <a:cubicBezTo>
                    <a:pt x="2951480" y="780796"/>
                    <a:pt x="2883916" y="848360"/>
                    <a:pt x="2800604" y="848360"/>
                  </a:cubicBezTo>
                  <a:lnTo>
                    <a:pt x="150876" y="848360"/>
                  </a:lnTo>
                  <a:cubicBezTo>
                    <a:pt x="67564" y="848360"/>
                    <a:pt x="0" y="780796"/>
                    <a:pt x="0" y="697484"/>
                  </a:cubicBezTo>
                  <a:close/>
                </a:path>
              </a:pathLst>
            </a:custGeom>
            <a:solidFill>
              <a:srgbClr val="14213D"/>
            </a:solidFill>
            <a:ln w="1905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800600" y="2125980"/>
            <a:ext cx="2194560" cy="617220"/>
            <a:chOff x="0" y="0"/>
            <a:chExt cx="2926080" cy="8229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926080" cy="822960"/>
            </a:xfrm>
            <a:custGeom>
              <a:avLst/>
              <a:gdLst/>
              <a:ahLst/>
              <a:cxnLst/>
              <a:rect l="l" t="t" r="r" b="b"/>
              <a:pathLst>
                <a:path w="2926080" h="822960">
                  <a:moveTo>
                    <a:pt x="0" y="0"/>
                  </a:moveTo>
                  <a:lnTo>
                    <a:pt x="2926080" y="0"/>
                  </a:lnTo>
                  <a:lnTo>
                    <a:pt x="29260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280" b="-1928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292608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7F3E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LOANS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2960" y="3017520"/>
            <a:ext cx="7543800" cy="548640"/>
            <a:chOff x="0" y="0"/>
            <a:chExt cx="10058400" cy="7315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058400" cy="731520"/>
            </a:xfrm>
            <a:custGeom>
              <a:avLst/>
              <a:gdLst/>
              <a:ahLst/>
              <a:cxnLst/>
              <a:rect l="l" t="t" r="r" b="b"/>
              <a:pathLst>
                <a:path w="10058400" h="73152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919" b="-217919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100584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F3A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Query 10 — All Books and Associated Loans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13435" y="3666363"/>
            <a:ext cx="1740408" cy="403098"/>
            <a:chOff x="0" y="0"/>
            <a:chExt cx="2320544" cy="53746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320544" cy="537464"/>
            </a:xfrm>
            <a:custGeom>
              <a:avLst/>
              <a:gdLst/>
              <a:ahLst/>
              <a:cxnLst/>
              <a:rect l="l" t="t" r="r" b="b"/>
              <a:pathLst>
                <a:path w="2320544" h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lnTo>
                    <a:pt x="2051812" y="0"/>
                  </a:lnTo>
                  <a:cubicBezTo>
                    <a:pt x="2200275" y="0"/>
                    <a:pt x="2320544" y="120269"/>
                    <a:pt x="2320544" y="268732"/>
                  </a:cubicBezTo>
                  <a:cubicBezTo>
                    <a:pt x="2320544" y="417195"/>
                    <a:pt x="2200275" y="537464"/>
                    <a:pt x="2051812" y="537464"/>
                  </a:cubicBezTo>
                  <a:lnTo>
                    <a:pt x="268732" y="537464"/>
                  </a:ln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822960" y="3675888"/>
            <a:ext cx="1721358" cy="384048"/>
            <a:chOff x="0" y="0"/>
            <a:chExt cx="2295144" cy="51206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295144" cy="512064"/>
            </a:xfrm>
            <a:custGeom>
              <a:avLst/>
              <a:gdLst/>
              <a:ahLst/>
              <a:cxnLst/>
              <a:rect l="l" t="t" r="r" b="b"/>
              <a:pathLst>
                <a:path w="2295144" h="512064">
                  <a:moveTo>
                    <a:pt x="0" y="0"/>
                  </a:moveTo>
                  <a:lnTo>
                    <a:pt x="2295144" y="0"/>
                  </a:lnTo>
                  <a:lnTo>
                    <a:pt x="229514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334" b="-37334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2295144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LEFT JOIN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15816" y="4244816"/>
            <a:ext cx="7558088" cy="3443288"/>
            <a:chOff x="0" y="0"/>
            <a:chExt cx="10077450" cy="459105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077450" cy="4591050"/>
            </a:xfrm>
            <a:custGeom>
              <a:avLst/>
              <a:gdLst/>
              <a:ahLst/>
              <a:cxnLst/>
              <a:rect l="l" t="t" r="r" b="b"/>
              <a:pathLst>
                <a:path w="10077450" h="4591050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9893808" y="0"/>
                  </a:lnTo>
                  <a:cubicBezTo>
                    <a:pt x="9995281" y="0"/>
                    <a:pt x="10077450" y="82169"/>
                    <a:pt x="10077450" y="183642"/>
                  </a:cubicBezTo>
                  <a:lnTo>
                    <a:pt x="10077450" y="4407408"/>
                  </a:lnTo>
                  <a:cubicBezTo>
                    <a:pt x="10077450" y="4508881"/>
                    <a:pt x="9995281" y="4591050"/>
                    <a:pt x="9893808" y="4591050"/>
                  </a:cubicBezTo>
                  <a:lnTo>
                    <a:pt x="183642" y="4591050"/>
                  </a:lnTo>
                  <a:cubicBezTo>
                    <a:pt x="82169" y="4591050"/>
                    <a:pt x="0" y="4508881"/>
                    <a:pt x="0" y="440740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097280" y="4389120"/>
            <a:ext cx="6995160" cy="342900"/>
            <a:chOff x="0" y="0"/>
            <a:chExt cx="9326880" cy="4572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326880" cy="457200"/>
            </a:xfrm>
            <a:custGeom>
              <a:avLst/>
              <a:gdLst/>
              <a:ahLst/>
              <a:cxnLst/>
              <a:rect l="l" t="t" r="r" b="b"/>
              <a:pathLst>
                <a:path w="9326880" h="457200">
                  <a:moveTo>
                    <a:pt x="0" y="0"/>
                  </a:moveTo>
                  <a:lnTo>
                    <a:pt x="9326880" y="0"/>
                  </a:lnTo>
                  <a:lnTo>
                    <a:pt x="93268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7494" b="-347494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932688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MYSQL CODE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97280" y="5214528"/>
            <a:ext cx="6995160" cy="1915344"/>
            <a:chOff x="0" y="0"/>
            <a:chExt cx="9326880" cy="2553792"/>
          </a:xfrm>
        </p:grpSpPr>
        <p:sp>
          <p:nvSpPr>
            <p:cNvPr id="41" name="Freeform 41" descr="MySQL Workbench screenshot: q10c"/>
            <p:cNvSpPr/>
            <p:nvPr/>
          </p:nvSpPr>
          <p:spPr>
            <a:xfrm>
              <a:off x="0" y="0"/>
              <a:ext cx="9326880" cy="2553843"/>
            </a:xfrm>
            <a:custGeom>
              <a:avLst/>
              <a:gdLst/>
              <a:ahLst/>
              <a:cxnLst/>
              <a:rect l="l" t="t" r="r" b="b"/>
              <a:pathLst>
                <a:path w="9326880" h="2553843">
                  <a:moveTo>
                    <a:pt x="0" y="0"/>
                  </a:moveTo>
                  <a:lnTo>
                    <a:pt x="9326880" y="0"/>
                  </a:lnTo>
                  <a:lnTo>
                    <a:pt x="9326880" y="2553843"/>
                  </a:lnTo>
                  <a:lnTo>
                    <a:pt x="0" y="2553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815816" y="7879556"/>
            <a:ext cx="7558088" cy="1454468"/>
            <a:chOff x="0" y="0"/>
            <a:chExt cx="10077450" cy="193929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077450" cy="1939290"/>
            </a:xfrm>
            <a:custGeom>
              <a:avLst/>
              <a:gdLst/>
              <a:ahLst/>
              <a:cxnLst/>
              <a:rect l="l" t="t" r="r" b="b"/>
              <a:pathLst>
                <a:path w="10077450" h="1939290">
                  <a:moveTo>
                    <a:pt x="0" y="184658"/>
                  </a:moveTo>
                  <a:cubicBezTo>
                    <a:pt x="0" y="82677"/>
                    <a:pt x="82677" y="0"/>
                    <a:pt x="184658" y="0"/>
                  </a:cubicBezTo>
                  <a:lnTo>
                    <a:pt x="9892792" y="0"/>
                  </a:lnTo>
                  <a:cubicBezTo>
                    <a:pt x="9994774" y="0"/>
                    <a:pt x="10077450" y="82677"/>
                    <a:pt x="10077450" y="184658"/>
                  </a:cubicBezTo>
                  <a:lnTo>
                    <a:pt x="10077450" y="1754632"/>
                  </a:lnTo>
                  <a:cubicBezTo>
                    <a:pt x="10077450" y="1856613"/>
                    <a:pt x="9994774" y="1939290"/>
                    <a:pt x="9892792" y="1939290"/>
                  </a:cubicBezTo>
                  <a:lnTo>
                    <a:pt x="184658" y="1939290"/>
                  </a:lnTo>
                  <a:cubicBezTo>
                    <a:pt x="82677" y="1939290"/>
                    <a:pt x="0" y="1856613"/>
                    <a:pt x="0" y="175463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165860" y="8092440"/>
            <a:ext cx="1234440" cy="438912"/>
            <a:chOff x="0" y="0"/>
            <a:chExt cx="1645920" cy="58521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645920" cy="585216"/>
            </a:xfrm>
            <a:custGeom>
              <a:avLst/>
              <a:gdLst/>
              <a:ahLst/>
              <a:cxnLst/>
              <a:rect l="l" t="t" r="r" b="b"/>
              <a:pathLst>
                <a:path w="1645920" h="585216">
                  <a:moveTo>
                    <a:pt x="0" y="0"/>
                  </a:moveTo>
                  <a:lnTo>
                    <a:pt x="1645920" y="0"/>
                  </a:lnTo>
                  <a:lnTo>
                    <a:pt x="1645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01" b="-4801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164592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150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RESULT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459355" y="8082915"/>
            <a:ext cx="3173730" cy="457962"/>
            <a:chOff x="0" y="0"/>
            <a:chExt cx="4231640" cy="61061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231640" cy="610616"/>
            </a:xfrm>
            <a:custGeom>
              <a:avLst/>
              <a:gdLst/>
              <a:ahLst/>
              <a:cxnLst/>
              <a:rect l="l" t="t" r="r" b="b"/>
              <a:pathLst>
                <a:path w="423164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3926332" y="0"/>
                  </a:lnTo>
                  <a:cubicBezTo>
                    <a:pt x="4094988" y="0"/>
                    <a:pt x="4231640" y="136652"/>
                    <a:pt x="4231640" y="305308"/>
                  </a:cubicBezTo>
                  <a:cubicBezTo>
                    <a:pt x="4231640" y="473964"/>
                    <a:pt x="4094988" y="610616"/>
                    <a:pt x="392633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2468880" y="8092440"/>
            <a:ext cx="3154680" cy="438912"/>
            <a:chOff x="0" y="0"/>
            <a:chExt cx="4206240" cy="58521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206240" cy="585216"/>
            </a:xfrm>
            <a:custGeom>
              <a:avLst/>
              <a:gdLst/>
              <a:ahLst/>
              <a:cxnLst/>
              <a:rect l="l" t="t" r="r" b="b"/>
              <a:pathLst>
                <a:path w="4206240" h="585216">
                  <a:moveTo>
                    <a:pt x="0" y="0"/>
                  </a:moveTo>
                  <a:lnTo>
                    <a:pt x="4206240" y="0"/>
                  </a:lnTo>
                  <a:lnTo>
                    <a:pt x="4206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0048" b="-90048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0"/>
              <a:ext cx="420624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ALL BOOKS INCLUDED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65860" y="8641080"/>
            <a:ext cx="6858000" cy="617220"/>
            <a:chOff x="0" y="0"/>
            <a:chExt cx="9144000" cy="82296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144000" cy="822960"/>
            </a:xfrm>
            <a:custGeom>
              <a:avLst/>
              <a:gdLst/>
              <a:ahLst/>
              <a:cxnLst/>
              <a:rect l="l" t="t" r="r" b="b"/>
              <a:pathLst>
                <a:path w="9144000" h="822960">
                  <a:moveTo>
                    <a:pt x="0" y="0"/>
                  </a:moveTo>
                  <a:lnTo>
                    <a:pt x="9144000" y="0"/>
                  </a:lnTo>
                  <a:lnTo>
                    <a:pt x="91440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500" b="-166500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0"/>
              <a:ext cx="914400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LEFT JOIN returns all books, including books without associated loans.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633936" y="2118836"/>
            <a:ext cx="8833676" cy="7215188"/>
            <a:chOff x="0" y="0"/>
            <a:chExt cx="11778234" cy="962025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1778234" cy="9620250"/>
            </a:xfrm>
            <a:custGeom>
              <a:avLst/>
              <a:gdLst/>
              <a:ahLst/>
              <a:cxnLst/>
              <a:rect l="l" t="t" r="r" b="b"/>
              <a:pathLst>
                <a:path w="11778234" h="9620250">
                  <a:moveTo>
                    <a:pt x="0" y="183261"/>
                  </a:moveTo>
                  <a:cubicBezTo>
                    <a:pt x="0" y="82042"/>
                    <a:pt x="82042" y="0"/>
                    <a:pt x="183261" y="0"/>
                  </a:cubicBezTo>
                  <a:lnTo>
                    <a:pt x="11594973" y="0"/>
                  </a:lnTo>
                  <a:cubicBezTo>
                    <a:pt x="11696192" y="0"/>
                    <a:pt x="11778234" y="82042"/>
                    <a:pt x="11778234" y="183261"/>
                  </a:cubicBezTo>
                  <a:lnTo>
                    <a:pt x="11778234" y="9436989"/>
                  </a:lnTo>
                  <a:cubicBezTo>
                    <a:pt x="11778234" y="9538208"/>
                    <a:pt x="11696192" y="9620250"/>
                    <a:pt x="11594973" y="9620250"/>
                  </a:cubicBezTo>
                  <a:lnTo>
                    <a:pt x="183261" y="9620250"/>
                  </a:lnTo>
                  <a:cubicBezTo>
                    <a:pt x="82042" y="9620250"/>
                    <a:pt x="0" y="9538208"/>
                    <a:pt x="0" y="943698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8915400" y="2263140"/>
            <a:ext cx="8270748" cy="342900"/>
            <a:chOff x="0" y="0"/>
            <a:chExt cx="11027664" cy="4572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1027664" cy="457200"/>
            </a:xfrm>
            <a:custGeom>
              <a:avLst/>
              <a:gdLst/>
              <a:ahLst/>
              <a:cxnLst/>
              <a:rect l="l" t="t" r="r" b="b"/>
              <a:pathLst>
                <a:path w="11027664" h="457200">
                  <a:moveTo>
                    <a:pt x="0" y="0"/>
                  </a:moveTo>
                  <a:lnTo>
                    <a:pt x="11027664" y="0"/>
                  </a:lnTo>
                  <a:lnTo>
                    <a:pt x="1102766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9979" b="-419979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1102766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QUERY OUTPUT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750152" y="2743200"/>
            <a:ext cx="6601235" cy="6377940"/>
            <a:chOff x="0" y="0"/>
            <a:chExt cx="8801646" cy="8503920"/>
          </a:xfrm>
        </p:grpSpPr>
        <p:sp>
          <p:nvSpPr>
            <p:cNvPr id="61" name="Freeform 61" descr="MySQL Workbench screenshot: q10o"/>
            <p:cNvSpPr/>
            <p:nvPr/>
          </p:nvSpPr>
          <p:spPr>
            <a:xfrm>
              <a:off x="0" y="0"/>
              <a:ext cx="8801608" cy="8503920"/>
            </a:xfrm>
            <a:custGeom>
              <a:avLst/>
              <a:gdLst/>
              <a:ahLst/>
              <a:cxnLst/>
              <a:rect l="l" t="t" r="r" b="b"/>
              <a:pathLst>
                <a:path w="8801608" h="8503920">
                  <a:moveTo>
                    <a:pt x="0" y="0"/>
                  </a:moveTo>
                  <a:lnTo>
                    <a:pt x="8801608" y="0"/>
                  </a:lnTo>
                  <a:lnTo>
                    <a:pt x="8801608" y="8503920"/>
                  </a:lnTo>
                  <a:lnTo>
                    <a:pt x="0" y="8503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920">
            <a:off x="811044" y="1805750"/>
            <a:ext cx="16661340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2940">
            <a:off x="815816" y="9569006"/>
            <a:ext cx="16651805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22960" y="9683496"/>
            <a:ext cx="10972800" cy="342900"/>
            <a:chOff x="0" y="0"/>
            <a:chExt cx="146304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1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LIBRARY MANAGEMENT SYSTEM  ·  MYSQL DATABASE PROJECT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850392"/>
            <a:ext cx="16637508" cy="850392"/>
            <a:chOff x="0" y="0"/>
            <a:chExt cx="22183344" cy="11338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3344" cy="1133856"/>
            </a:xfrm>
            <a:custGeom>
              <a:avLst/>
              <a:gdLst/>
              <a:ahLst/>
              <a:cxnLst/>
              <a:rect l="l" t="t" r="r" b="b"/>
              <a:pathLst>
                <a:path w="22183344" h="1133856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1215" b="-33121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2183344" cy="1124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Advanced SQL — Aggregation &amp; Subquery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2960" y="466344"/>
            <a:ext cx="10972800" cy="342900"/>
            <a:chOff x="0" y="0"/>
            <a:chExt cx="1463040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ADVANCED SQL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73400" y="9683496"/>
            <a:ext cx="1687068" cy="342900"/>
            <a:chOff x="0" y="0"/>
            <a:chExt cx="2249424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4" cy="457200"/>
            </a:xfrm>
            <a:custGeom>
              <a:avLst/>
              <a:gdLst/>
              <a:ahLst/>
              <a:cxnLst/>
              <a:rect l="l" t="t" r="r" b="b"/>
              <a:pathLst>
                <a:path w="2249424" h="457200">
                  <a:moveTo>
                    <a:pt x="0" y="0"/>
                  </a:moveTo>
                  <a:lnTo>
                    <a:pt x="2249424" y="0"/>
                  </a:lnTo>
                  <a:lnTo>
                    <a:pt x="22494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866" b="-4586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2494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21 / 25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 rot="5391000">
            <a:off x="5500183" y="5687378"/>
            <a:ext cx="7288559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822960" y="1920240"/>
            <a:ext cx="802386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1F3A5F"/>
                </a:solidFill>
                <a:latin typeface="Aptos Bold"/>
                <a:ea typeface="Aptos Bold"/>
                <a:cs typeface="Aptos Bold"/>
                <a:sym typeface="Aptos Bold"/>
              </a:rPr>
              <a:t>Query 11 — Total Books Written by Each Author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13435" y="2665095"/>
            <a:ext cx="3825240" cy="403098"/>
            <a:chOff x="0" y="0"/>
            <a:chExt cx="5100320" cy="53746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100320" cy="537464"/>
            </a:xfrm>
            <a:custGeom>
              <a:avLst/>
              <a:gdLst/>
              <a:ahLst/>
              <a:cxnLst/>
              <a:rect l="l" t="t" r="r" b="b"/>
              <a:pathLst>
                <a:path w="5100320" h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lnTo>
                    <a:pt x="4831588" y="0"/>
                  </a:lnTo>
                  <a:cubicBezTo>
                    <a:pt x="4980051" y="0"/>
                    <a:pt x="5100320" y="120269"/>
                    <a:pt x="5100320" y="268732"/>
                  </a:cubicBezTo>
                  <a:cubicBezTo>
                    <a:pt x="5100320" y="417195"/>
                    <a:pt x="4980051" y="537464"/>
                    <a:pt x="4831588" y="537464"/>
                  </a:cubicBezTo>
                  <a:lnTo>
                    <a:pt x="268732" y="537464"/>
                  </a:ln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22960" y="2674620"/>
            <a:ext cx="3806190" cy="384048"/>
            <a:chOff x="0" y="0"/>
            <a:chExt cx="5074920" cy="51206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074920" cy="512064"/>
            </a:xfrm>
            <a:custGeom>
              <a:avLst/>
              <a:gdLst/>
              <a:ahLst/>
              <a:cxnLst/>
              <a:rect l="l" t="t" r="r" b="b"/>
              <a:pathLst>
                <a:path w="5074920" h="512064">
                  <a:moveTo>
                    <a:pt x="0" y="0"/>
                  </a:moveTo>
                  <a:lnTo>
                    <a:pt x="5074920" y="0"/>
                  </a:lnTo>
                  <a:lnTo>
                    <a:pt x="50749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3110" b="-143110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507492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JOIN + COUNT() + GROUP BY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5816" y="3120104"/>
            <a:ext cx="8038147" cy="3374708"/>
            <a:chOff x="0" y="0"/>
            <a:chExt cx="10717530" cy="449961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717530" cy="4499610"/>
            </a:xfrm>
            <a:custGeom>
              <a:avLst/>
              <a:gdLst/>
              <a:ahLst/>
              <a:cxnLst/>
              <a:rect l="l" t="t" r="r" b="b"/>
              <a:pathLst>
                <a:path w="10717530" h="4499610">
                  <a:moveTo>
                    <a:pt x="0" y="183642"/>
                  </a:moveTo>
                  <a:cubicBezTo>
                    <a:pt x="0" y="82296"/>
                    <a:pt x="82296" y="0"/>
                    <a:pt x="183642" y="0"/>
                  </a:cubicBezTo>
                  <a:lnTo>
                    <a:pt x="10533888" y="0"/>
                  </a:lnTo>
                  <a:cubicBezTo>
                    <a:pt x="10635361" y="0"/>
                    <a:pt x="10717530" y="82296"/>
                    <a:pt x="10717530" y="183642"/>
                  </a:cubicBezTo>
                  <a:lnTo>
                    <a:pt x="10717530" y="4315968"/>
                  </a:lnTo>
                  <a:cubicBezTo>
                    <a:pt x="10717530" y="4417441"/>
                    <a:pt x="10635234" y="4499610"/>
                    <a:pt x="10533888" y="4499610"/>
                  </a:cubicBezTo>
                  <a:lnTo>
                    <a:pt x="183642" y="4499610"/>
                  </a:lnTo>
                  <a:cubicBezTo>
                    <a:pt x="82296" y="4499610"/>
                    <a:pt x="0" y="4417314"/>
                    <a:pt x="0" y="431596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840867" y="3145155"/>
            <a:ext cx="7988046" cy="512826"/>
            <a:chOff x="0" y="0"/>
            <a:chExt cx="10650728" cy="68376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650728" cy="683768"/>
            </a:xfrm>
            <a:custGeom>
              <a:avLst/>
              <a:gdLst/>
              <a:ahLst/>
              <a:cxnLst/>
              <a:rect l="l" t="t" r="r" b="b"/>
              <a:pathLst>
                <a:path w="10650728" h="683768">
                  <a:moveTo>
                    <a:pt x="0" y="0"/>
                  </a:moveTo>
                  <a:lnTo>
                    <a:pt x="10650728" y="0"/>
                  </a:lnTo>
                  <a:lnTo>
                    <a:pt x="10650728" y="683768"/>
                  </a:lnTo>
                  <a:lnTo>
                    <a:pt x="0" y="683768"/>
                  </a:lnTo>
                  <a:close/>
                </a:path>
              </a:pathLst>
            </a:custGeom>
            <a:solidFill>
              <a:srgbClr val="14213D"/>
            </a:solidFill>
            <a:ln w="1905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097280" y="3154680"/>
            <a:ext cx="7475220" cy="493776"/>
            <a:chOff x="0" y="0"/>
            <a:chExt cx="9966960" cy="65836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966960" cy="658368"/>
            </a:xfrm>
            <a:custGeom>
              <a:avLst/>
              <a:gdLst/>
              <a:ahLst/>
              <a:cxnLst/>
              <a:rect l="l" t="t" r="r" b="b"/>
              <a:pathLst>
                <a:path w="9966960" h="658368">
                  <a:moveTo>
                    <a:pt x="0" y="0"/>
                  </a:moveTo>
                  <a:lnTo>
                    <a:pt x="9966960" y="0"/>
                  </a:lnTo>
                  <a:lnTo>
                    <a:pt x="99669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4981" b="-244981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9966960" cy="6583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MYSQL CODE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569150" y="3813048"/>
            <a:ext cx="4531490" cy="2468880"/>
            <a:chOff x="0" y="0"/>
            <a:chExt cx="6041987" cy="3291840"/>
          </a:xfrm>
        </p:grpSpPr>
        <p:sp>
          <p:nvSpPr>
            <p:cNvPr id="31" name="Freeform 31" descr="MySQL Workbench screenshot: q11c"/>
            <p:cNvSpPr/>
            <p:nvPr/>
          </p:nvSpPr>
          <p:spPr>
            <a:xfrm>
              <a:off x="0" y="0"/>
              <a:ext cx="6042025" cy="3291840"/>
            </a:xfrm>
            <a:custGeom>
              <a:avLst/>
              <a:gdLst/>
              <a:ahLst/>
              <a:cxnLst/>
              <a:rect l="l" t="t" r="r" b="b"/>
              <a:pathLst>
                <a:path w="6042025" h="3291840">
                  <a:moveTo>
                    <a:pt x="0" y="0"/>
                  </a:moveTo>
                  <a:lnTo>
                    <a:pt x="6042025" y="0"/>
                  </a:lnTo>
                  <a:lnTo>
                    <a:pt x="6042025" y="3291840"/>
                  </a:lnTo>
                  <a:lnTo>
                    <a:pt x="0" y="3291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815816" y="6617684"/>
            <a:ext cx="8038147" cy="2757488"/>
            <a:chOff x="0" y="0"/>
            <a:chExt cx="10717530" cy="367665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717530" cy="3676650"/>
            </a:xfrm>
            <a:custGeom>
              <a:avLst/>
              <a:gdLst/>
              <a:ahLst/>
              <a:cxnLst/>
              <a:rect l="l" t="t" r="r" b="b"/>
              <a:pathLst>
                <a:path w="10717530" h="367665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10533634" y="0"/>
                  </a:lnTo>
                  <a:cubicBezTo>
                    <a:pt x="10635107" y="0"/>
                    <a:pt x="10717530" y="82296"/>
                    <a:pt x="10717530" y="183769"/>
                  </a:cubicBezTo>
                  <a:lnTo>
                    <a:pt x="10717530" y="3492754"/>
                  </a:lnTo>
                  <a:cubicBezTo>
                    <a:pt x="10717530" y="3594227"/>
                    <a:pt x="10635234" y="3676650"/>
                    <a:pt x="10533634" y="3676650"/>
                  </a:cubicBezTo>
                  <a:lnTo>
                    <a:pt x="183769" y="3676650"/>
                  </a:lnTo>
                  <a:cubicBezTo>
                    <a:pt x="82296" y="3676650"/>
                    <a:pt x="0" y="3594354"/>
                    <a:pt x="0" y="349275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840867" y="6642735"/>
            <a:ext cx="7988046" cy="512826"/>
            <a:chOff x="0" y="0"/>
            <a:chExt cx="10650728" cy="68376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650728" cy="683768"/>
            </a:xfrm>
            <a:custGeom>
              <a:avLst/>
              <a:gdLst/>
              <a:ahLst/>
              <a:cxnLst/>
              <a:rect l="l" t="t" r="r" b="b"/>
              <a:pathLst>
                <a:path w="10650728" h="683768">
                  <a:moveTo>
                    <a:pt x="0" y="0"/>
                  </a:moveTo>
                  <a:lnTo>
                    <a:pt x="10650728" y="0"/>
                  </a:lnTo>
                  <a:lnTo>
                    <a:pt x="10650728" y="683768"/>
                  </a:lnTo>
                  <a:lnTo>
                    <a:pt x="0" y="683768"/>
                  </a:lnTo>
                  <a:close/>
                </a:path>
              </a:pathLst>
            </a:custGeom>
            <a:solidFill>
              <a:srgbClr val="14213D"/>
            </a:solidFill>
            <a:ln w="1905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097280" y="6652260"/>
            <a:ext cx="7475220" cy="493776"/>
            <a:chOff x="0" y="0"/>
            <a:chExt cx="9966960" cy="65836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966960" cy="658368"/>
            </a:xfrm>
            <a:custGeom>
              <a:avLst/>
              <a:gdLst/>
              <a:ahLst/>
              <a:cxnLst/>
              <a:rect l="l" t="t" r="r" b="b"/>
              <a:pathLst>
                <a:path w="9966960" h="658368">
                  <a:moveTo>
                    <a:pt x="0" y="0"/>
                  </a:moveTo>
                  <a:lnTo>
                    <a:pt x="9966960" y="0"/>
                  </a:lnTo>
                  <a:lnTo>
                    <a:pt x="99669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4981" b="-244981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9966960" cy="6583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QUERY OUTPUT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587696" y="7310628"/>
            <a:ext cx="2494388" cy="1851660"/>
            <a:chOff x="0" y="0"/>
            <a:chExt cx="3325851" cy="2468880"/>
          </a:xfrm>
        </p:grpSpPr>
        <p:sp>
          <p:nvSpPr>
            <p:cNvPr id="40" name="Freeform 40" descr="MySQL Workbench screenshot: q11o"/>
            <p:cNvSpPr/>
            <p:nvPr/>
          </p:nvSpPr>
          <p:spPr>
            <a:xfrm>
              <a:off x="0" y="0"/>
              <a:ext cx="3325876" cy="2468880"/>
            </a:xfrm>
            <a:custGeom>
              <a:avLst/>
              <a:gdLst/>
              <a:ahLst/>
              <a:cxnLst/>
              <a:rect l="l" t="t" r="r" b="b"/>
              <a:pathLst>
                <a:path w="3325876" h="2468880">
                  <a:moveTo>
                    <a:pt x="0" y="0"/>
                  </a:moveTo>
                  <a:lnTo>
                    <a:pt x="3325876" y="0"/>
                  </a:lnTo>
                  <a:lnTo>
                    <a:pt x="3325876" y="2468880"/>
                  </a:lnTo>
                  <a:lnTo>
                    <a:pt x="0" y="2468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4859655" y="2665095"/>
            <a:ext cx="3996690" cy="457962"/>
            <a:chOff x="0" y="0"/>
            <a:chExt cx="5328920" cy="61061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328920" cy="610616"/>
            </a:xfrm>
            <a:custGeom>
              <a:avLst/>
              <a:gdLst/>
              <a:ahLst/>
              <a:cxnLst/>
              <a:rect l="l" t="t" r="r" b="b"/>
              <a:pathLst>
                <a:path w="532892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5023612" y="0"/>
                  </a:lnTo>
                  <a:cubicBezTo>
                    <a:pt x="5192268" y="0"/>
                    <a:pt x="5328920" y="136652"/>
                    <a:pt x="5328920" y="305308"/>
                  </a:cubicBezTo>
                  <a:cubicBezTo>
                    <a:pt x="5328920" y="473964"/>
                    <a:pt x="5192268" y="610616"/>
                    <a:pt x="502361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4869180" y="2674620"/>
            <a:ext cx="3977640" cy="438912"/>
            <a:chOff x="0" y="0"/>
            <a:chExt cx="5303520" cy="58521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303520" cy="585216"/>
            </a:xfrm>
            <a:custGeom>
              <a:avLst/>
              <a:gdLst/>
              <a:ahLst/>
              <a:cxnLst/>
              <a:rect l="l" t="t" r="r" b="b"/>
              <a:pathLst>
                <a:path w="5303520" h="585216">
                  <a:moveTo>
                    <a:pt x="0" y="0"/>
                  </a:moveTo>
                  <a:lnTo>
                    <a:pt x="5303520" y="0"/>
                  </a:lnTo>
                  <a:lnTo>
                    <a:pt x="5303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583" b="-126583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530352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10 AUTHORS · 1 BOOK EACH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9436608" y="1920240"/>
            <a:ext cx="802386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1F3A5F"/>
                </a:solidFill>
                <a:latin typeface="Aptos Bold"/>
                <a:ea typeface="Aptos Bold"/>
                <a:cs typeface="Aptos Bold"/>
                <a:sym typeface="Aptos Bold"/>
              </a:rPr>
              <a:t>Query 12 — Books by Authors Born After 1970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9427083" y="2665095"/>
            <a:ext cx="2522220" cy="403098"/>
            <a:chOff x="0" y="0"/>
            <a:chExt cx="3362960" cy="53746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362960" cy="537464"/>
            </a:xfrm>
            <a:custGeom>
              <a:avLst/>
              <a:gdLst/>
              <a:ahLst/>
              <a:cxnLst/>
              <a:rect l="l" t="t" r="r" b="b"/>
              <a:pathLst>
                <a:path w="3362960" h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lnTo>
                    <a:pt x="3094228" y="0"/>
                  </a:lnTo>
                  <a:cubicBezTo>
                    <a:pt x="3242691" y="0"/>
                    <a:pt x="3362960" y="120269"/>
                    <a:pt x="3362960" y="268732"/>
                  </a:cubicBezTo>
                  <a:cubicBezTo>
                    <a:pt x="3362960" y="417195"/>
                    <a:pt x="3242691" y="537464"/>
                    <a:pt x="3094228" y="537464"/>
                  </a:cubicBezTo>
                  <a:lnTo>
                    <a:pt x="268732" y="537464"/>
                  </a:ln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9436608" y="2674620"/>
            <a:ext cx="2503170" cy="384048"/>
            <a:chOff x="0" y="0"/>
            <a:chExt cx="3337560" cy="51206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337560" cy="512064"/>
            </a:xfrm>
            <a:custGeom>
              <a:avLst/>
              <a:gdLst/>
              <a:ahLst/>
              <a:cxnLst/>
              <a:rect l="l" t="t" r="r" b="b"/>
              <a:pathLst>
                <a:path w="3337560" h="512064">
                  <a:moveTo>
                    <a:pt x="0" y="0"/>
                  </a:moveTo>
                  <a:lnTo>
                    <a:pt x="3337560" y="0"/>
                  </a:lnTo>
                  <a:lnTo>
                    <a:pt x="3337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000" b="-77000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0"/>
              <a:ext cx="333756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SUBQUERY + JOIN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429464" y="3120104"/>
            <a:ext cx="8038147" cy="3374708"/>
            <a:chOff x="0" y="0"/>
            <a:chExt cx="10717530" cy="449961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0717530" cy="4499610"/>
            </a:xfrm>
            <a:custGeom>
              <a:avLst/>
              <a:gdLst/>
              <a:ahLst/>
              <a:cxnLst/>
              <a:rect l="l" t="t" r="r" b="b"/>
              <a:pathLst>
                <a:path w="10717530" h="4499610">
                  <a:moveTo>
                    <a:pt x="0" y="183642"/>
                  </a:moveTo>
                  <a:cubicBezTo>
                    <a:pt x="0" y="82296"/>
                    <a:pt x="82296" y="0"/>
                    <a:pt x="183642" y="0"/>
                  </a:cubicBezTo>
                  <a:lnTo>
                    <a:pt x="10533888" y="0"/>
                  </a:lnTo>
                  <a:cubicBezTo>
                    <a:pt x="10635361" y="0"/>
                    <a:pt x="10717530" y="82296"/>
                    <a:pt x="10717530" y="183642"/>
                  </a:cubicBezTo>
                  <a:lnTo>
                    <a:pt x="10717530" y="4315968"/>
                  </a:lnTo>
                  <a:cubicBezTo>
                    <a:pt x="10717530" y="4417441"/>
                    <a:pt x="10635234" y="4499610"/>
                    <a:pt x="10533888" y="4499610"/>
                  </a:cubicBezTo>
                  <a:lnTo>
                    <a:pt x="183642" y="4499610"/>
                  </a:lnTo>
                  <a:cubicBezTo>
                    <a:pt x="82296" y="4499610"/>
                    <a:pt x="0" y="4417314"/>
                    <a:pt x="0" y="431596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9454515" y="3145155"/>
            <a:ext cx="7988046" cy="512826"/>
            <a:chOff x="0" y="0"/>
            <a:chExt cx="10650728" cy="68376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650728" cy="683768"/>
            </a:xfrm>
            <a:custGeom>
              <a:avLst/>
              <a:gdLst/>
              <a:ahLst/>
              <a:cxnLst/>
              <a:rect l="l" t="t" r="r" b="b"/>
              <a:pathLst>
                <a:path w="10650728" h="683768">
                  <a:moveTo>
                    <a:pt x="0" y="0"/>
                  </a:moveTo>
                  <a:lnTo>
                    <a:pt x="10650728" y="0"/>
                  </a:lnTo>
                  <a:lnTo>
                    <a:pt x="10650728" y="683768"/>
                  </a:lnTo>
                  <a:lnTo>
                    <a:pt x="0" y="683768"/>
                  </a:lnTo>
                  <a:close/>
                </a:path>
              </a:pathLst>
            </a:custGeom>
            <a:solidFill>
              <a:srgbClr val="14213D"/>
            </a:solidFill>
            <a:ln w="1905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9710928" y="3154680"/>
            <a:ext cx="7475220" cy="493776"/>
            <a:chOff x="0" y="0"/>
            <a:chExt cx="9966960" cy="65836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9966960" cy="658368"/>
            </a:xfrm>
            <a:custGeom>
              <a:avLst/>
              <a:gdLst/>
              <a:ahLst/>
              <a:cxnLst/>
              <a:rect l="l" t="t" r="r" b="b"/>
              <a:pathLst>
                <a:path w="9966960" h="658368">
                  <a:moveTo>
                    <a:pt x="0" y="0"/>
                  </a:moveTo>
                  <a:lnTo>
                    <a:pt x="9966960" y="0"/>
                  </a:lnTo>
                  <a:lnTo>
                    <a:pt x="99669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4981" b="-244981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9966960" cy="6583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MYSQL CODE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1756222" y="3813048"/>
            <a:ext cx="3384633" cy="2468880"/>
            <a:chOff x="0" y="0"/>
            <a:chExt cx="4512843" cy="3291840"/>
          </a:xfrm>
        </p:grpSpPr>
        <p:sp>
          <p:nvSpPr>
            <p:cNvPr id="60" name="Freeform 60" descr="MySQL Workbench screenshot: q12c"/>
            <p:cNvSpPr/>
            <p:nvPr/>
          </p:nvSpPr>
          <p:spPr>
            <a:xfrm>
              <a:off x="0" y="0"/>
              <a:ext cx="4512818" cy="3291840"/>
            </a:xfrm>
            <a:custGeom>
              <a:avLst/>
              <a:gdLst/>
              <a:ahLst/>
              <a:cxnLst/>
              <a:rect l="l" t="t" r="r" b="b"/>
              <a:pathLst>
                <a:path w="4512818" h="3291840">
                  <a:moveTo>
                    <a:pt x="0" y="0"/>
                  </a:moveTo>
                  <a:lnTo>
                    <a:pt x="4512818" y="0"/>
                  </a:lnTo>
                  <a:lnTo>
                    <a:pt x="4512818" y="3291840"/>
                  </a:lnTo>
                  <a:lnTo>
                    <a:pt x="0" y="3291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61" name="Group 61"/>
          <p:cNvGrpSpPr/>
          <p:nvPr/>
        </p:nvGrpSpPr>
        <p:grpSpPr>
          <a:xfrm>
            <a:off x="9429464" y="6617684"/>
            <a:ext cx="8038147" cy="2757488"/>
            <a:chOff x="0" y="0"/>
            <a:chExt cx="10717530" cy="367665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0717530" cy="3676650"/>
            </a:xfrm>
            <a:custGeom>
              <a:avLst/>
              <a:gdLst/>
              <a:ahLst/>
              <a:cxnLst/>
              <a:rect l="l" t="t" r="r" b="b"/>
              <a:pathLst>
                <a:path w="10717530" h="367665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10533634" y="0"/>
                  </a:lnTo>
                  <a:cubicBezTo>
                    <a:pt x="10635107" y="0"/>
                    <a:pt x="10717530" y="82296"/>
                    <a:pt x="10717530" y="183769"/>
                  </a:cubicBezTo>
                  <a:lnTo>
                    <a:pt x="10717530" y="3492754"/>
                  </a:lnTo>
                  <a:cubicBezTo>
                    <a:pt x="10717530" y="3594227"/>
                    <a:pt x="10635234" y="3676650"/>
                    <a:pt x="10533634" y="3676650"/>
                  </a:cubicBezTo>
                  <a:lnTo>
                    <a:pt x="183769" y="3676650"/>
                  </a:lnTo>
                  <a:cubicBezTo>
                    <a:pt x="82296" y="3676650"/>
                    <a:pt x="0" y="3594354"/>
                    <a:pt x="0" y="349275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9454515" y="6642735"/>
            <a:ext cx="7988046" cy="512826"/>
            <a:chOff x="0" y="0"/>
            <a:chExt cx="10650728" cy="68376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0650728" cy="683768"/>
            </a:xfrm>
            <a:custGeom>
              <a:avLst/>
              <a:gdLst/>
              <a:ahLst/>
              <a:cxnLst/>
              <a:rect l="l" t="t" r="r" b="b"/>
              <a:pathLst>
                <a:path w="10650728" h="683768">
                  <a:moveTo>
                    <a:pt x="0" y="0"/>
                  </a:moveTo>
                  <a:lnTo>
                    <a:pt x="10650728" y="0"/>
                  </a:lnTo>
                  <a:lnTo>
                    <a:pt x="10650728" y="683768"/>
                  </a:lnTo>
                  <a:lnTo>
                    <a:pt x="0" y="683768"/>
                  </a:lnTo>
                  <a:close/>
                </a:path>
              </a:pathLst>
            </a:custGeom>
            <a:solidFill>
              <a:srgbClr val="14213D"/>
            </a:solidFill>
            <a:ln w="1905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9710928" y="6652260"/>
            <a:ext cx="7475220" cy="493776"/>
            <a:chOff x="0" y="0"/>
            <a:chExt cx="9966960" cy="658368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9966960" cy="658368"/>
            </a:xfrm>
            <a:custGeom>
              <a:avLst/>
              <a:gdLst/>
              <a:ahLst/>
              <a:cxnLst/>
              <a:rect l="l" t="t" r="r" b="b"/>
              <a:pathLst>
                <a:path w="9966960" h="658368">
                  <a:moveTo>
                    <a:pt x="0" y="0"/>
                  </a:moveTo>
                  <a:lnTo>
                    <a:pt x="9966960" y="0"/>
                  </a:lnTo>
                  <a:lnTo>
                    <a:pt x="99669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4981" b="-244981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0"/>
              <a:ext cx="9966960" cy="6583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QUERY OUTPUT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710928" y="7390209"/>
            <a:ext cx="7475220" cy="1692497"/>
            <a:chOff x="0" y="0"/>
            <a:chExt cx="9966960" cy="2256663"/>
          </a:xfrm>
        </p:grpSpPr>
        <p:sp>
          <p:nvSpPr>
            <p:cNvPr id="69" name="Freeform 69" descr="MySQL Workbench screenshot: q12o"/>
            <p:cNvSpPr/>
            <p:nvPr/>
          </p:nvSpPr>
          <p:spPr>
            <a:xfrm>
              <a:off x="0" y="0"/>
              <a:ext cx="9966960" cy="2256663"/>
            </a:xfrm>
            <a:custGeom>
              <a:avLst/>
              <a:gdLst/>
              <a:ahLst/>
              <a:cxnLst/>
              <a:rect l="l" t="t" r="r" b="b"/>
              <a:pathLst>
                <a:path w="9966960" h="2256663">
                  <a:moveTo>
                    <a:pt x="0" y="0"/>
                  </a:moveTo>
                  <a:lnTo>
                    <a:pt x="9966960" y="0"/>
                  </a:lnTo>
                  <a:lnTo>
                    <a:pt x="9966960" y="2256663"/>
                  </a:lnTo>
                  <a:lnTo>
                    <a:pt x="0" y="2256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70" name="Group 70"/>
          <p:cNvGrpSpPr/>
          <p:nvPr/>
        </p:nvGrpSpPr>
        <p:grpSpPr>
          <a:xfrm>
            <a:off x="15805023" y="2665095"/>
            <a:ext cx="1664970" cy="457962"/>
            <a:chOff x="0" y="0"/>
            <a:chExt cx="2219960" cy="610616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219960" cy="610616"/>
            </a:xfrm>
            <a:custGeom>
              <a:avLst/>
              <a:gdLst/>
              <a:ahLst/>
              <a:cxnLst/>
              <a:rect l="l" t="t" r="r" b="b"/>
              <a:pathLst>
                <a:path w="221996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1914652" y="0"/>
                  </a:lnTo>
                  <a:cubicBezTo>
                    <a:pt x="2083308" y="0"/>
                    <a:pt x="2219960" y="136652"/>
                    <a:pt x="2219960" y="305308"/>
                  </a:cubicBezTo>
                  <a:cubicBezTo>
                    <a:pt x="2219960" y="473964"/>
                    <a:pt x="2083308" y="610616"/>
                    <a:pt x="191465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15814548" y="2674620"/>
            <a:ext cx="1645920" cy="438912"/>
            <a:chOff x="0" y="0"/>
            <a:chExt cx="2194560" cy="585216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2194560" cy="585216"/>
            </a:xfrm>
            <a:custGeom>
              <a:avLst/>
              <a:gdLst/>
              <a:ahLst/>
              <a:cxnLst/>
              <a:rect l="l" t="t" r="r" b="b"/>
              <a:pathLst>
                <a:path w="2194560" h="585216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068" b="-23068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0"/>
              <a:ext cx="219456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 BOOKS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920">
            <a:off x="811044" y="1805750"/>
            <a:ext cx="16661340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2940">
            <a:off x="815816" y="9569006"/>
            <a:ext cx="16651805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22960" y="9683496"/>
            <a:ext cx="10972800" cy="342900"/>
            <a:chOff x="0" y="0"/>
            <a:chExt cx="146304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1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LIBRARY MANAGEMENT SYSTEM  ·  MYSQL DATABASE PROJECT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850392"/>
            <a:ext cx="16637508" cy="850392"/>
            <a:chOff x="0" y="0"/>
            <a:chExt cx="22183344" cy="11338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3344" cy="1133856"/>
            </a:xfrm>
            <a:custGeom>
              <a:avLst/>
              <a:gdLst/>
              <a:ahLst/>
              <a:cxnLst/>
              <a:rect l="l" t="t" r="r" b="b"/>
              <a:pathLst>
                <a:path w="22183344" h="1133856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1215" b="-33121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2183344" cy="1124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Advanced SQL — Multiple JOINs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2960" y="466344"/>
            <a:ext cx="10972800" cy="342900"/>
            <a:chOff x="0" y="0"/>
            <a:chExt cx="1463040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ADVANCED SQL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73400" y="9683496"/>
            <a:ext cx="1687068" cy="342900"/>
            <a:chOff x="0" y="0"/>
            <a:chExt cx="2249424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4" cy="457200"/>
            </a:xfrm>
            <a:custGeom>
              <a:avLst/>
              <a:gdLst/>
              <a:ahLst/>
              <a:cxnLst/>
              <a:rect l="l" t="t" r="r" b="b"/>
              <a:pathLst>
                <a:path w="2249424" h="457200">
                  <a:moveTo>
                    <a:pt x="0" y="0"/>
                  </a:moveTo>
                  <a:lnTo>
                    <a:pt x="2249424" y="0"/>
                  </a:lnTo>
                  <a:lnTo>
                    <a:pt x="22494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866" b="-4586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2494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22 / 25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2960" y="1988820"/>
            <a:ext cx="12344400" cy="548640"/>
            <a:chOff x="0" y="0"/>
            <a:chExt cx="16459200" cy="731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459200" cy="731520"/>
            </a:xfrm>
            <a:custGeom>
              <a:avLst/>
              <a:gdLst/>
              <a:ahLst/>
              <a:cxnLst/>
              <a:rect l="l" t="t" r="r" b="b"/>
              <a:pathLst>
                <a:path w="16459200" h="73152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8413" b="-38841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164592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F3A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Query 13 — Fined Books with Author Details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035659" y="2047875"/>
            <a:ext cx="3434334" cy="403098"/>
            <a:chOff x="0" y="0"/>
            <a:chExt cx="4579112" cy="53746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579112" cy="537464"/>
            </a:xfrm>
            <a:custGeom>
              <a:avLst/>
              <a:gdLst/>
              <a:ahLst/>
              <a:cxnLst/>
              <a:rect l="l" t="t" r="r" b="b"/>
              <a:pathLst>
                <a:path w="4579112" h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lnTo>
                    <a:pt x="4310380" y="0"/>
                  </a:lnTo>
                  <a:cubicBezTo>
                    <a:pt x="4458843" y="0"/>
                    <a:pt x="4579112" y="120269"/>
                    <a:pt x="4579112" y="268732"/>
                  </a:cubicBezTo>
                  <a:cubicBezTo>
                    <a:pt x="4579112" y="417195"/>
                    <a:pt x="4458843" y="537464"/>
                    <a:pt x="4310380" y="537464"/>
                  </a:cubicBezTo>
                  <a:lnTo>
                    <a:pt x="268732" y="537464"/>
                  </a:ln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4045184" y="2057400"/>
            <a:ext cx="3415284" cy="384048"/>
            <a:chOff x="0" y="0"/>
            <a:chExt cx="4553712" cy="51206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553712" cy="512064"/>
            </a:xfrm>
            <a:custGeom>
              <a:avLst/>
              <a:gdLst/>
              <a:ahLst/>
              <a:cxnLst/>
              <a:rect l="l" t="t" r="r" b="b"/>
              <a:pathLst>
                <a:path w="4553712" h="512064">
                  <a:moveTo>
                    <a:pt x="0" y="0"/>
                  </a:moveTo>
                  <a:lnTo>
                    <a:pt x="4553712" y="0"/>
                  </a:lnTo>
                  <a:lnTo>
                    <a:pt x="4553712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3277" b="-123277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4553712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INNER JOIN + LEFT JOIN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15816" y="2736056"/>
            <a:ext cx="7283768" cy="4952047"/>
            <a:chOff x="0" y="0"/>
            <a:chExt cx="9711690" cy="660273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711690" cy="6602730"/>
            </a:xfrm>
            <a:custGeom>
              <a:avLst/>
              <a:gdLst/>
              <a:ahLst/>
              <a:cxnLst/>
              <a:rect l="l" t="t" r="r" b="b"/>
              <a:pathLst>
                <a:path w="9711690" h="6602730">
                  <a:moveTo>
                    <a:pt x="0" y="183388"/>
                  </a:moveTo>
                  <a:cubicBezTo>
                    <a:pt x="0" y="82169"/>
                    <a:pt x="82169" y="0"/>
                    <a:pt x="183388" y="0"/>
                  </a:cubicBezTo>
                  <a:lnTo>
                    <a:pt x="9528302" y="0"/>
                  </a:lnTo>
                  <a:cubicBezTo>
                    <a:pt x="9629648" y="0"/>
                    <a:pt x="9711690" y="82169"/>
                    <a:pt x="9711690" y="183388"/>
                  </a:cubicBezTo>
                  <a:lnTo>
                    <a:pt x="9711690" y="6419342"/>
                  </a:lnTo>
                  <a:cubicBezTo>
                    <a:pt x="9711690" y="6520688"/>
                    <a:pt x="9629521" y="6602730"/>
                    <a:pt x="9528302" y="6602730"/>
                  </a:cubicBezTo>
                  <a:lnTo>
                    <a:pt x="183388" y="6602730"/>
                  </a:lnTo>
                  <a:cubicBezTo>
                    <a:pt x="82169" y="6602730"/>
                    <a:pt x="0" y="6520561"/>
                    <a:pt x="0" y="641934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840867" y="2761107"/>
            <a:ext cx="7233666" cy="512826"/>
            <a:chOff x="0" y="0"/>
            <a:chExt cx="9644888" cy="68376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644888" cy="683768"/>
            </a:xfrm>
            <a:custGeom>
              <a:avLst/>
              <a:gdLst/>
              <a:ahLst/>
              <a:cxnLst/>
              <a:rect l="l" t="t" r="r" b="b"/>
              <a:pathLst>
                <a:path w="9644888" h="683768">
                  <a:moveTo>
                    <a:pt x="0" y="0"/>
                  </a:moveTo>
                  <a:lnTo>
                    <a:pt x="9644888" y="0"/>
                  </a:lnTo>
                  <a:lnTo>
                    <a:pt x="9644888" y="683768"/>
                  </a:lnTo>
                  <a:lnTo>
                    <a:pt x="0" y="683768"/>
                  </a:lnTo>
                  <a:close/>
                </a:path>
              </a:pathLst>
            </a:custGeom>
            <a:solidFill>
              <a:srgbClr val="14213D"/>
            </a:solidFill>
            <a:ln w="1905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097280" y="2770632"/>
            <a:ext cx="6720840" cy="493776"/>
            <a:chOff x="0" y="0"/>
            <a:chExt cx="8961120" cy="65836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961120" cy="658368"/>
            </a:xfrm>
            <a:custGeom>
              <a:avLst/>
              <a:gdLst/>
              <a:ahLst/>
              <a:cxnLst/>
              <a:rect l="l" t="t" r="r" b="b"/>
              <a:pathLst>
                <a:path w="8961120" h="658368">
                  <a:moveTo>
                    <a:pt x="0" y="0"/>
                  </a:moveTo>
                  <a:lnTo>
                    <a:pt x="8961120" y="0"/>
                  </a:lnTo>
                  <a:lnTo>
                    <a:pt x="8961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5213" b="-215213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8961120" cy="6583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MYSQL CODE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366009" y="3429000"/>
            <a:ext cx="6183392" cy="4046220"/>
            <a:chOff x="0" y="0"/>
            <a:chExt cx="8244522" cy="5394960"/>
          </a:xfrm>
        </p:grpSpPr>
        <p:sp>
          <p:nvSpPr>
            <p:cNvPr id="32" name="Freeform 32" descr="MySQL Workbench screenshot: q13c"/>
            <p:cNvSpPr/>
            <p:nvPr/>
          </p:nvSpPr>
          <p:spPr>
            <a:xfrm>
              <a:off x="0" y="0"/>
              <a:ext cx="8244459" cy="5394960"/>
            </a:xfrm>
            <a:custGeom>
              <a:avLst/>
              <a:gdLst/>
              <a:ahLst/>
              <a:cxnLst/>
              <a:rect l="l" t="t" r="r" b="b"/>
              <a:pathLst>
                <a:path w="8244459" h="5394960">
                  <a:moveTo>
                    <a:pt x="0" y="0"/>
                  </a:moveTo>
                  <a:lnTo>
                    <a:pt x="8244459" y="0"/>
                  </a:lnTo>
                  <a:lnTo>
                    <a:pt x="8244459" y="5394960"/>
                  </a:lnTo>
                  <a:lnTo>
                    <a:pt x="0" y="5394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8359616" y="2736056"/>
            <a:ext cx="9107996" cy="4952047"/>
            <a:chOff x="0" y="0"/>
            <a:chExt cx="12143994" cy="660273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143994" cy="6602730"/>
            </a:xfrm>
            <a:custGeom>
              <a:avLst/>
              <a:gdLst/>
              <a:ahLst/>
              <a:cxnLst/>
              <a:rect l="l" t="t" r="r" b="b"/>
              <a:pathLst>
                <a:path w="12143994" h="6602730">
                  <a:moveTo>
                    <a:pt x="0" y="183388"/>
                  </a:moveTo>
                  <a:cubicBezTo>
                    <a:pt x="0" y="82169"/>
                    <a:pt x="82169" y="0"/>
                    <a:pt x="183388" y="0"/>
                  </a:cubicBezTo>
                  <a:lnTo>
                    <a:pt x="11960606" y="0"/>
                  </a:lnTo>
                  <a:cubicBezTo>
                    <a:pt x="12061952" y="0"/>
                    <a:pt x="12143994" y="82169"/>
                    <a:pt x="12143994" y="183388"/>
                  </a:cubicBezTo>
                  <a:lnTo>
                    <a:pt x="12143994" y="6419342"/>
                  </a:lnTo>
                  <a:cubicBezTo>
                    <a:pt x="12143994" y="6520688"/>
                    <a:pt x="12061825" y="6602730"/>
                    <a:pt x="11960606" y="6602730"/>
                  </a:cubicBezTo>
                  <a:lnTo>
                    <a:pt x="183388" y="6602730"/>
                  </a:lnTo>
                  <a:cubicBezTo>
                    <a:pt x="82169" y="6602730"/>
                    <a:pt x="0" y="6520561"/>
                    <a:pt x="0" y="641934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8384667" y="2761107"/>
            <a:ext cx="9057894" cy="512826"/>
            <a:chOff x="0" y="0"/>
            <a:chExt cx="12077192" cy="68376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077192" cy="683768"/>
            </a:xfrm>
            <a:custGeom>
              <a:avLst/>
              <a:gdLst/>
              <a:ahLst/>
              <a:cxnLst/>
              <a:rect l="l" t="t" r="r" b="b"/>
              <a:pathLst>
                <a:path w="12077192" h="683768">
                  <a:moveTo>
                    <a:pt x="0" y="0"/>
                  </a:moveTo>
                  <a:lnTo>
                    <a:pt x="12077192" y="0"/>
                  </a:lnTo>
                  <a:lnTo>
                    <a:pt x="12077192" y="683768"/>
                  </a:lnTo>
                  <a:lnTo>
                    <a:pt x="0" y="683768"/>
                  </a:lnTo>
                  <a:close/>
                </a:path>
              </a:pathLst>
            </a:custGeom>
            <a:solidFill>
              <a:srgbClr val="14213D"/>
            </a:solidFill>
            <a:ln w="19050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8641080" y="2770632"/>
            <a:ext cx="8545068" cy="493776"/>
            <a:chOff x="0" y="0"/>
            <a:chExt cx="11393424" cy="65836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1393424" cy="658368"/>
            </a:xfrm>
            <a:custGeom>
              <a:avLst/>
              <a:gdLst/>
              <a:ahLst/>
              <a:cxnLst/>
              <a:rect l="l" t="t" r="r" b="b"/>
              <a:pathLst>
                <a:path w="11393424" h="658368">
                  <a:moveTo>
                    <a:pt x="0" y="0"/>
                  </a:moveTo>
                  <a:lnTo>
                    <a:pt x="11393424" y="0"/>
                  </a:lnTo>
                  <a:lnTo>
                    <a:pt x="11393424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7199" b="-287199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11393424" cy="6583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QUERY OUTPUT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201988" y="3429000"/>
            <a:ext cx="7423252" cy="4046220"/>
            <a:chOff x="0" y="0"/>
            <a:chExt cx="9897669" cy="5394960"/>
          </a:xfrm>
        </p:grpSpPr>
        <p:sp>
          <p:nvSpPr>
            <p:cNvPr id="41" name="Freeform 41" descr="MySQL Workbench screenshot: q13o"/>
            <p:cNvSpPr/>
            <p:nvPr/>
          </p:nvSpPr>
          <p:spPr>
            <a:xfrm>
              <a:off x="0" y="0"/>
              <a:ext cx="9897618" cy="5394960"/>
            </a:xfrm>
            <a:custGeom>
              <a:avLst/>
              <a:gdLst/>
              <a:ahLst/>
              <a:cxnLst/>
              <a:rect l="l" t="t" r="r" b="b"/>
              <a:pathLst>
                <a:path w="9897618" h="5394960">
                  <a:moveTo>
                    <a:pt x="0" y="0"/>
                  </a:moveTo>
                  <a:lnTo>
                    <a:pt x="9897618" y="0"/>
                  </a:lnTo>
                  <a:lnTo>
                    <a:pt x="9897618" y="5394960"/>
                  </a:lnTo>
                  <a:lnTo>
                    <a:pt x="0" y="5394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822960" y="8023860"/>
            <a:ext cx="1234440" cy="438912"/>
            <a:chOff x="0" y="0"/>
            <a:chExt cx="1645920" cy="58521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645920" cy="585216"/>
            </a:xfrm>
            <a:custGeom>
              <a:avLst/>
              <a:gdLst/>
              <a:ahLst/>
              <a:cxnLst/>
              <a:rect l="l" t="t" r="r" b="b"/>
              <a:pathLst>
                <a:path w="1645920" h="585216">
                  <a:moveTo>
                    <a:pt x="0" y="0"/>
                  </a:moveTo>
                  <a:lnTo>
                    <a:pt x="1645920" y="0"/>
                  </a:lnTo>
                  <a:lnTo>
                    <a:pt x="1645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01" b="-4801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164592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150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RESULT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116455" y="8014335"/>
            <a:ext cx="3585210" cy="457962"/>
            <a:chOff x="0" y="0"/>
            <a:chExt cx="4780280" cy="61061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780280" cy="610616"/>
            </a:xfrm>
            <a:custGeom>
              <a:avLst/>
              <a:gdLst/>
              <a:ahLst/>
              <a:cxnLst/>
              <a:rect l="l" t="t" r="r" b="b"/>
              <a:pathLst>
                <a:path w="478028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4474972" y="0"/>
                  </a:lnTo>
                  <a:cubicBezTo>
                    <a:pt x="4643628" y="0"/>
                    <a:pt x="4780280" y="136652"/>
                    <a:pt x="4780280" y="305308"/>
                  </a:cubicBezTo>
                  <a:cubicBezTo>
                    <a:pt x="4780280" y="473964"/>
                    <a:pt x="4643628" y="610616"/>
                    <a:pt x="447497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2125980" y="8023860"/>
            <a:ext cx="3566160" cy="438912"/>
            <a:chOff x="0" y="0"/>
            <a:chExt cx="4754880" cy="58521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754880" cy="585216"/>
            </a:xfrm>
            <a:custGeom>
              <a:avLst/>
              <a:gdLst/>
              <a:ahLst/>
              <a:cxnLst/>
              <a:rect l="l" t="t" r="r" b="b"/>
              <a:pathLst>
                <a:path w="4754880" h="585216">
                  <a:moveTo>
                    <a:pt x="0" y="0"/>
                  </a:moveTo>
                  <a:lnTo>
                    <a:pt x="4754880" y="0"/>
                  </a:lnTo>
                  <a:lnTo>
                    <a:pt x="4754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315" b="-108315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0"/>
              <a:ext cx="475488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FINED BOOKS + AUTHORS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22960" y="8641080"/>
            <a:ext cx="16637508" cy="685800"/>
            <a:chOff x="0" y="0"/>
            <a:chExt cx="22183344" cy="9144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2183344" cy="914400"/>
            </a:xfrm>
            <a:custGeom>
              <a:avLst/>
              <a:gdLst/>
              <a:ahLst/>
              <a:cxnLst/>
              <a:rect l="l" t="t" r="r" b="b"/>
              <a:pathLst>
                <a:path w="22183344" h="914400">
                  <a:moveTo>
                    <a:pt x="0" y="0"/>
                  </a:moveTo>
                  <a:lnTo>
                    <a:pt x="22183344" y="0"/>
                  </a:lnTo>
                  <a:lnTo>
                    <a:pt x="2218334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2707" b="-422707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22183344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Links Fines, Loans, Books and Authors to list Title, AuthorName and FineAmount.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920">
            <a:off x="811044" y="1805750"/>
            <a:ext cx="16661340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2940">
            <a:off x="815816" y="9569006"/>
            <a:ext cx="16651805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22960" y="9683496"/>
            <a:ext cx="10972800" cy="342900"/>
            <a:chOff x="0" y="0"/>
            <a:chExt cx="146304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1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LIBRARY MANAGEMENT SYSTEM  ·  MYSQL DATABASE PROJECT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850392"/>
            <a:ext cx="16637508" cy="850392"/>
            <a:chOff x="0" y="0"/>
            <a:chExt cx="22183344" cy="11338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3344" cy="1133856"/>
            </a:xfrm>
            <a:custGeom>
              <a:avLst/>
              <a:gdLst/>
              <a:ahLst/>
              <a:cxnLst/>
              <a:rect l="l" t="t" r="r" b="b"/>
              <a:pathLst>
                <a:path w="22183344" h="1133856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1215" b="-33121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2183344" cy="1124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Query Results &amp; Library Insights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2960" y="466344"/>
            <a:ext cx="10972800" cy="342900"/>
            <a:chOff x="0" y="0"/>
            <a:chExt cx="1463040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ANALYSIS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73400" y="9683496"/>
            <a:ext cx="1687068" cy="342900"/>
            <a:chOff x="0" y="0"/>
            <a:chExt cx="2249424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4" cy="457200"/>
            </a:xfrm>
            <a:custGeom>
              <a:avLst/>
              <a:gdLst/>
              <a:ahLst/>
              <a:cxnLst/>
              <a:rect l="l" t="t" r="r" b="b"/>
              <a:pathLst>
                <a:path w="2249424" h="457200">
                  <a:moveTo>
                    <a:pt x="0" y="0"/>
                  </a:moveTo>
                  <a:lnTo>
                    <a:pt x="2249424" y="0"/>
                  </a:lnTo>
                  <a:lnTo>
                    <a:pt x="22494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866" b="-4586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2494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23 / 25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15816" y="2118836"/>
            <a:ext cx="3978212" cy="2688908"/>
            <a:chOff x="0" y="0"/>
            <a:chExt cx="5304282" cy="358521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304282" cy="3585210"/>
            </a:xfrm>
            <a:custGeom>
              <a:avLst/>
              <a:gdLst/>
              <a:ahLst/>
              <a:cxnLst/>
              <a:rect l="l" t="t" r="r" b="b"/>
              <a:pathLst>
                <a:path w="5304282" h="358521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5120386" y="0"/>
                  </a:lnTo>
                  <a:cubicBezTo>
                    <a:pt x="5221986" y="0"/>
                    <a:pt x="5304282" y="82296"/>
                    <a:pt x="5304282" y="183896"/>
                  </a:cubicBezTo>
                  <a:lnTo>
                    <a:pt x="5304282" y="3401314"/>
                  </a:lnTo>
                  <a:cubicBezTo>
                    <a:pt x="5304282" y="3502914"/>
                    <a:pt x="5221986" y="3585210"/>
                    <a:pt x="5120386" y="3585210"/>
                  </a:cubicBezTo>
                  <a:lnTo>
                    <a:pt x="183896" y="3585210"/>
                  </a:lnTo>
                  <a:cubicBezTo>
                    <a:pt x="82296" y="3585210"/>
                    <a:pt x="0" y="3502914"/>
                    <a:pt x="0" y="340131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097280" y="2290572"/>
            <a:ext cx="3429000" cy="342900"/>
            <a:chOff x="0" y="0"/>
            <a:chExt cx="4572000" cy="457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572000" cy="457200"/>
            </a:xfrm>
            <a:custGeom>
              <a:avLst/>
              <a:gdLst/>
              <a:ahLst/>
              <a:cxnLst/>
              <a:rect l="l" t="t" r="r" b="b"/>
              <a:pathLst>
                <a:path w="4572000" h="457200">
                  <a:moveTo>
                    <a:pt x="0" y="0"/>
                  </a:moveTo>
                  <a:lnTo>
                    <a:pt x="4572000" y="0"/>
                  </a:lnTo>
                  <a:lnTo>
                    <a:pt x="4572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45720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150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POWER READER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97280" y="2702052"/>
            <a:ext cx="3429000" cy="685800"/>
            <a:chOff x="0" y="0"/>
            <a:chExt cx="4572000" cy="914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572000" cy="914400"/>
            </a:xfrm>
            <a:custGeom>
              <a:avLst/>
              <a:gdLst/>
              <a:ahLst/>
              <a:cxnLst/>
              <a:rect l="l" t="t" r="r" b="b"/>
              <a:pathLst>
                <a:path w="4572000" h="914400">
                  <a:moveTo>
                    <a:pt x="0" y="0"/>
                  </a:moveTo>
                  <a:lnTo>
                    <a:pt x="4572000" y="0"/>
                  </a:lnTo>
                  <a:lnTo>
                    <a:pt x="4572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45720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0"/>
                </a:lnSpc>
              </a:pPr>
              <a:r>
                <a:rPr lang="en-US" sz="33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John Smith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97280" y="3429000"/>
            <a:ext cx="3429000" cy="411480"/>
            <a:chOff x="0" y="0"/>
            <a:chExt cx="4572000" cy="5486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572000" cy="548640"/>
            </a:xfrm>
            <a:custGeom>
              <a:avLst/>
              <a:gdLst/>
              <a:ahLst/>
              <a:cxnLst/>
              <a:rect l="l" t="t" r="r" b="b"/>
              <a:pathLst>
                <a:path w="4572000" h="54864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45720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C8A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7 Loans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040344" y="2118836"/>
            <a:ext cx="3978212" cy="2688908"/>
            <a:chOff x="0" y="0"/>
            <a:chExt cx="5304282" cy="358521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304282" cy="3585210"/>
            </a:xfrm>
            <a:custGeom>
              <a:avLst/>
              <a:gdLst/>
              <a:ahLst/>
              <a:cxnLst/>
              <a:rect l="l" t="t" r="r" b="b"/>
              <a:pathLst>
                <a:path w="5304282" h="358521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5120386" y="0"/>
                  </a:lnTo>
                  <a:cubicBezTo>
                    <a:pt x="5221986" y="0"/>
                    <a:pt x="5304282" y="82296"/>
                    <a:pt x="5304282" y="183896"/>
                  </a:cubicBezTo>
                  <a:lnTo>
                    <a:pt x="5304282" y="3401314"/>
                  </a:lnTo>
                  <a:cubicBezTo>
                    <a:pt x="5304282" y="3502914"/>
                    <a:pt x="5221986" y="3585210"/>
                    <a:pt x="5120386" y="3585210"/>
                  </a:cubicBezTo>
                  <a:lnTo>
                    <a:pt x="183896" y="3585210"/>
                  </a:lnTo>
                  <a:cubicBezTo>
                    <a:pt x="82296" y="3585210"/>
                    <a:pt x="0" y="3502914"/>
                    <a:pt x="0" y="340131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5321808" y="2290572"/>
            <a:ext cx="3429000" cy="342900"/>
            <a:chOff x="0" y="0"/>
            <a:chExt cx="4572000" cy="4572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572000" cy="457200"/>
            </a:xfrm>
            <a:custGeom>
              <a:avLst/>
              <a:gdLst/>
              <a:ahLst/>
              <a:cxnLst/>
              <a:rect l="l" t="t" r="r" b="b"/>
              <a:pathLst>
                <a:path w="4572000" h="457200">
                  <a:moveTo>
                    <a:pt x="0" y="0"/>
                  </a:moveTo>
                  <a:lnTo>
                    <a:pt x="4572000" y="0"/>
                  </a:lnTo>
                  <a:lnTo>
                    <a:pt x="4572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45720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150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CURRENTLY CHECKED OUT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321808" y="2702052"/>
            <a:ext cx="3429000" cy="685800"/>
            <a:chOff x="0" y="0"/>
            <a:chExt cx="4572000" cy="914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572000" cy="914400"/>
            </a:xfrm>
            <a:custGeom>
              <a:avLst/>
              <a:gdLst/>
              <a:ahLst/>
              <a:cxnLst/>
              <a:rect l="l" t="t" r="r" b="b"/>
              <a:pathLst>
                <a:path w="4572000" h="914400">
                  <a:moveTo>
                    <a:pt x="0" y="0"/>
                  </a:moveTo>
                  <a:lnTo>
                    <a:pt x="4572000" y="0"/>
                  </a:lnTo>
                  <a:lnTo>
                    <a:pt x="4572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45720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0"/>
                </a:lnSpc>
              </a:pPr>
              <a:r>
                <a:rPr lang="en-US" sz="33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6 Loans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321808" y="3429000"/>
            <a:ext cx="3429000" cy="411480"/>
            <a:chOff x="0" y="0"/>
            <a:chExt cx="4572000" cy="5486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572000" cy="548640"/>
            </a:xfrm>
            <a:custGeom>
              <a:avLst/>
              <a:gdLst/>
              <a:ahLst/>
              <a:cxnLst/>
              <a:rect l="l" t="t" r="r" b="b"/>
              <a:pathLst>
                <a:path w="4572000" h="54864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45720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C8A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 Titles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321808" y="3909060"/>
            <a:ext cx="3429000" cy="822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667085"/>
                </a:solidFill>
                <a:latin typeface="Aptos"/>
                <a:ea typeface="Aptos"/>
                <a:cs typeface="Aptos"/>
                <a:sym typeface="Aptos"/>
              </a:rPr>
              <a:t>The Art of Computer Programming, Cosmos, The Data Science Handbook, The Selfish Gene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9264872" y="2118836"/>
            <a:ext cx="3978212" cy="2688908"/>
            <a:chOff x="0" y="0"/>
            <a:chExt cx="5304282" cy="358521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304282" cy="3585210"/>
            </a:xfrm>
            <a:custGeom>
              <a:avLst/>
              <a:gdLst/>
              <a:ahLst/>
              <a:cxnLst/>
              <a:rect l="l" t="t" r="r" b="b"/>
              <a:pathLst>
                <a:path w="5304282" h="358521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5120386" y="0"/>
                  </a:lnTo>
                  <a:cubicBezTo>
                    <a:pt x="5221986" y="0"/>
                    <a:pt x="5304282" y="82296"/>
                    <a:pt x="5304282" y="183896"/>
                  </a:cubicBezTo>
                  <a:lnTo>
                    <a:pt x="5304282" y="3401314"/>
                  </a:lnTo>
                  <a:cubicBezTo>
                    <a:pt x="5304282" y="3502914"/>
                    <a:pt x="5221986" y="3585210"/>
                    <a:pt x="5120386" y="3585210"/>
                  </a:cubicBezTo>
                  <a:lnTo>
                    <a:pt x="183896" y="3585210"/>
                  </a:lnTo>
                  <a:cubicBezTo>
                    <a:pt x="82296" y="3585210"/>
                    <a:pt x="0" y="3502914"/>
                    <a:pt x="0" y="340131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9546336" y="2290572"/>
            <a:ext cx="3429000" cy="342900"/>
            <a:chOff x="0" y="0"/>
            <a:chExt cx="4572000" cy="4572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572000" cy="457200"/>
            </a:xfrm>
            <a:custGeom>
              <a:avLst/>
              <a:gdLst/>
              <a:ahLst/>
              <a:cxnLst/>
              <a:rect l="l" t="t" r="r" b="b"/>
              <a:pathLst>
                <a:path w="4572000" h="457200">
                  <a:moveTo>
                    <a:pt x="0" y="0"/>
                  </a:moveTo>
                  <a:lnTo>
                    <a:pt x="4572000" y="0"/>
                  </a:lnTo>
                  <a:lnTo>
                    <a:pt x="4572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45720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150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HIGH FINE LOANS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46336" y="2702052"/>
            <a:ext cx="3429000" cy="685800"/>
            <a:chOff x="0" y="0"/>
            <a:chExt cx="4572000" cy="9144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572000" cy="914400"/>
            </a:xfrm>
            <a:custGeom>
              <a:avLst/>
              <a:gdLst/>
              <a:ahLst/>
              <a:cxnLst/>
              <a:rect l="l" t="t" r="r" b="b"/>
              <a:pathLst>
                <a:path w="4572000" h="914400">
                  <a:moveTo>
                    <a:pt x="0" y="0"/>
                  </a:moveTo>
                  <a:lnTo>
                    <a:pt x="4572000" y="0"/>
                  </a:lnTo>
                  <a:lnTo>
                    <a:pt x="4572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457200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0"/>
                </a:lnSpc>
              </a:pPr>
              <a:r>
                <a:rPr lang="en-US" sz="33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 Loans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546336" y="3429000"/>
            <a:ext cx="3429000" cy="411480"/>
            <a:chOff x="0" y="0"/>
            <a:chExt cx="4572000" cy="54864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572000" cy="548640"/>
            </a:xfrm>
            <a:custGeom>
              <a:avLst/>
              <a:gdLst/>
              <a:ahLst/>
              <a:cxnLst/>
              <a:rect l="l" t="t" r="r" b="b"/>
              <a:pathLst>
                <a:path w="4572000" h="54864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0"/>
              <a:ext cx="45720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C8A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Fines above $10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3489400" y="2118836"/>
            <a:ext cx="3978212" cy="2688908"/>
            <a:chOff x="0" y="0"/>
            <a:chExt cx="5304282" cy="358521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304282" cy="3585210"/>
            </a:xfrm>
            <a:custGeom>
              <a:avLst/>
              <a:gdLst/>
              <a:ahLst/>
              <a:cxnLst/>
              <a:rect l="l" t="t" r="r" b="b"/>
              <a:pathLst>
                <a:path w="5304282" h="358521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5120386" y="0"/>
                  </a:lnTo>
                  <a:cubicBezTo>
                    <a:pt x="5221986" y="0"/>
                    <a:pt x="5304282" y="82296"/>
                    <a:pt x="5304282" y="183896"/>
                  </a:cubicBezTo>
                  <a:lnTo>
                    <a:pt x="5304282" y="3401314"/>
                  </a:lnTo>
                  <a:cubicBezTo>
                    <a:pt x="5304282" y="3502914"/>
                    <a:pt x="5221986" y="3585210"/>
                    <a:pt x="5120386" y="3585210"/>
                  </a:cubicBezTo>
                  <a:lnTo>
                    <a:pt x="183896" y="3585210"/>
                  </a:lnTo>
                  <a:cubicBezTo>
                    <a:pt x="82296" y="3585210"/>
                    <a:pt x="0" y="3502914"/>
                    <a:pt x="0" y="340131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13770864" y="2290572"/>
            <a:ext cx="3429000" cy="342900"/>
            <a:chOff x="0" y="0"/>
            <a:chExt cx="4572000" cy="4572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572000" cy="457200"/>
            </a:xfrm>
            <a:custGeom>
              <a:avLst/>
              <a:gdLst/>
              <a:ahLst/>
              <a:cxnLst/>
              <a:rect l="l" t="t" r="r" b="b"/>
              <a:pathLst>
                <a:path w="4572000" h="457200">
                  <a:moveTo>
                    <a:pt x="0" y="0"/>
                  </a:moveTo>
                  <a:lnTo>
                    <a:pt x="4572000" y="0"/>
                  </a:lnTo>
                  <a:lnTo>
                    <a:pt x="4572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0"/>
              <a:ext cx="45720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150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TOP BOOK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3770864" y="2702052"/>
            <a:ext cx="3429000" cy="685800"/>
            <a:chOff x="0" y="0"/>
            <a:chExt cx="4572000" cy="9144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572000" cy="914400"/>
            </a:xfrm>
            <a:custGeom>
              <a:avLst/>
              <a:gdLst/>
              <a:ahLst/>
              <a:cxnLst/>
              <a:rect l="l" t="t" r="r" b="b"/>
              <a:pathLst>
                <a:path w="4572000" h="914400">
                  <a:moveTo>
                    <a:pt x="0" y="0"/>
                  </a:moveTo>
                  <a:lnTo>
                    <a:pt x="4572000" y="0"/>
                  </a:lnTo>
                  <a:lnTo>
                    <a:pt x="4572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9525"/>
              <a:ext cx="45720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 Brief History of Time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3770864" y="3429000"/>
            <a:ext cx="3429000" cy="411480"/>
            <a:chOff x="0" y="0"/>
            <a:chExt cx="4572000" cy="54864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572000" cy="548640"/>
            </a:xfrm>
            <a:custGeom>
              <a:avLst/>
              <a:gdLst/>
              <a:ahLst/>
              <a:cxnLst/>
              <a:rect l="l" t="t" r="r" b="b"/>
              <a:pathLst>
                <a:path w="4572000" h="54864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0"/>
              <a:ext cx="45720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C8A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 Borrows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15816" y="5067776"/>
            <a:ext cx="6323647" cy="4266247"/>
            <a:chOff x="0" y="0"/>
            <a:chExt cx="8431530" cy="568833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431530" cy="5688330"/>
            </a:xfrm>
            <a:custGeom>
              <a:avLst/>
              <a:gdLst/>
              <a:ahLst/>
              <a:cxnLst/>
              <a:rect l="l" t="t" r="r" b="b"/>
              <a:pathLst>
                <a:path w="8431530" h="568833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8248015" y="0"/>
                  </a:lnTo>
                  <a:cubicBezTo>
                    <a:pt x="8349361" y="0"/>
                    <a:pt x="8431530" y="82169"/>
                    <a:pt x="8431530" y="183515"/>
                  </a:cubicBezTo>
                  <a:lnTo>
                    <a:pt x="8431530" y="5504815"/>
                  </a:lnTo>
                  <a:cubicBezTo>
                    <a:pt x="8431530" y="5606161"/>
                    <a:pt x="8349361" y="5688330"/>
                    <a:pt x="8248015" y="5688330"/>
                  </a:cubicBezTo>
                  <a:lnTo>
                    <a:pt x="183515" y="5688330"/>
                  </a:lnTo>
                  <a:cubicBezTo>
                    <a:pt x="82169" y="5688330"/>
                    <a:pt x="0" y="5606161"/>
                    <a:pt x="0" y="550481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1165860" y="5239512"/>
            <a:ext cx="5486400" cy="548640"/>
            <a:chOff x="0" y="0"/>
            <a:chExt cx="7315200" cy="73152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315200" cy="731520"/>
            </a:xfrm>
            <a:custGeom>
              <a:avLst/>
              <a:gdLst/>
              <a:ahLst/>
              <a:cxnLst/>
              <a:rect l="l" t="t" r="r" b="b"/>
              <a:pathLst>
                <a:path w="7315200" h="73152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0"/>
              <a:ext cx="73152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High Fine Loans (&gt; $10)</a:t>
              </a:r>
            </a:p>
          </p:txBody>
        </p:sp>
      </p:grpSp>
      <p:sp>
        <p:nvSpPr>
          <p:cNvPr id="66" name="AutoShape 66"/>
          <p:cNvSpPr/>
          <p:nvPr/>
        </p:nvSpPr>
        <p:spPr>
          <a:xfrm rot="8700">
            <a:off x="1158707" y="5893118"/>
            <a:ext cx="5637867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7" name="Group 67"/>
          <p:cNvGrpSpPr/>
          <p:nvPr/>
        </p:nvGrpSpPr>
        <p:grpSpPr>
          <a:xfrm>
            <a:off x="1165860" y="5952744"/>
            <a:ext cx="2743200" cy="548640"/>
            <a:chOff x="0" y="0"/>
            <a:chExt cx="3657600" cy="73152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3657600" cy="731520"/>
            </a:xfrm>
            <a:custGeom>
              <a:avLst/>
              <a:gdLst/>
              <a:ahLst/>
              <a:cxnLst/>
              <a:rect l="l" t="t" r="r" b="b"/>
              <a:pathLst>
                <a:path w="3657600" h="73152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0"/>
              <a:ext cx="36576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Loan 2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4046220" y="5952744"/>
            <a:ext cx="2743200" cy="548640"/>
            <a:chOff x="0" y="0"/>
            <a:chExt cx="3657600" cy="73152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3657600" cy="731520"/>
            </a:xfrm>
            <a:custGeom>
              <a:avLst/>
              <a:gdLst/>
              <a:ahLst/>
              <a:cxnLst/>
              <a:rect l="l" t="t" r="r" b="b"/>
              <a:pathLst>
                <a:path w="3657600" h="73152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0"/>
              <a:ext cx="36576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700"/>
                </a:lnSpc>
              </a:pPr>
              <a:r>
                <a:rPr lang="en-US" sz="22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$12.50</a:t>
              </a:r>
            </a:p>
          </p:txBody>
        </p:sp>
      </p:grpSp>
      <p:sp>
        <p:nvSpPr>
          <p:cNvPr id="73" name="AutoShape 73"/>
          <p:cNvSpPr/>
          <p:nvPr/>
        </p:nvSpPr>
        <p:spPr>
          <a:xfrm rot="8700">
            <a:off x="1158707" y="6551486"/>
            <a:ext cx="5637867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4" name="Group 74"/>
          <p:cNvGrpSpPr/>
          <p:nvPr/>
        </p:nvGrpSpPr>
        <p:grpSpPr>
          <a:xfrm>
            <a:off x="1165860" y="6611112"/>
            <a:ext cx="2743200" cy="548640"/>
            <a:chOff x="0" y="0"/>
            <a:chExt cx="3657600" cy="73152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3657600" cy="731520"/>
            </a:xfrm>
            <a:custGeom>
              <a:avLst/>
              <a:gdLst/>
              <a:ahLst/>
              <a:cxnLst/>
              <a:rect l="l" t="t" r="r" b="b"/>
              <a:pathLst>
                <a:path w="3657600" h="73152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0"/>
              <a:ext cx="36576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Loan 8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4046220" y="6611112"/>
            <a:ext cx="2743200" cy="548640"/>
            <a:chOff x="0" y="0"/>
            <a:chExt cx="3657600" cy="73152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3657600" cy="731520"/>
            </a:xfrm>
            <a:custGeom>
              <a:avLst/>
              <a:gdLst/>
              <a:ahLst/>
              <a:cxnLst/>
              <a:rect l="l" t="t" r="r" b="b"/>
              <a:pathLst>
                <a:path w="3657600" h="73152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0"/>
              <a:ext cx="36576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700"/>
                </a:lnSpc>
              </a:pPr>
              <a:r>
                <a:rPr lang="en-US" sz="22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$12.00</a:t>
              </a:r>
            </a:p>
          </p:txBody>
        </p:sp>
      </p:grpSp>
      <p:sp>
        <p:nvSpPr>
          <p:cNvPr id="80" name="AutoShape 80"/>
          <p:cNvSpPr/>
          <p:nvPr/>
        </p:nvSpPr>
        <p:spPr>
          <a:xfrm rot="8700">
            <a:off x="1158707" y="7209854"/>
            <a:ext cx="5637867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1" name="Group 81"/>
          <p:cNvGrpSpPr/>
          <p:nvPr/>
        </p:nvGrpSpPr>
        <p:grpSpPr>
          <a:xfrm>
            <a:off x="1165860" y="7269480"/>
            <a:ext cx="2743200" cy="548640"/>
            <a:chOff x="0" y="0"/>
            <a:chExt cx="3657600" cy="73152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3657600" cy="731520"/>
            </a:xfrm>
            <a:custGeom>
              <a:avLst/>
              <a:gdLst/>
              <a:ahLst/>
              <a:cxnLst/>
              <a:rect l="l" t="t" r="r" b="b"/>
              <a:pathLst>
                <a:path w="3657600" h="73152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0"/>
              <a:ext cx="36576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Loan 10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4046220" y="7269480"/>
            <a:ext cx="2743200" cy="548640"/>
            <a:chOff x="0" y="0"/>
            <a:chExt cx="3657600" cy="73152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3657600" cy="731520"/>
            </a:xfrm>
            <a:custGeom>
              <a:avLst/>
              <a:gdLst/>
              <a:ahLst/>
              <a:cxnLst/>
              <a:rect l="l" t="t" r="r" b="b"/>
              <a:pathLst>
                <a:path w="3657600" h="73152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0"/>
              <a:ext cx="36576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700"/>
                </a:lnSpc>
              </a:pPr>
              <a:r>
                <a:rPr lang="en-US" sz="22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$15.00</a:t>
              </a:r>
            </a:p>
          </p:txBody>
        </p:sp>
      </p:grpSp>
      <p:sp>
        <p:nvSpPr>
          <p:cNvPr id="87" name="AutoShape 87"/>
          <p:cNvSpPr/>
          <p:nvPr/>
        </p:nvSpPr>
        <p:spPr>
          <a:xfrm rot="8700">
            <a:off x="1158707" y="7868221"/>
            <a:ext cx="5637867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8" name="Group 88"/>
          <p:cNvGrpSpPr/>
          <p:nvPr/>
        </p:nvGrpSpPr>
        <p:grpSpPr>
          <a:xfrm>
            <a:off x="1165860" y="7927848"/>
            <a:ext cx="2743200" cy="548640"/>
            <a:chOff x="0" y="0"/>
            <a:chExt cx="3657600" cy="73152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3657600" cy="731520"/>
            </a:xfrm>
            <a:custGeom>
              <a:avLst/>
              <a:gdLst/>
              <a:ahLst/>
              <a:cxnLst/>
              <a:rect l="l" t="t" r="r" b="b"/>
              <a:pathLst>
                <a:path w="3657600" h="73152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0" y="0"/>
              <a:ext cx="36576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Loan 13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4046220" y="7927848"/>
            <a:ext cx="2743200" cy="548640"/>
            <a:chOff x="0" y="0"/>
            <a:chExt cx="3657600" cy="73152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3657600" cy="731520"/>
            </a:xfrm>
            <a:custGeom>
              <a:avLst/>
              <a:gdLst/>
              <a:ahLst/>
              <a:cxnLst/>
              <a:rect l="l" t="t" r="r" b="b"/>
              <a:pathLst>
                <a:path w="3657600" h="73152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0"/>
              <a:ext cx="36576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700"/>
                </a:lnSpc>
              </a:pPr>
              <a:r>
                <a:rPr lang="en-US" sz="22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$20.00</a:t>
              </a:r>
            </a:p>
          </p:txBody>
        </p:sp>
      </p:grpSp>
      <p:sp>
        <p:nvSpPr>
          <p:cNvPr id="94" name="AutoShape 94"/>
          <p:cNvSpPr/>
          <p:nvPr/>
        </p:nvSpPr>
        <p:spPr>
          <a:xfrm rot="8700">
            <a:off x="1158707" y="8526590"/>
            <a:ext cx="5637867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5" name="Group 95"/>
          <p:cNvGrpSpPr/>
          <p:nvPr/>
        </p:nvGrpSpPr>
        <p:grpSpPr>
          <a:xfrm>
            <a:off x="1165860" y="8586216"/>
            <a:ext cx="2743200" cy="548640"/>
            <a:chOff x="0" y="0"/>
            <a:chExt cx="3657600" cy="731520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3657600" cy="731520"/>
            </a:xfrm>
            <a:custGeom>
              <a:avLst/>
              <a:gdLst/>
              <a:ahLst/>
              <a:cxnLst/>
              <a:rect l="l" t="t" r="r" b="b"/>
              <a:pathLst>
                <a:path w="3657600" h="73152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0"/>
              <a:ext cx="36576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Loan 19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4046220" y="8586216"/>
            <a:ext cx="2743200" cy="548640"/>
            <a:chOff x="0" y="0"/>
            <a:chExt cx="3657600" cy="73152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3657600" cy="731520"/>
            </a:xfrm>
            <a:custGeom>
              <a:avLst/>
              <a:gdLst/>
              <a:ahLst/>
              <a:cxnLst/>
              <a:rect l="l" t="t" r="r" b="b"/>
              <a:pathLst>
                <a:path w="3657600" h="73152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0"/>
              <a:ext cx="36576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700"/>
                </a:lnSpc>
              </a:pPr>
              <a:r>
                <a:rPr lang="en-US" sz="22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$11.00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7399496" y="5067776"/>
            <a:ext cx="10068116" cy="4266247"/>
            <a:chOff x="0" y="0"/>
            <a:chExt cx="13424154" cy="568833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13424153" cy="5688330"/>
            </a:xfrm>
            <a:custGeom>
              <a:avLst/>
              <a:gdLst/>
              <a:ahLst/>
              <a:cxnLst/>
              <a:rect l="l" t="t" r="r" b="b"/>
              <a:pathLst>
                <a:path w="13424153" h="568833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3240638" y="0"/>
                  </a:lnTo>
                  <a:cubicBezTo>
                    <a:pt x="13341984" y="0"/>
                    <a:pt x="13424153" y="82169"/>
                    <a:pt x="13424153" y="183515"/>
                  </a:cubicBezTo>
                  <a:lnTo>
                    <a:pt x="13424153" y="5504815"/>
                  </a:lnTo>
                  <a:cubicBezTo>
                    <a:pt x="13424153" y="5606161"/>
                    <a:pt x="13341984" y="5688330"/>
                    <a:pt x="13240638" y="5688330"/>
                  </a:cubicBezTo>
                  <a:lnTo>
                    <a:pt x="183515" y="5688330"/>
                  </a:lnTo>
                  <a:cubicBezTo>
                    <a:pt x="82169" y="5688330"/>
                    <a:pt x="0" y="5606161"/>
                    <a:pt x="0" y="550481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103" name="Group 103"/>
          <p:cNvGrpSpPr/>
          <p:nvPr/>
        </p:nvGrpSpPr>
        <p:grpSpPr>
          <a:xfrm>
            <a:off x="7749540" y="5239512"/>
            <a:ext cx="8229600" cy="548640"/>
            <a:chOff x="0" y="0"/>
            <a:chExt cx="10972800" cy="731520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10972800" cy="731520"/>
            </a:xfrm>
            <a:custGeom>
              <a:avLst/>
              <a:gdLst/>
              <a:ahLst/>
              <a:cxnLst/>
              <a:rect l="l" t="t" r="r" b="b"/>
              <a:pathLst>
                <a:path w="10972800" h="73152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105" name="TextBox 105"/>
            <p:cNvSpPr txBox="1"/>
            <p:nvPr/>
          </p:nvSpPr>
          <p:spPr>
            <a:xfrm>
              <a:off x="0" y="0"/>
              <a:ext cx="109728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Top 5 Most Borrowed Books</a:t>
              </a:r>
            </a:p>
          </p:txBody>
        </p:sp>
      </p:grpSp>
      <p:pic>
        <p:nvPicPr>
          <p:cNvPr id="106" name="Picture 1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964" y="4786884"/>
            <a:ext cx="11686032" cy="537667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920">
            <a:off x="811044" y="1805750"/>
            <a:ext cx="16661340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2940">
            <a:off x="815816" y="9569006"/>
            <a:ext cx="16651805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22960" y="9683496"/>
            <a:ext cx="10972800" cy="342900"/>
            <a:chOff x="0" y="0"/>
            <a:chExt cx="146304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1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LIBRARY MANAGEMENT SYSTEM  ·  MYSQL DATABASE PROJECT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850392"/>
            <a:ext cx="16637508" cy="850392"/>
            <a:chOff x="0" y="0"/>
            <a:chExt cx="22183344" cy="11338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3344" cy="1133856"/>
            </a:xfrm>
            <a:custGeom>
              <a:avLst/>
              <a:gdLst/>
              <a:ahLst/>
              <a:cxnLst/>
              <a:rect l="l" t="t" r="r" b="b"/>
              <a:pathLst>
                <a:path w="22183344" h="1133856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1215" b="-33121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2183344" cy="1124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Real-World Applications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2960" y="466344"/>
            <a:ext cx="10972800" cy="342900"/>
            <a:chOff x="0" y="0"/>
            <a:chExt cx="1463040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REAL-WORLD VALUE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73400" y="9683496"/>
            <a:ext cx="1687068" cy="342900"/>
            <a:chOff x="0" y="0"/>
            <a:chExt cx="2249424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4" cy="457200"/>
            </a:xfrm>
            <a:custGeom>
              <a:avLst/>
              <a:gdLst/>
              <a:ahLst/>
              <a:cxnLst/>
              <a:rect l="l" t="t" r="r" b="b"/>
              <a:pathLst>
                <a:path w="2249424" h="457200">
                  <a:moveTo>
                    <a:pt x="0" y="0"/>
                  </a:moveTo>
                  <a:lnTo>
                    <a:pt x="2249424" y="0"/>
                  </a:lnTo>
                  <a:lnTo>
                    <a:pt x="22494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866" b="-4586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2494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24 / 25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15816" y="2118836"/>
            <a:ext cx="3978212" cy="1385888"/>
            <a:chOff x="0" y="0"/>
            <a:chExt cx="5304282" cy="18478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304282" cy="1847850"/>
            </a:xfrm>
            <a:custGeom>
              <a:avLst/>
              <a:gdLst/>
              <a:ahLst/>
              <a:cxnLst/>
              <a:rect l="l" t="t" r="r" b="b"/>
              <a:pathLst>
                <a:path w="5304282" h="184785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5119497" y="0"/>
                  </a:lnTo>
                  <a:cubicBezTo>
                    <a:pt x="5221605" y="0"/>
                    <a:pt x="5304282" y="82677"/>
                    <a:pt x="5304282" y="184785"/>
                  </a:cubicBezTo>
                  <a:lnTo>
                    <a:pt x="5304282" y="1663065"/>
                  </a:lnTo>
                  <a:cubicBezTo>
                    <a:pt x="5304282" y="1765173"/>
                    <a:pt x="5221605" y="1847850"/>
                    <a:pt x="5119497" y="1847850"/>
                  </a:cubicBezTo>
                  <a:lnTo>
                    <a:pt x="184785" y="1847850"/>
                  </a:lnTo>
                  <a:cubicBezTo>
                    <a:pt x="82677" y="1847850"/>
                    <a:pt x="0" y="1765173"/>
                    <a:pt x="0" y="1663065"/>
                  </a:cubicBezTo>
                  <a:close/>
                </a:path>
              </a:pathLst>
            </a:custGeom>
            <a:solidFill>
              <a:srgbClr val="14213D"/>
            </a:solidFill>
            <a:ln w="14288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165860" y="2125980"/>
            <a:ext cx="1234440" cy="1371600"/>
            <a:chOff x="0" y="0"/>
            <a:chExt cx="1645920" cy="1828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45920" cy="1828800"/>
            </a:xfrm>
            <a:custGeom>
              <a:avLst/>
              <a:gdLst/>
              <a:ahLst/>
              <a:cxnLst/>
              <a:rect l="l" t="t" r="r" b="b"/>
              <a:pathLst>
                <a:path w="1645920" h="1828800">
                  <a:moveTo>
                    <a:pt x="0" y="0"/>
                  </a:moveTo>
                  <a:lnTo>
                    <a:pt x="1645920" y="0"/>
                  </a:lnTo>
                  <a:lnTo>
                    <a:pt x="1645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r="-92559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1645920" cy="1828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10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468880" y="2125980"/>
            <a:ext cx="2194560" cy="1371600"/>
            <a:chOff x="0" y="0"/>
            <a:chExt cx="2926080" cy="1828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926080" cy="1828800"/>
            </a:xfrm>
            <a:custGeom>
              <a:avLst/>
              <a:gdLst/>
              <a:ahLst/>
              <a:cxnLst/>
              <a:rect l="l" t="t" r="r" b="b"/>
              <a:pathLst>
                <a:path w="2926080" h="1828800">
                  <a:moveTo>
                    <a:pt x="0" y="0"/>
                  </a:moveTo>
                  <a:lnTo>
                    <a:pt x="2926080" y="0"/>
                  </a:lnTo>
                  <a:lnTo>
                    <a:pt x="29260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r="-30189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2926080" cy="1828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F7F3E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Books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040344" y="2118836"/>
            <a:ext cx="3978212" cy="1385888"/>
            <a:chOff x="0" y="0"/>
            <a:chExt cx="5304282" cy="18478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304282" cy="1847850"/>
            </a:xfrm>
            <a:custGeom>
              <a:avLst/>
              <a:gdLst/>
              <a:ahLst/>
              <a:cxnLst/>
              <a:rect l="l" t="t" r="r" b="b"/>
              <a:pathLst>
                <a:path w="5304282" h="184785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5119497" y="0"/>
                  </a:lnTo>
                  <a:cubicBezTo>
                    <a:pt x="5221605" y="0"/>
                    <a:pt x="5304282" y="82677"/>
                    <a:pt x="5304282" y="184785"/>
                  </a:cubicBezTo>
                  <a:lnTo>
                    <a:pt x="5304282" y="1663065"/>
                  </a:lnTo>
                  <a:cubicBezTo>
                    <a:pt x="5304282" y="1765173"/>
                    <a:pt x="5221605" y="1847850"/>
                    <a:pt x="5119497" y="1847850"/>
                  </a:cubicBezTo>
                  <a:lnTo>
                    <a:pt x="184785" y="1847850"/>
                  </a:lnTo>
                  <a:cubicBezTo>
                    <a:pt x="82677" y="1847850"/>
                    <a:pt x="0" y="1765173"/>
                    <a:pt x="0" y="1663065"/>
                  </a:cubicBezTo>
                  <a:close/>
                </a:path>
              </a:pathLst>
            </a:custGeom>
            <a:solidFill>
              <a:srgbClr val="14213D"/>
            </a:solidFill>
            <a:ln w="14288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5390388" y="2125980"/>
            <a:ext cx="1234440" cy="1371600"/>
            <a:chOff x="0" y="0"/>
            <a:chExt cx="1645920" cy="1828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645920" cy="1828800"/>
            </a:xfrm>
            <a:custGeom>
              <a:avLst/>
              <a:gdLst/>
              <a:ahLst/>
              <a:cxnLst/>
              <a:rect l="l" t="t" r="r" b="b"/>
              <a:pathLst>
                <a:path w="1645920" h="1828800">
                  <a:moveTo>
                    <a:pt x="0" y="0"/>
                  </a:moveTo>
                  <a:lnTo>
                    <a:pt x="1645920" y="0"/>
                  </a:lnTo>
                  <a:lnTo>
                    <a:pt x="1645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r="-92559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1645920" cy="1828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10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93408" y="2125980"/>
            <a:ext cx="2194560" cy="1371600"/>
            <a:chOff x="0" y="0"/>
            <a:chExt cx="2926080" cy="1828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926080" cy="1828800"/>
            </a:xfrm>
            <a:custGeom>
              <a:avLst/>
              <a:gdLst/>
              <a:ahLst/>
              <a:cxnLst/>
              <a:rect l="l" t="t" r="r" b="b"/>
              <a:pathLst>
                <a:path w="2926080" h="1828800">
                  <a:moveTo>
                    <a:pt x="0" y="0"/>
                  </a:moveTo>
                  <a:lnTo>
                    <a:pt x="2926080" y="0"/>
                  </a:lnTo>
                  <a:lnTo>
                    <a:pt x="29260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r="-30189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2926080" cy="1828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F7F3E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Members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264872" y="2118836"/>
            <a:ext cx="3978212" cy="1385888"/>
            <a:chOff x="0" y="0"/>
            <a:chExt cx="5304282" cy="184785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304282" cy="1847850"/>
            </a:xfrm>
            <a:custGeom>
              <a:avLst/>
              <a:gdLst/>
              <a:ahLst/>
              <a:cxnLst/>
              <a:rect l="l" t="t" r="r" b="b"/>
              <a:pathLst>
                <a:path w="5304282" h="184785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5119497" y="0"/>
                  </a:lnTo>
                  <a:cubicBezTo>
                    <a:pt x="5221605" y="0"/>
                    <a:pt x="5304282" y="82677"/>
                    <a:pt x="5304282" y="184785"/>
                  </a:cubicBezTo>
                  <a:lnTo>
                    <a:pt x="5304282" y="1663065"/>
                  </a:lnTo>
                  <a:cubicBezTo>
                    <a:pt x="5304282" y="1765173"/>
                    <a:pt x="5221605" y="1847850"/>
                    <a:pt x="5119497" y="1847850"/>
                  </a:cubicBezTo>
                  <a:lnTo>
                    <a:pt x="184785" y="1847850"/>
                  </a:lnTo>
                  <a:cubicBezTo>
                    <a:pt x="82677" y="1847850"/>
                    <a:pt x="0" y="1765173"/>
                    <a:pt x="0" y="1663065"/>
                  </a:cubicBezTo>
                  <a:close/>
                </a:path>
              </a:pathLst>
            </a:custGeom>
            <a:solidFill>
              <a:srgbClr val="14213D"/>
            </a:solidFill>
            <a:ln w="14288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9614916" y="2125980"/>
            <a:ext cx="1234440" cy="1371600"/>
            <a:chOff x="0" y="0"/>
            <a:chExt cx="1645920" cy="1828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645920" cy="1828800"/>
            </a:xfrm>
            <a:custGeom>
              <a:avLst/>
              <a:gdLst/>
              <a:ahLst/>
              <a:cxnLst/>
              <a:rect l="l" t="t" r="r" b="b"/>
              <a:pathLst>
                <a:path w="1645920" h="1828800">
                  <a:moveTo>
                    <a:pt x="0" y="0"/>
                  </a:moveTo>
                  <a:lnTo>
                    <a:pt x="1645920" y="0"/>
                  </a:lnTo>
                  <a:lnTo>
                    <a:pt x="1645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r="-92559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1645920" cy="1828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20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917936" y="2125980"/>
            <a:ext cx="2194560" cy="1371600"/>
            <a:chOff x="0" y="0"/>
            <a:chExt cx="2926080" cy="1828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926080" cy="1828800"/>
            </a:xfrm>
            <a:custGeom>
              <a:avLst/>
              <a:gdLst/>
              <a:ahLst/>
              <a:cxnLst/>
              <a:rect l="l" t="t" r="r" b="b"/>
              <a:pathLst>
                <a:path w="2926080" h="1828800">
                  <a:moveTo>
                    <a:pt x="0" y="0"/>
                  </a:moveTo>
                  <a:lnTo>
                    <a:pt x="2926080" y="0"/>
                  </a:lnTo>
                  <a:lnTo>
                    <a:pt x="29260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r="-30189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2926080" cy="1828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F7F3E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Loans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489400" y="2118836"/>
            <a:ext cx="3978212" cy="1385888"/>
            <a:chOff x="0" y="0"/>
            <a:chExt cx="5304282" cy="184785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304282" cy="1847850"/>
            </a:xfrm>
            <a:custGeom>
              <a:avLst/>
              <a:gdLst/>
              <a:ahLst/>
              <a:cxnLst/>
              <a:rect l="l" t="t" r="r" b="b"/>
              <a:pathLst>
                <a:path w="5304282" h="184785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5119497" y="0"/>
                  </a:lnTo>
                  <a:cubicBezTo>
                    <a:pt x="5221605" y="0"/>
                    <a:pt x="5304282" y="82677"/>
                    <a:pt x="5304282" y="184785"/>
                  </a:cubicBezTo>
                  <a:lnTo>
                    <a:pt x="5304282" y="1663065"/>
                  </a:lnTo>
                  <a:cubicBezTo>
                    <a:pt x="5304282" y="1765173"/>
                    <a:pt x="5221605" y="1847850"/>
                    <a:pt x="5119497" y="1847850"/>
                  </a:cubicBezTo>
                  <a:lnTo>
                    <a:pt x="184785" y="1847850"/>
                  </a:lnTo>
                  <a:cubicBezTo>
                    <a:pt x="82677" y="1847850"/>
                    <a:pt x="0" y="1765173"/>
                    <a:pt x="0" y="1663065"/>
                  </a:cubicBezTo>
                  <a:close/>
                </a:path>
              </a:pathLst>
            </a:custGeom>
            <a:solidFill>
              <a:srgbClr val="14213D"/>
            </a:solidFill>
            <a:ln w="14288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13839444" y="2125980"/>
            <a:ext cx="1234440" cy="1371600"/>
            <a:chOff x="0" y="0"/>
            <a:chExt cx="1645920" cy="1828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645920" cy="1828800"/>
            </a:xfrm>
            <a:custGeom>
              <a:avLst/>
              <a:gdLst/>
              <a:ahLst/>
              <a:cxnLst/>
              <a:rect l="l" t="t" r="r" b="b"/>
              <a:pathLst>
                <a:path w="1645920" h="1828800">
                  <a:moveTo>
                    <a:pt x="0" y="0"/>
                  </a:moveTo>
                  <a:lnTo>
                    <a:pt x="1645920" y="0"/>
                  </a:lnTo>
                  <a:lnTo>
                    <a:pt x="1645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r="-92559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1645920" cy="1828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11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5142464" y="2125980"/>
            <a:ext cx="2194560" cy="1371600"/>
            <a:chOff x="0" y="0"/>
            <a:chExt cx="2926080" cy="1828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926080" cy="1828800"/>
            </a:xfrm>
            <a:custGeom>
              <a:avLst/>
              <a:gdLst/>
              <a:ahLst/>
              <a:cxnLst/>
              <a:rect l="l" t="t" r="r" b="b"/>
              <a:pathLst>
                <a:path w="2926080" h="1828800">
                  <a:moveTo>
                    <a:pt x="0" y="0"/>
                  </a:moveTo>
                  <a:lnTo>
                    <a:pt x="2926080" y="0"/>
                  </a:lnTo>
                  <a:lnTo>
                    <a:pt x="29260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r="-30189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2926080" cy="1828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F7F3E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Fine records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15816" y="3833336"/>
            <a:ext cx="8195882" cy="1591627"/>
            <a:chOff x="0" y="0"/>
            <a:chExt cx="10927842" cy="212217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0927842" cy="2122170"/>
            </a:xfrm>
            <a:custGeom>
              <a:avLst/>
              <a:gdLst/>
              <a:ahLst/>
              <a:cxnLst/>
              <a:rect l="l" t="t" r="r" b="b"/>
              <a:pathLst>
                <a:path w="10927842" h="212217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10743312" y="0"/>
                  </a:lnTo>
                  <a:cubicBezTo>
                    <a:pt x="10845292" y="0"/>
                    <a:pt x="10927842" y="82677"/>
                    <a:pt x="10927842" y="184531"/>
                  </a:cubicBezTo>
                  <a:lnTo>
                    <a:pt x="10927842" y="1937639"/>
                  </a:lnTo>
                  <a:cubicBezTo>
                    <a:pt x="10927842" y="2039620"/>
                    <a:pt x="10845165" y="2122170"/>
                    <a:pt x="10743312" y="2122170"/>
                  </a:cubicBezTo>
                  <a:lnTo>
                    <a:pt x="184531" y="2122170"/>
                  </a:lnTo>
                  <a:cubicBezTo>
                    <a:pt x="82677" y="2122170"/>
                    <a:pt x="0" y="2039493"/>
                    <a:pt x="0" y="193763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1165860" y="3840480"/>
            <a:ext cx="960120" cy="1577340"/>
            <a:chOff x="0" y="0"/>
            <a:chExt cx="1280160" cy="210312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280160" cy="2103120"/>
            </a:xfrm>
            <a:custGeom>
              <a:avLst/>
              <a:gdLst/>
              <a:ahLst/>
              <a:cxnLst/>
              <a:rect l="l" t="t" r="r" b="b"/>
              <a:pathLst>
                <a:path w="1280160" h="2103120">
                  <a:moveTo>
                    <a:pt x="0" y="0"/>
                  </a:moveTo>
                  <a:lnTo>
                    <a:pt x="1280160" y="0"/>
                  </a:lnTo>
                  <a:lnTo>
                    <a:pt x="128016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0784" r="-160784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1280160" cy="2103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194560" y="4114800"/>
            <a:ext cx="6446520" cy="480060"/>
            <a:chOff x="0" y="0"/>
            <a:chExt cx="8595360" cy="64008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595360" cy="640080"/>
            </a:xfrm>
            <a:custGeom>
              <a:avLst/>
              <a:gdLst/>
              <a:ahLst/>
              <a:cxnLst/>
              <a:rect l="l" t="t" r="r" b="b"/>
              <a:pathLst>
                <a:path w="8595360" h="640080">
                  <a:moveTo>
                    <a:pt x="0" y="0"/>
                  </a:moveTo>
                  <a:lnTo>
                    <a:pt x="8595360" y="0"/>
                  </a:lnTo>
                  <a:lnTo>
                    <a:pt x="8595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656" b="-211656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0"/>
              <a:ext cx="859536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 spc="150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BOOK AVAILABILITY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2194560" y="4663440"/>
            <a:ext cx="6446520" cy="480060"/>
            <a:chOff x="0" y="0"/>
            <a:chExt cx="8595360" cy="64008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595360" cy="640080"/>
            </a:xfrm>
            <a:custGeom>
              <a:avLst/>
              <a:gdLst/>
              <a:ahLst/>
              <a:cxnLst/>
              <a:rect l="l" t="t" r="r" b="b"/>
              <a:pathLst>
                <a:path w="8595360" h="640080">
                  <a:moveTo>
                    <a:pt x="0" y="0"/>
                  </a:moveTo>
                  <a:lnTo>
                    <a:pt x="8595360" y="0"/>
                  </a:lnTo>
                  <a:lnTo>
                    <a:pt x="8595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656" b="-211656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859536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Know which books are available or checked out.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271730" y="3833336"/>
            <a:ext cx="8195882" cy="1591627"/>
            <a:chOff x="0" y="0"/>
            <a:chExt cx="10927842" cy="212217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927842" cy="2122170"/>
            </a:xfrm>
            <a:custGeom>
              <a:avLst/>
              <a:gdLst/>
              <a:ahLst/>
              <a:cxnLst/>
              <a:rect l="l" t="t" r="r" b="b"/>
              <a:pathLst>
                <a:path w="10927842" h="212217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10743312" y="0"/>
                  </a:lnTo>
                  <a:cubicBezTo>
                    <a:pt x="10845292" y="0"/>
                    <a:pt x="10927842" y="82677"/>
                    <a:pt x="10927842" y="184531"/>
                  </a:cubicBezTo>
                  <a:lnTo>
                    <a:pt x="10927842" y="1937639"/>
                  </a:lnTo>
                  <a:cubicBezTo>
                    <a:pt x="10927842" y="2039620"/>
                    <a:pt x="10845165" y="2122170"/>
                    <a:pt x="10743312" y="2122170"/>
                  </a:cubicBezTo>
                  <a:lnTo>
                    <a:pt x="184531" y="2122170"/>
                  </a:lnTo>
                  <a:cubicBezTo>
                    <a:pt x="82677" y="2122170"/>
                    <a:pt x="0" y="2039493"/>
                    <a:pt x="0" y="193763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9621774" y="3840480"/>
            <a:ext cx="960120" cy="1577340"/>
            <a:chOff x="0" y="0"/>
            <a:chExt cx="1280160" cy="210312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280160" cy="2103120"/>
            </a:xfrm>
            <a:custGeom>
              <a:avLst/>
              <a:gdLst/>
              <a:ahLst/>
              <a:cxnLst/>
              <a:rect l="l" t="t" r="r" b="b"/>
              <a:pathLst>
                <a:path w="1280160" h="2103120">
                  <a:moveTo>
                    <a:pt x="0" y="0"/>
                  </a:moveTo>
                  <a:lnTo>
                    <a:pt x="1280160" y="0"/>
                  </a:lnTo>
                  <a:lnTo>
                    <a:pt x="128016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0784" r="-160784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0"/>
              <a:ext cx="1280160" cy="2103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0650474" y="4114800"/>
            <a:ext cx="6446520" cy="480060"/>
            <a:chOff x="0" y="0"/>
            <a:chExt cx="8595360" cy="64008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595360" cy="640080"/>
            </a:xfrm>
            <a:custGeom>
              <a:avLst/>
              <a:gdLst/>
              <a:ahLst/>
              <a:cxnLst/>
              <a:rect l="l" t="t" r="r" b="b"/>
              <a:pathLst>
                <a:path w="8595360" h="640080">
                  <a:moveTo>
                    <a:pt x="0" y="0"/>
                  </a:moveTo>
                  <a:lnTo>
                    <a:pt x="8595360" y="0"/>
                  </a:lnTo>
                  <a:lnTo>
                    <a:pt x="8595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656" b="-211656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0"/>
              <a:ext cx="859536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 spc="150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MEMBER ACTIVITY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0650474" y="4663440"/>
            <a:ext cx="6446520" cy="480060"/>
            <a:chOff x="0" y="0"/>
            <a:chExt cx="8595360" cy="64008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595360" cy="640080"/>
            </a:xfrm>
            <a:custGeom>
              <a:avLst/>
              <a:gdLst/>
              <a:ahLst/>
              <a:cxnLst/>
              <a:rect l="l" t="t" r="r" b="b"/>
              <a:pathLst>
                <a:path w="8595360" h="640080">
                  <a:moveTo>
                    <a:pt x="0" y="0"/>
                  </a:moveTo>
                  <a:lnTo>
                    <a:pt x="8595360" y="0"/>
                  </a:lnTo>
                  <a:lnTo>
                    <a:pt x="8595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656" b="-211656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9525"/>
              <a:ext cx="859536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Identify frequent borrowers and patterns.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815816" y="5616416"/>
            <a:ext cx="8195882" cy="1591627"/>
            <a:chOff x="0" y="0"/>
            <a:chExt cx="10927842" cy="212217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0927842" cy="2122170"/>
            </a:xfrm>
            <a:custGeom>
              <a:avLst/>
              <a:gdLst/>
              <a:ahLst/>
              <a:cxnLst/>
              <a:rect l="l" t="t" r="r" b="b"/>
              <a:pathLst>
                <a:path w="10927842" h="212217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10743312" y="0"/>
                  </a:lnTo>
                  <a:cubicBezTo>
                    <a:pt x="10845292" y="0"/>
                    <a:pt x="10927842" y="82677"/>
                    <a:pt x="10927842" y="184531"/>
                  </a:cubicBezTo>
                  <a:lnTo>
                    <a:pt x="10927842" y="1937639"/>
                  </a:lnTo>
                  <a:cubicBezTo>
                    <a:pt x="10927842" y="2039620"/>
                    <a:pt x="10845165" y="2122170"/>
                    <a:pt x="10743312" y="2122170"/>
                  </a:cubicBezTo>
                  <a:lnTo>
                    <a:pt x="184531" y="2122170"/>
                  </a:lnTo>
                  <a:cubicBezTo>
                    <a:pt x="82677" y="2122170"/>
                    <a:pt x="0" y="2039493"/>
                    <a:pt x="0" y="193763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1165860" y="5623560"/>
            <a:ext cx="960120" cy="1577340"/>
            <a:chOff x="0" y="0"/>
            <a:chExt cx="1280160" cy="210312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280160" cy="2103120"/>
            </a:xfrm>
            <a:custGeom>
              <a:avLst/>
              <a:gdLst/>
              <a:ahLst/>
              <a:cxnLst/>
              <a:rect l="l" t="t" r="r" b="b"/>
              <a:pathLst>
                <a:path w="1280160" h="2103120">
                  <a:moveTo>
                    <a:pt x="0" y="0"/>
                  </a:moveTo>
                  <a:lnTo>
                    <a:pt x="1280160" y="0"/>
                  </a:lnTo>
                  <a:lnTo>
                    <a:pt x="128016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0784" r="-160784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0"/>
              <a:ext cx="1280160" cy="2103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2194560" y="5897880"/>
            <a:ext cx="6446520" cy="480060"/>
            <a:chOff x="0" y="0"/>
            <a:chExt cx="8595360" cy="64008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8595360" cy="640080"/>
            </a:xfrm>
            <a:custGeom>
              <a:avLst/>
              <a:gdLst/>
              <a:ahLst/>
              <a:cxnLst/>
              <a:rect l="l" t="t" r="r" b="b"/>
              <a:pathLst>
                <a:path w="8595360" h="640080">
                  <a:moveTo>
                    <a:pt x="0" y="0"/>
                  </a:moveTo>
                  <a:lnTo>
                    <a:pt x="8595360" y="0"/>
                  </a:lnTo>
                  <a:lnTo>
                    <a:pt x="8595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656" b="-211656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0"/>
              <a:ext cx="859536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 spc="150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LOAN TRACKING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2194560" y="6446520"/>
            <a:ext cx="6446520" cy="480060"/>
            <a:chOff x="0" y="0"/>
            <a:chExt cx="8595360" cy="64008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8595360" cy="640080"/>
            </a:xfrm>
            <a:custGeom>
              <a:avLst/>
              <a:gdLst/>
              <a:ahLst/>
              <a:cxnLst/>
              <a:rect l="l" t="t" r="r" b="b"/>
              <a:pathLst>
                <a:path w="8595360" h="640080">
                  <a:moveTo>
                    <a:pt x="0" y="0"/>
                  </a:moveTo>
                  <a:lnTo>
                    <a:pt x="8595360" y="0"/>
                  </a:lnTo>
                  <a:lnTo>
                    <a:pt x="8595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656" b="-211656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9525"/>
              <a:ext cx="859536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Monitor issue dates and return status.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9271730" y="5616416"/>
            <a:ext cx="8195882" cy="1591627"/>
            <a:chOff x="0" y="0"/>
            <a:chExt cx="10927842" cy="212217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0927842" cy="2122170"/>
            </a:xfrm>
            <a:custGeom>
              <a:avLst/>
              <a:gdLst/>
              <a:ahLst/>
              <a:cxnLst/>
              <a:rect l="l" t="t" r="r" b="b"/>
              <a:pathLst>
                <a:path w="10927842" h="212217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10743312" y="0"/>
                  </a:lnTo>
                  <a:cubicBezTo>
                    <a:pt x="10845292" y="0"/>
                    <a:pt x="10927842" y="82677"/>
                    <a:pt x="10927842" y="184531"/>
                  </a:cubicBezTo>
                  <a:lnTo>
                    <a:pt x="10927842" y="1937639"/>
                  </a:lnTo>
                  <a:cubicBezTo>
                    <a:pt x="10927842" y="2039620"/>
                    <a:pt x="10845165" y="2122170"/>
                    <a:pt x="10743312" y="2122170"/>
                  </a:cubicBezTo>
                  <a:lnTo>
                    <a:pt x="184531" y="2122170"/>
                  </a:lnTo>
                  <a:cubicBezTo>
                    <a:pt x="82677" y="2122170"/>
                    <a:pt x="0" y="2039493"/>
                    <a:pt x="0" y="193763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83" name="Group 83"/>
          <p:cNvGrpSpPr/>
          <p:nvPr/>
        </p:nvGrpSpPr>
        <p:grpSpPr>
          <a:xfrm>
            <a:off x="9621774" y="5623560"/>
            <a:ext cx="960120" cy="1577340"/>
            <a:chOff x="0" y="0"/>
            <a:chExt cx="1280160" cy="210312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1280160" cy="2103120"/>
            </a:xfrm>
            <a:custGeom>
              <a:avLst/>
              <a:gdLst/>
              <a:ahLst/>
              <a:cxnLst/>
              <a:rect l="l" t="t" r="r" b="b"/>
              <a:pathLst>
                <a:path w="1280160" h="2103120">
                  <a:moveTo>
                    <a:pt x="0" y="0"/>
                  </a:moveTo>
                  <a:lnTo>
                    <a:pt x="1280160" y="0"/>
                  </a:lnTo>
                  <a:lnTo>
                    <a:pt x="128016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0784" r="-160784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0"/>
              <a:ext cx="1280160" cy="2103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0650474" y="5897880"/>
            <a:ext cx="6446520" cy="480060"/>
            <a:chOff x="0" y="0"/>
            <a:chExt cx="8595360" cy="64008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8595360" cy="640080"/>
            </a:xfrm>
            <a:custGeom>
              <a:avLst/>
              <a:gdLst/>
              <a:ahLst/>
              <a:cxnLst/>
              <a:rect l="l" t="t" r="r" b="b"/>
              <a:pathLst>
                <a:path w="8595360" h="640080">
                  <a:moveTo>
                    <a:pt x="0" y="0"/>
                  </a:moveTo>
                  <a:lnTo>
                    <a:pt x="8595360" y="0"/>
                  </a:lnTo>
                  <a:lnTo>
                    <a:pt x="8595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656" b="-211656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0"/>
              <a:ext cx="859536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 spc="150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FINE MANAGEMENT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0650474" y="6446520"/>
            <a:ext cx="6446520" cy="480060"/>
            <a:chOff x="0" y="0"/>
            <a:chExt cx="8595360" cy="64008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8595360" cy="640080"/>
            </a:xfrm>
            <a:custGeom>
              <a:avLst/>
              <a:gdLst/>
              <a:ahLst/>
              <a:cxnLst/>
              <a:rect l="l" t="t" r="r" b="b"/>
              <a:pathLst>
                <a:path w="8595360" h="640080">
                  <a:moveTo>
                    <a:pt x="0" y="0"/>
                  </a:moveTo>
                  <a:lnTo>
                    <a:pt x="8595360" y="0"/>
                  </a:lnTo>
                  <a:lnTo>
                    <a:pt x="8595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656" b="-211656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9525"/>
              <a:ext cx="859536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Track fines and high-value outstanding fines.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815816" y="7399496"/>
            <a:ext cx="8195882" cy="1591627"/>
            <a:chOff x="0" y="0"/>
            <a:chExt cx="10927842" cy="212217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0927842" cy="2122170"/>
            </a:xfrm>
            <a:custGeom>
              <a:avLst/>
              <a:gdLst/>
              <a:ahLst/>
              <a:cxnLst/>
              <a:rect l="l" t="t" r="r" b="b"/>
              <a:pathLst>
                <a:path w="10927842" h="212217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10743312" y="0"/>
                  </a:lnTo>
                  <a:cubicBezTo>
                    <a:pt x="10845292" y="0"/>
                    <a:pt x="10927842" y="82677"/>
                    <a:pt x="10927842" y="184531"/>
                  </a:cubicBezTo>
                  <a:lnTo>
                    <a:pt x="10927842" y="1937639"/>
                  </a:lnTo>
                  <a:cubicBezTo>
                    <a:pt x="10927842" y="2039620"/>
                    <a:pt x="10845165" y="2122170"/>
                    <a:pt x="10743312" y="2122170"/>
                  </a:cubicBezTo>
                  <a:lnTo>
                    <a:pt x="184531" y="2122170"/>
                  </a:lnTo>
                  <a:cubicBezTo>
                    <a:pt x="82677" y="2122170"/>
                    <a:pt x="0" y="2039493"/>
                    <a:pt x="0" y="193763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94" name="Group 94"/>
          <p:cNvGrpSpPr/>
          <p:nvPr/>
        </p:nvGrpSpPr>
        <p:grpSpPr>
          <a:xfrm>
            <a:off x="1165860" y="7406640"/>
            <a:ext cx="960120" cy="1577340"/>
            <a:chOff x="0" y="0"/>
            <a:chExt cx="1280160" cy="210312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280160" cy="2103120"/>
            </a:xfrm>
            <a:custGeom>
              <a:avLst/>
              <a:gdLst/>
              <a:ahLst/>
              <a:cxnLst/>
              <a:rect l="l" t="t" r="r" b="b"/>
              <a:pathLst>
                <a:path w="1280160" h="2103120">
                  <a:moveTo>
                    <a:pt x="0" y="0"/>
                  </a:moveTo>
                  <a:lnTo>
                    <a:pt x="1280160" y="0"/>
                  </a:lnTo>
                  <a:lnTo>
                    <a:pt x="128016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0784" r="-160784"/>
              </a:stretch>
            </a:blipFill>
          </p:spPr>
        </p:sp>
        <p:sp>
          <p:nvSpPr>
            <p:cNvPr id="96" name="TextBox 96"/>
            <p:cNvSpPr txBox="1"/>
            <p:nvPr/>
          </p:nvSpPr>
          <p:spPr>
            <a:xfrm>
              <a:off x="0" y="0"/>
              <a:ext cx="1280160" cy="2103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05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2194560" y="7680960"/>
            <a:ext cx="6446520" cy="480060"/>
            <a:chOff x="0" y="0"/>
            <a:chExt cx="8595360" cy="64008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8595360" cy="640080"/>
            </a:xfrm>
            <a:custGeom>
              <a:avLst/>
              <a:gdLst/>
              <a:ahLst/>
              <a:cxnLst/>
              <a:rect l="l" t="t" r="r" b="b"/>
              <a:pathLst>
                <a:path w="8595360" h="640080">
                  <a:moveTo>
                    <a:pt x="0" y="0"/>
                  </a:moveTo>
                  <a:lnTo>
                    <a:pt x="8595360" y="0"/>
                  </a:lnTo>
                  <a:lnTo>
                    <a:pt x="8595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656" b="-211656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0"/>
              <a:ext cx="859536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 spc="150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AUTHOR ANALYSIS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2194560" y="8229600"/>
            <a:ext cx="6446520" cy="480060"/>
            <a:chOff x="0" y="0"/>
            <a:chExt cx="8595360" cy="64008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8595360" cy="640080"/>
            </a:xfrm>
            <a:custGeom>
              <a:avLst/>
              <a:gdLst/>
              <a:ahLst/>
              <a:cxnLst/>
              <a:rect l="l" t="t" r="r" b="b"/>
              <a:pathLst>
                <a:path w="8595360" h="640080">
                  <a:moveTo>
                    <a:pt x="0" y="0"/>
                  </a:moveTo>
                  <a:lnTo>
                    <a:pt x="8595360" y="0"/>
                  </a:lnTo>
                  <a:lnTo>
                    <a:pt x="8595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656" b="-211656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-9525"/>
              <a:ext cx="859536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Analyze books associated with each author.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9271730" y="7399496"/>
            <a:ext cx="8195882" cy="1591627"/>
            <a:chOff x="0" y="0"/>
            <a:chExt cx="10927842" cy="2122170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10927842" cy="2122170"/>
            </a:xfrm>
            <a:custGeom>
              <a:avLst/>
              <a:gdLst/>
              <a:ahLst/>
              <a:cxnLst/>
              <a:rect l="l" t="t" r="r" b="b"/>
              <a:pathLst>
                <a:path w="10927842" h="212217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10743312" y="0"/>
                  </a:lnTo>
                  <a:cubicBezTo>
                    <a:pt x="10845292" y="0"/>
                    <a:pt x="10927842" y="82677"/>
                    <a:pt x="10927842" y="184531"/>
                  </a:cubicBezTo>
                  <a:lnTo>
                    <a:pt x="10927842" y="1937639"/>
                  </a:lnTo>
                  <a:cubicBezTo>
                    <a:pt x="10927842" y="2039620"/>
                    <a:pt x="10845165" y="2122170"/>
                    <a:pt x="10743312" y="2122170"/>
                  </a:cubicBezTo>
                  <a:lnTo>
                    <a:pt x="184531" y="2122170"/>
                  </a:lnTo>
                  <a:cubicBezTo>
                    <a:pt x="82677" y="2122170"/>
                    <a:pt x="0" y="2039493"/>
                    <a:pt x="0" y="193763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105" name="Group 105"/>
          <p:cNvGrpSpPr/>
          <p:nvPr/>
        </p:nvGrpSpPr>
        <p:grpSpPr>
          <a:xfrm>
            <a:off x="9621774" y="7406640"/>
            <a:ext cx="960120" cy="1577340"/>
            <a:chOff x="0" y="0"/>
            <a:chExt cx="1280160" cy="2103120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1280160" cy="2103120"/>
            </a:xfrm>
            <a:custGeom>
              <a:avLst/>
              <a:gdLst/>
              <a:ahLst/>
              <a:cxnLst/>
              <a:rect l="l" t="t" r="r" b="b"/>
              <a:pathLst>
                <a:path w="1280160" h="2103120">
                  <a:moveTo>
                    <a:pt x="0" y="0"/>
                  </a:moveTo>
                  <a:lnTo>
                    <a:pt x="1280160" y="0"/>
                  </a:lnTo>
                  <a:lnTo>
                    <a:pt x="128016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0784" r="-160784"/>
              </a:stretch>
            </a:blipFill>
          </p:spPr>
        </p:sp>
        <p:sp>
          <p:nvSpPr>
            <p:cNvPr id="107" name="TextBox 107"/>
            <p:cNvSpPr txBox="1"/>
            <p:nvPr/>
          </p:nvSpPr>
          <p:spPr>
            <a:xfrm>
              <a:off x="0" y="0"/>
              <a:ext cx="1280160" cy="2103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C8A9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06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10650474" y="7680960"/>
            <a:ext cx="6446520" cy="480060"/>
            <a:chOff x="0" y="0"/>
            <a:chExt cx="8595360" cy="640080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8595360" cy="640080"/>
            </a:xfrm>
            <a:custGeom>
              <a:avLst/>
              <a:gdLst/>
              <a:ahLst/>
              <a:cxnLst/>
              <a:rect l="l" t="t" r="r" b="b"/>
              <a:pathLst>
                <a:path w="8595360" h="640080">
                  <a:moveTo>
                    <a:pt x="0" y="0"/>
                  </a:moveTo>
                  <a:lnTo>
                    <a:pt x="8595360" y="0"/>
                  </a:lnTo>
                  <a:lnTo>
                    <a:pt x="8595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656" b="-211656"/>
              </a:stretch>
            </a:blipFill>
          </p:spPr>
        </p:sp>
        <p:sp>
          <p:nvSpPr>
            <p:cNvPr id="110" name="TextBox 110"/>
            <p:cNvSpPr txBox="1"/>
            <p:nvPr/>
          </p:nvSpPr>
          <p:spPr>
            <a:xfrm>
              <a:off x="0" y="0"/>
              <a:ext cx="859536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 spc="150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LIBRARY ANALYTICS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10650474" y="8229600"/>
            <a:ext cx="6446520" cy="480060"/>
            <a:chOff x="0" y="0"/>
            <a:chExt cx="8595360" cy="640080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8595360" cy="640080"/>
            </a:xfrm>
            <a:custGeom>
              <a:avLst/>
              <a:gdLst/>
              <a:ahLst/>
              <a:cxnLst/>
              <a:rect l="l" t="t" r="r" b="b"/>
              <a:pathLst>
                <a:path w="8595360" h="640080">
                  <a:moveTo>
                    <a:pt x="0" y="0"/>
                  </a:moveTo>
                  <a:lnTo>
                    <a:pt x="8595360" y="0"/>
                  </a:lnTo>
                  <a:lnTo>
                    <a:pt x="8595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656" b="-211656"/>
              </a:stretch>
            </a:blipFill>
          </p:spPr>
        </p:sp>
        <p:sp>
          <p:nvSpPr>
            <p:cNvPr id="113" name="TextBox 113"/>
            <p:cNvSpPr txBox="1"/>
            <p:nvPr/>
          </p:nvSpPr>
          <p:spPr>
            <a:xfrm>
              <a:off x="0" y="-9525"/>
              <a:ext cx="859536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Identify popular books and borrowing trends.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4920">
            <a:off x="811044" y="1805750"/>
            <a:ext cx="16661340" cy="0"/>
          </a:xfrm>
          <a:prstGeom prst="line">
            <a:avLst/>
          </a:prstGeom>
          <a:ln w="9525" cap="rnd">
            <a:solidFill>
              <a:srgbClr val="C8A9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rot="2940">
            <a:off x="815816" y="9569006"/>
            <a:ext cx="16651805" cy="0"/>
          </a:xfrm>
          <a:prstGeom prst="line">
            <a:avLst/>
          </a:prstGeom>
          <a:ln w="9525" cap="rnd">
            <a:solidFill>
              <a:srgbClr val="E3DC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22960" y="9683496"/>
            <a:ext cx="10972800" cy="342900"/>
            <a:chOff x="0" y="0"/>
            <a:chExt cx="146304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spc="1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LIBRARY MANAGEMENT SYSTEM  ·  MYSQL DATABASE PROJECT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850392"/>
            <a:ext cx="16637508" cy="850392"/>
            <a:chOff x="0" y="0"/>
            <a:chExt cx="22183344" cy="11338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83344" cy="1133856"/>
            </a:xfrm>
            <a:custGeom>
              <a:avLst/>
              <a:gdLst/>
              <a:ahLst/>
              <a:cxnLst/>
              <a:rect l="l" t="t" r="r" b="b"/>
              <a:pathLst>
                <a:path w="22183344" h="1133856">
                  <a:moveTo>
                    <a:pt x="0" y="0"/>
                  </a:moveTo>
                  <a:lnTo>
                    <a:pt x="22183344" y="0"/>
                  </a:lnTo>
                  <a:lnTo>
                    <a:pt x="2218334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1215" b="-331215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2183344" cy="11243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4213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Conclusion &amp; Future Scope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2960" y="466344"/>
            <a:ext cx="10972800" cy="342900"/>
            <a:chOff x="0" y="0"/>
            <a:chExt cx="14630400" cy="45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457200"/>
            </a:xfrm>
            <a:custGeom>
              <a:avLst/>
              <a:gdLst/>
              <a:ahLst/>
              <a:cxnLst/>
              <a:rect l="l" t="t" r="r" b="b"/>
              <a:pathLst>
                <a:path w="14630400" h="457200">
                  <a:moveTo>
                    <a:pt x="0" y="0"/>
                  </a:moveTo>
                  <a:lnTo>
                    <a:pt x="14630400" y="0"/>
                  </a:lnTo>
                  <a:lnTo>
                    <a:pt x="1463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21" b="-57352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4630400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29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PROJECT SUMMARY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73400" y="9683496"/>
            <a:ext cx="1687068" cy="342900"/>
            <a:chOff x="0" y="0"/>
            <a:chExt cx="2249424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4" cy="457200"/>
            </a:xfrm>
            <a:custGeom>
              <a:avLst/>
              <a:gdLst/>
              <a:ahLst/>
              <a:cxnLst/>
              <a:rect l="l" t="t" r="r" b="b"/>
              <a:pathLst>
                <a:path w="2249424" h="457200">
                  <a:moveTo>
                    <a:pt x="0" y="0"/>
                  </a:moveTo>
                  <a:lnTo>
                    <a:pt x="2249424" y="0"/>
                  </a:lnTo>
                  <a:lnTo>
                    <a:pt x="22494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866" b="-4586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249424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25 / 25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15816" y="2118836"/>
            <a:ext cx="8195882" cy="5500688"/>
            <a:chOff x="0" y="0"/>
            <a:chExt cx="10927842" cy="7334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927842" cy="7334250"/>
            </a:xfrm>
            <a:custGeom>
              <a:avLst/>
              <a:gdLst/>
              <a:ahLst/>
              <a:cxnLst/>
              <a:rect l="l" t="t" r="r" b="b"/>
              <a:pathLst>
                <a:path w="10927842" h="7334250">
                  <a:moveTo>
                    <a:pt x="0" y="183388"/>
                  </a:moveTo>
                  <a:cubicBezTo>
                    <a:pt x="0" y="82042"/>
                    <a:pt x="82042" y="0"/>
                    <a:pt x="183388" y="0"/>
                  </a:cubicBezTo>
                  <a:lnTo>
                    <a:pt x="10744454" y="0"/>
                  </a:lnTo>
                  <a:cubicBezTo>
                    <a:pt x="10845673" y="0"/>
                    <a:pt x="10927842" y="82042"/>
                    <a:pt x="10927842" y="183388"/>
                  </a:cubicBezTo>
                  <a:lnTo>
                    <a:pt x="10927842" y="7150862"/>
                  </a:lnTo>
                  <a:cubicBezTo>
                    <a:pt x="10927842" y="7252081"/>
                    <a:pt x="10845800" y="7334250"/>
                    <a:pt x="10744454" y="7334250"/>
                  </a:cubicBezTo>
                  <a:lnTo>
                    <a:pt x="183388" y="7334250"/>
                  </a:lnTo>
                  <a:cubicBezTo>
                    <a:pt x="82042" y="7334250"/>
                    <a:pt x="0" y="7252208"/>
                    <a:pt x="0" y="715086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234440" y="2331720"/>
            <a:ext cx="6858000" cy="480060"/>
            <a:chOff x="0" y="0"/>
            <a:chExt cx="9144000" cy="6400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144000" cy="640080"/>
            </a:xfrm>
            <a:custGeom>
              <a:avLst/>
              <a:gdLst/>
              <a:ahLst/>
              <a:cxnLst/>
              <a:rect l="l" t="t" r="r" b="b"/>
              <a:pathLst>
                <a:path w="9144000" h="64008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91440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44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CONCLUSION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34440" y="2880360"/>
            <a:ext cx="7406640" cy="109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02124"/>
                </a:solidFill>
                <a:latin typeface="Aptos"/>
                <a:ea typeface="Aptos"/>
                <a:cs typeface="Aptos"/>
                <a:sym typeface="Aptos"/>
              </a:rPr>
              <a:t>MySQL can power a structured relational database for library operations. The project implements: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224915" y="4420743"/>
            <a:ext cx="211074" cy="211074"/>
            <a:chOff x="0" y="0"/>
            <a:chExt cx="281432" cy="28143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81432" cy="281432"/>
            </a:xfrm>
            <a:custGeom>
              <a:avLst/>
              <a:gdLst/>
              <a:ahLst/>
              <a:cxnLst/>
              <a:rect l="l" t="t" r="r" b="b"/>
              <a:pathLst>
                <a:path w="281432" h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645920" y="4251960"/>
            <a:ext cx="3291840" cy="548640"/>
            <a:chOff x="0" y="0"/>
            <a:chExt cx="4389120" cy="7315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389120" cy="731520"/>
            </a:xfrm>
            <a:custGeom>
              <a:avLst/>
              <a:gdLst/>
              <a:ahLst/>
              <a:cxnLst/>
              <a:rect l="l" t="t" r="r" b="b"/>
              <a:pathLst>
                <a:path w="4389120" h="7315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43891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Database Design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065395" y="4420743"/>
            <a:ext cx="211074" cy="211074"/>
            <a:chOff x="0" y="0"/>
            <a:chExt cx="281432" cy="28143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81432" cy="281432"/>
            </a:xfrm>
            <a:custGeom>
              <a:avLst/>
              <a:gdLst/>
              <a:ahLst/>
              <a:cxnLst/>
              <a:rect l="l" t="t" r="r" b="b"/>
              <a:pathLst>
                <a:path w="281432" h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5486400" y="4251960"/>
            <a:ext cx="3291840" cy="548640"/>
            <a:chOff x="0" y="0"/>
            <a:chExt cx="4389120" cy="731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389120" cy="731520"/>
            </a:xfrm>
            <a:custGeom>
              <a:avLst/>
              <a:gdLst/>
              <a:ahLst/>
              <a:cxnLst/>
              <a:rect l="l" t="t" r="r" b="b"/>
              <a:pathLst>
                <a:path w="4389120" h="7315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43891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 Management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24915" y="5216271"/>
            <a:ext cx="211074" cy="211074"/>
            <a:chOff x="0" y="0"/>
            <a:chExt cx="281432" cy="28143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81432" cy="281432"/>
            </a:xfrm>
            <a:custGeom>
              <a:avLst/>
              <a:gdLst/>
              <a:ahLst/>
              <a:cxnLst/>
              <a:rect l="l" t="t" r="r" b="b"/>
              <a:pathLst>
                <a:path w="281432" h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645920" y="5047488"/>
            <a:ext cx="3291840" cy="548640"/>
            <a:chOff x="0" y="0"/>
            <a:chExt cx="4389120" cy="7315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389120" cy="731520"/>
            </a:xfrm>
            <a:custGeom>
              <a:avLst/>
              <a:gdLst/>
              <a:ahLst/>
              <a:cxnLst/>
              <a:rect l="l" t="t" r="r" b="b"/>
              <a:pathLst>
                <a:path w="4389120" h="7315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43891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SQL Filtering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065395" y="5216271"/>
            <a:ext cx="211074" cy="211074"/>
            <a:chOff x="0" y="0"/>
            <a:chExt cx="281432" cy="28143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81432" cy="281432"/>
            </a:xfrm>
            <a:custGeom>
              <a:avLst/>
              <a:gdLst/>
              <a:ahLst/>
              <a:cxnLst/>
              <a:rect l="l" t="t" r="r" b="b"/>
              <a:pathLst>
                <a:path w="281432" h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5486400" y="5047488"/>
            <a:ext cx="3291840" cy="548640"/>
            <a:chOff x="0" y="0"/>
            <a:chExt cx="4389120" cy="7315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389120" cy="731520"/>
            </a:xfrm>
            <a:custGeom>
              <a:avLst/>
              <a:gdLst/>
              <a:ahLst/>
              <a:cxnLst/>
              <a:rect l="l" t="t" r="r" b="b"/>
              <a:pathLst>
                <a:path w="4389120" h="7315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43891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Conditional Logic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224915" y="6011799"/>
            <a:ext cx="211074" cy="211074"/>
            <a:chOff x="0" y="0"/>
            <a:chExt cx="281432" cy="28143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81432" cy="281432"/>
            </a:xfrm>
            <a:custGeom>
              <a:avLst/>
              <a:gdLst/>
              <a:ahLst/>
              <a:cxnLst/>
              <a:rect l="l" t="t" r="r" b="b"/>
              <a:pathLst>
                <a:path w="281432" h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645920" y="5843016"/>
            <a:ext cx="3291840" cy="548640"/>
            <a:chOff x="0" y="0"/>
            <a:chExt cx="4389120" cy="7315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389120" cy="731520"/>
            </a:xfrm>
            <a:custGeom>
              <a:avLst/>
              <a:gdLst/>
              <a:ahLst/>
              <a:cxnLst/>
              <a:rect l="l" t="t" r="r" b="b"/>
              <a:pathLst>
                <a:path w="4389120" h="7315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43891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Aggregation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065395" y="6011799"/>
            <a:ext cx="211074" cy="211074"/>
            <a:chOff x="0" y="0"/>
            <a:chExt cx="281432" cy="28143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81432" cy="281432"/>
            </a:xfrm>
            <a:custGeom>
              <a:avLst/>
              <a:gdLst/>
              <a:ahLst/>
              <a:cxnLst/>
              <a:rect l="l" t="t" r="r" b="b"/>
              <a:pathLst>
                <a:path w="281432" h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5486400" y="5843016"/>
            <a:ext cx="3291840" cy="548640"/>
            <a:chOff x="0" y="0"/>
            <a:chExt cx="4389120" cy="73152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389120" cy="731520"/>
            </a:xfrm>
            <a:custGeom>
              <a:avLst/>
              <a:gdLst/>
              <a:ahLst/>
              <a:cxnLst/>
              <a:rect l="l" t="t" r="r" b="b"/>
              <a:pathLst>
                <a:path w="4389120" h="7315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0"/>
              <a:ext cx="43891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Subqueries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24915" y="6807327"/>
            <a:ext cx="211074" cy="211074"/>
            <a:chOff x="0" y="0"/>
            <a:chExt cx="281432" cy="28143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81432" cy="281432"/>
            </a:xfrm>
            <a:custGeom>
              <a:avLst/>
              <a:gdLst/>
              <a:ahLst/>
              <a:cxnLst/>
              <a:rect l="l" t="t" r="r" b="b"/>
              <a:pathLst>
                <a:path w="281432" h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1645920" y="6638544"/>
            <a:ext cx="3291840" cy="548640"/>
            <a:chOff x="0" y="0"/>
            <a:chExt cx="4389120" cy="73152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389120" cy="731520"/>
            </a:xfrm>
            <a:custGeom>
              <a:avLst/>
              <a:gdLst/>
              <a:ahLst/>
              <a:cxnLst/>
              <a:rect l="l" t="t" r="r" b="b"/>
              <a:pathLst>
                <a:path w="4389120" h="7315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43891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Joins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065395" y="6807327"/>
            <a:ext cx="211074" cy="211074"/>
            <a:chOff x="0" y="0"/>
            <a:chExt cx="281432" cy="28143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81432" cy="281432"/>
            </a:xfrm>
            <a:custGeom>
              <a:avLst/>
              <a:gdLst/>
              <a:ahLst/>
              <a:cxnLst/>
              <a:rect l="l" t="t" r="r" b="b"/>
              <a:pathLst>
                <a:path w="281432" h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5486400" y="6638544"/>
            <a:ext cx="3291840" cy="548640"/>
            <a:chOff x="0" y="0"/>
            <a:chExt cx="4389120" cy="73152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389120" cy="731520"/>
            </a:xfrm>
            <a:custGeom>
              <a:avLst/>
              <a:gdLst/>
              <a:ahLst/>
              <a:cxnLst/>
              <a:rect l="l" t="t" r="r" b="b"/>
              <a:pathLst>
                <a:path w="4389120" h="7315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0"/>
              <a:ext cx="438912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Analytics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271730" y="2118836"/>
            <a:ext cx="8195882" cy="5500688"/>
            <a:chOff x="0" y="0"/>
            <a:chExt cx="10927842" cy="733425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0927842" cy="7334250"/>
            </a:xfrm>
            <a:custGeom>
              <a:avLst/>
              <a:gdLst/>
              <a:ahLst/>
              <a:cxnLst/>
              <a:rect l="l" t="t" r="r" b="b"/>
              <a:pathLst>
                <a:path w="10927842" h="7334250">
                  <a:moveTo>
                    <a:pt x="0" y="183388"/>
                  </a:moveTo>
                  <a:cubicBezTo>
                    <a:pt x="0" y="82042"/>
                    <a:pt x="82042" y="0"/>
                    <a:pt x="183388" y="0"/>
                  </a:cubicBezTo>
                  <a:lnTo>
                    <a:pt x="10744454" y="0"/>
                  </a:lnTo>
                  <a:cubicBezTo>
                    <a:pt x="10845673" y="0"/>
                    <a:pt x="10927842" y="82042"/>
                    <a:pt x="10927842" y="183388"/>
                  </a:cubicBezTo>
                  <a:lnTo>
                    <a:pt x="10927842" y="7150862"/>
                  </a:lnTo>
                  <a:cubicBezTo>
                    <a:pt x="10927842" y="7252081"/>
                    <a:pt x="10845800" y="7334250"/>
                    <a:pt x="10744454" y="7334250"/>
                  </a:cubicBezTo>
                  <a:lnTo>
                    <a:pt x="183388" y="7334250"/>
                  </a:lnTo>
                  <a:cubicBezTo>
                    <a:pt x="82042" y="7334250"/>
                    <a:pt x="0" y="7252208"/>
                    <a:pt x="0" y="715086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CC8"/>
              </a:solidFill>
              <a:prstDash val="solid"/>
              <a:miter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9690354" y="2331720"/>
            <a:ext cx="6858000" cy="480060"/>
            <a:chOff x="0" y="0"/>
            <a:chExt cx="9144000" cy="64008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9144000" cy="640080"/>
            </a:xfrm>
            <a:custGeom>
              <a:avLst/>
              <a:gdLst/>
              <a:ahLst/>
              <a:cxnLst/>
              <a:rect l="l" t="t" r="r" b="b"/>
              <a:pathLst>
                <a:path w="9144000" h="64008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0"/>
              <a:ext cx="914400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449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FUTURE SCOPE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9680829" y="3090291"/>
            <a:ext cx="430530" cy="430530"/>
            <a:chOff x="0" y="0"/>
            <a:chExt cx="574040" cy="57404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574040" cy="574040"/>
            </a:xfrm>
            <a:custGeom>
              <a:avLst/>
              <a:gdLst/>
              <a:ahLst/>
              <a:cxnLst/>
              <a:rect l="l" t="t" r="r" b="b"/>
              <a:pathLst>
                <a:path w="574040" h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9690354" y="3099816"/>
            <a:ext cx="411480" cy="411480"/>
            <a:chOff x="0" y="0"/>
            <a:chExt cx="548640" cy="54864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0"/>
              <a:ext cx="548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0355580" y="3017520"/>
            <a:ext cx="6720840" cy="576072"/>
            <a:chOff x="0" y="0"/>
            <a:chExt cx="8961120" cy="768096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8961120" cy="768096"/>
            </a:xfrm>
            <a:custGeom>
              <a:avLst/>
              <a:gdLst/>
              <a:ahLst/>
              <a:cxnLst/>
              <a:rect l="l" t="t" r="r" b="b"/>
              <a:pathLst>
                <a:path w="8961120" h="768096">
                  <a:moveTo>
                    <a:pt x="0" y="0"/>
                  </a:moveTo>
                  <a:lnTo>
                    <a:pt x="8961120" y="0"/>
                  </a:lnTo>
                  <a:lnTo>
                    <a:pt x="8961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7325" b="-177325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0"/>
              <a:ext cx="8961120" cy="7680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Web Application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9680829" y="3734943"/>
            <a:ext cx="430530" cy="430530"/>
            <a:chOff x="0" y="0"/>
            <a:chExt cx="574040" cy="57404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574040" cy="574040"/>
            </a:xfrm>
            <a:custGeom>
              <a:avLst/>
              <a:gdLst/>
              <a:ahLst/>
              <a:cxnLst/>
              <a:rect l="l" t="t" r="r" b="b"/>
              <a:pathLst>
                <a:path w="574040" h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9690354" y="3744468"/>
            <a:ext cx="411480" cy="411480"/>
            <a:chOff x="0" y="0"/>
            <a:chExt cx="548640" cy="54864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0"/>
              <a:ext cx="548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0355580" y="3662172"/>
            <a:ext cx="6720840" cy="576072"/>
            <a:chOff x="0" y="0"/>
            <a:chExt cx="8961120" cy="768096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8961120" cy="768096"/>
            </a:xfrm>
            <a:custGeom>
              <a:avLst/>
              <a:gdLst/>
              <a:ahLst/>
              <a:cxnLst/>
              <a:rect l="l" t="t" r="r" b="b"/>
              <a:pathLst>
                <a:path w="8961120" h="768096">
                  <a:moveTo>
                    <a:pt x="0" y="0"/>
                  </a:moveTo>
                  <a:lnTo>
                    <a:pt x="8961120" y="0"/>
                  </a:lnTo>
                  <a:lnTo>
                    <a:pt x="8961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7325" b="-177325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0"/>
              <a:ext cx="8961120" cy="7680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User Login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9680829" y="4379595"/>
            <a:ext cx="430530" cy="430530"/>
            <a:chOff x="0" y="0"/>
            <a:chExt cx="574040" cy="57404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574040" cy="574040"/>
            </a:xfrm>
            <a:custGeom>
              <a:avLst/>
              <a:gdLst/>
              <a:ahLst/>
              <a:cxnLst/>
              <a:rect l="l" t="t" r="r" b="b"/>
              <a:pathLst>
                <a:path w="574040" h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85" name="Group 85"/>
          <p:cNvGrpSpPr/>
          <p:nvPr/>
        </p:nvGrpSpPr>
        <p:grpSpPr>
          <a:xfrm>
            <a:off x="9690354" y="4389120"/>
            <a:ext cx="411480" cy="411480"/>
            <a:chOff x="0" y="0"/>
            <a:chExt cx="548640" cy="54864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0"/>
              <a:ext cx="548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0355580" y="4306824"/>
            <a:ext cx="6720840" cy="576072"/>
            <a:chOff x="0" y="0"/>
            <a:chExt cx="8961120" cy="768096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8961120" cy="768096"/>
            </a:xfrm>
            <a:custGeom>
              <a:avLst/>
              <a:gdLst/>
              <a:ahLst/>
              <a:cxnLst/>
              <a:rect l="l" t="t" r="r" b="b"/>
              <a:pathLst>
                <a:path w="8961120" h="768096">
                  <a:moveTo>
                    <a:pt x="0" y="0"/>
                  </a:moveTo>
                  <a:lnTo>
                    <a:pt x="8961120" y="0"/>
                  </a:lnTo>
                  <a:lnTo>
                    <a:pt x="8961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7325" b="-177325"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0" y="0"/>
              <a:ext cx="8961120" cy="7680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Book Reservation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9680829" y="5024247"/>
            <a:ext cx="430530" cy="430530"/>
            <a:chOff x="0" y="0"/>
            <a:chExt cx="574040" cy="57404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574040" cy="574040"/>
            </a:xfrm>
            <a:custGeom>
              <a:avLst/>
              <a:gdLst/>
              <a:ahLst/>
              <a:cxnLst/>
              <a:rect l="l" t="t" r="r" b="b"/>
              <a:pathLst>
                <a:path w="574040" h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93" name="Group 93"/>
          <p:cNvGrpSpPr/>
          <p:nvPr/>
        </p:nvGrpSpPr>
        <p:grpSpPr>
          <a:xfrm>
            <a:off x="9690354" y="5033772"/>
            <a:ext cx="411480" cy="411480"/>
            <a:chOff x="0" y="0"/>
            <a:chExt cx="548640" cy="54864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0"/>
              <a:ext cx="548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0355580" y="4951476"/>
            <a:ext cx="6720840" cy="576072"/>
            <a:chOff x="0" y="0"/>
            <a:chExt cx="8961120" cy="768096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8961120" cy="768096"/>
            </a:xfrm>
            <a:custGeom>
              <a:avLst/>
              <a:gdLst/>
              <a:ahLst/>
              <a:cxnLst/>
              <a:rect l="l" t="t" r="r" b="b"/>
              <a:pathLst>
                <a:path w="8961120" h="768096">
                  <a:moveTo>
                    <a:pt x="0" y="0"/>
                  </a:moveTo>
                  <a:lnTo>
                    <a:pt x="8961120" y="0"/>
                  </a:lnTo>
                  <a:lnTo>
                    <a:pt x="8961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7325" b="-177325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0"/>
              <a:ext cx="8961120" cy="7680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Automatic Fine Calculation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9680829" y="5668899"/>
            <a:ext cx="430530" cy="430530"/>
            <a:chOff x="0" y="0"/>
            <a:chExt cx="574040" cy="57404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574040" cy="574040"/>
            </a:xfrm>
            <a:custGeom>
              <a:avLst/>
              <a:gdLst/>
              <a:ahLst/>
              <a:cxnLst/>
              <a:rect l="l" t="t" r="r" b="b"/>
              <a:pathLst>
                <a:path w="574040" h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101" name="Group 101"/>
          <p:cNvGrpSpPr/>
          <p:nvPr/>
        </p:nvGrpSpPr>
        <p:grpSpPr>
          <a:xfrm>
            <a:off x="9690354" y="5678424"/>
            <a:ext cx="411480" cy="411480"/>
            <a:chOff x="0" y="0"/>
            <a:chExt cx="548640" cy="54864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0"/>
              <a:ext cx="548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0355580" y="5596128"/>
            <a:ext cx="6720840" cy="576072"/>
            <a:chOff x="0" y="0"/>
            <a:chExt cx="8961120" cy="768096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8961120" cy="768096"/>
            </a:xfrm>
            <a:custGeom>
              <a:avLst/>
              <a:gdLst/>
              <a:ahLst/>
              <a:cxnLst/>
              <a:rect l="l" t="t" r="r" b="b"/>
              <a:pathLst>
                <a:path w="8961120" h="768096">
                  <a:moveTo>
                    <a:pt x="0" y="0"/>
                  </a:moveTo>
                  <a:lnTo>
                    <a:pt x="8961120" y="0"/>
                  </a:lnTo>
                  <a:lnTo>
                    <a:pt x="8961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7325" b="-177325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0"/>
              <a:ext cx="8961120" cy="7680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Email Notifications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9680829" y="6313551"/>
            <a:ext cx="430530" cy="430530"/>
            <a:chOff x="0" y="0"/>
            <a:chExt cx="574040" cy="574040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574040" cy="574040"/>
            </a:xfrm>
            <a:custGeom>
              <a:avLst/>
              <a:gdLst/>
              <a:ahLst/>
              <a:cxnLst/>
              <a:rect l="l" t="t" r="r" b="b"/>
              <a:pathLst>
                <a:path w="574040" h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109" name="Group 109"/>
          <p:cNvGrpSpPr/>
          <p:nvPr/>
        </p:nvGrpSpPr>
        <p:grpSpPr>
          <a:xfrm>
            <a:off x="9690354" y="6323076"/>
            <a:ext cx="411480" cy="411480"/>
            <a:chOff x="0" y="0"/>
            <a:chExt cx="548640" cy="548640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11" name="TextBox 111"/>
            <p:cNvSpPr txBox="1"/>
            <p:nvPr/>
          </p:nvSpPr>
          <p:spPr>
            <a:xfrm>
              <a:off x="0" y="0"/>
              <a:ext cx="548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0355580" y="6240780"/>
            <a:ext cx="6720840" cy="576072"/>
            <a:chOff x="0" y="0"/>
            <a:chExt cx="8961120" cy="768096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8961120" cy="768096"/>
            </a:xfrm>
            <a:custGeom>
              <a:avLst/>
              <a:gdLst/>
              <a:ahLst/>
              <a:cxnLst/>
              <a:rect l="l" t="t" r="r" b="b"/>
              <a:pathLst>
                <a:path w="8961120" h="768096">
                  <a:moveTo>
                    <a:pt x="0" y="0"/>
                  </a:moveTo>
                  <a:lnTo>
                    <a:pt x="8961120" y="0"/>
                  </a:lnTo>
                  <a:lnTo>
                    <a:pt x="8961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7325" b="-177325"/>
              </a:stretch>
            </a:blipFill>
          </p:spPr>
        </p:sp>
        <p:sp>
          <p:nvSpPr>
            <p:cNvPr id="114" name="TextBox 114"/>
            <p:cNvSpPr txBox="1"/>
            <p:nvPr/>
          </p:nvSpPr>
          <p:spPr>
            <a:xfrm>
              <a:off x="0" y="0"/>
              <a:ext cx="8961120" cy="7680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Admin Dashboard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9680829" y="6958203"/>
            <a:ext cx="430530" cy="430530"/>
            <a:chOff x="0" y="0"/>
            <a:chExt cx="574040" cy="574040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574040" cy="574040"/>
            </a:xfrm>
            <a:custGeom>
              <a:avLst/>
              <a:gdLst/>
              <a:ahLst/>
              <a:cxnLst/>
              <a:rect l="l" t="t" r="r" b="b"/>
              <a:pathLst>
                <a:path w="574040" h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C8A96B"/>
            </a:solidFill>
            <a:ln w="19050" cap="sq">
              <a:solidFill>
                <a:srgbClr val="C8A96B"/>
              </a:solidFill>
              <a:prstDash val="solid"/>
              <a:miter/>
            </a:ln>
          </p:spPr>
        </p:sp>
      </p:grpSp>
      <p:grpSp>
        <p:nvGrpSpPr>
          <p:cNvPr id="117" name="Group 117"/>
          <p:cNvGrpSpPr/>
          <p:nvPr/>
        </p:nvGrpSpPr>
        <p:grpSpPr>
          <a:xfrm>
            <a:off x="9690354" y="6967728"/>
            <a:ext cx="411480" cy="411480"/>
            <a:chOff x="0" y="0"/>
            <a:chExt cx="548640" cy="548640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19" name="TextBox 119"/>
            <p:cNvSpPr txBox="1"/>
            <p:nvPr/>
          </p:nvSpPr>
          <p:spPr>
            <a:xfrm>
              <a:off x="0" y="0"/>
              <a:ext cx="5486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421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7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10355580" y="6885432"/>
            <a:ext cx="6720840" cy="576072"/>
            <a:chOff x="0" y="0"/>
            <a:chExt cx="8961120" cy="768096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8961120" cy="768096"/>
            </a:xfrm>
            <a:custGeom>
              <a:avLst/>
              <a:gdLst/>
              <a:ahLst/>
              <a:cxnLst/>
              <a:rect l="l" t="t" r="r" b="b"/>
              <a:pathLst>
                <a:path w="8961120" h="768096">
                  <a:moveTo>
                    <a:pt x="0" y="0"/>
                  </a:moveTo>
                  <a:lnTo>
                    <a:pt x="8961120" y="0"/>
                  </a:lnTo>
                  <a:lnTo>
                    <a:pt x="89611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7325" b="-177325"/>
              </a:stretch>
            </a:blipFill>
          </p:spPr>
        </p:sp>
        <p:sp>
          <p:nvSpPr>
            <p:cNvPr id="122" name="TextBox 122"/>
            <p:cNvSpPr txBox="1"/>
            <p:nvPr/>
          </p:nvSpPr>
          <p:spPr>
            <a:xfrm>
              <a:off x="0" y="0"/>
              <a:ext cx="8961120" cy="7680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Advanced Library Analytics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815816" y="7948136"/>
            <a:ext cx="16651796" cy="1385888"/>
            <a:chOff x="0" y="0"/>
            <a:chExt cx="22202394" cy="1847850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22202395" cy="1847850"/>
            </a:xfrm>
            <a:custGeom>
              <a:avLst/>
              <a:gdLst/>
              <a:ahLst/>
              <a:cxnLst/>
              <a:rect l="l" t="t" r="r" b="b"/>
              <a:pathLst>
                <a:path w="22202395" h="184785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22017610" y="0"/>
                  </a:lnTo>
                  <a:cubicBezTo>
                    <a:pt x="22119718" y="0"/>
                    <a:pt x="22202395" y="82677"/>
                    <a:pt x="22202395" y="184785"/>
                  </a:cubicBezTo>
                  <a:lnTo>
                    <a:pt x="22202395" y="1663065"/>
                  </a:lnTo>
                  <a:cubicBezTo>
                    <a:pt x="22202395" y="1765173"/>
                    <a:pt x="22119718" y="1847850"/>
                    <a:pt x="22017610" y="1847850"/>
                  </a:cubicBezTo>
                  <a:lnTo>
                    <a:pt x="184785" y="1847850"/>
                  </a:lnTo>
                  <a:cubicBezTo>
                    <a:pt x="82677" y="1847850"/>
                    <a:pt x="0" y="1765173"/>
                    <a:pt x="0" y="1663065"/>
                  </a:cubicBezTo>
                  <a:close/>
                </a:path>
              </a:pathLst>
            </a:custGeom>
            <a:solidFill>
              <a:srgbClr val="14213D"/>
            </a:solidFill>
            <a:ln w="14288" cap="sq">
              <a:solidFill>
                <a:srgbClr val="14213D"/>
              </a:solidFill>
              <a:prstDash val="solid"/>
              <a:miter/>
            </a:ln>
          </p:spPr>
        </p:sp>
      </p:grpSp>
      <p:grpSp>
        <p:nvGrpSpPr>
          <p:cNvPr id="125" name="Group 125"/>
          <p:cNvGrpSpPr/>
          <p:nvPr/>
        </p:nvGrpSpPr>
        <p:grpSpPr>
          <a:xfrm>
            <a:off x="1371600" y="7955280"/>
            <a:ext cx="6858000" cy="1371600"/>
            <a:chOff x="0" y="0"/>
            <a:chExt cx="9144000" cy="1828800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9144000" cy="1828800"/>
            </a:xfrm>
            <a:custGeom>
              <a:avLst/>
              <a:gdLst/>
              <a:ahLst/>
              <a:cxnLst/>
              <a:rect l="l" t="t" r="r" b="b"/>
              <a:pathLst>
                <a:path w="9144000" h="1828800">
                  <a:moveTo>
                    <a:pt x="0" y="0"/>
                  </a:moveTo>
                  <a:lnTo>
                    <a:pt x="9144000" y="0"/>
                  </a:lnTo>
                  <a:lnTo>
                    <a:pt x="9144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127" name="TextBox 127"/>
            <p:cNvSpPr txBox="1"/>
            <p:nvPr/>
          </p:nvSpPr>
          <p:spPr>
            <a:xfrm>
              <a:off x="0" y="0"/>
              <a:ext cx="9144000" cy="1828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F7F3E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THANK YOU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9601200" y="7955280"/>
            <a:ext cx="7269480" cy="1371600"/>
            <a:chOff x="0" y="0"/>
            <a:chExt cx="9692640" cy="1828800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9692640" cy="1828800"/>
            </a:xfrm>
            <a:custGeom>
              <a:avLst/>
              <a:gdLst/>
              <a:ahLst/>
              <a:cxnLst/>
              <a:rect l="l" t="t" r="r" b="b"/>
              <a:pathLst>
                <a:path w="9692640" h="1828800">
                  <a:moveTo>
                    <a:pt x="0" y="0"/>
                  </a:moveTo>
                  <a:lnTo>
                    <a:pt x="9692640" y="0"/>
                  </a:lnTo>
                  <a:lnTo>
                    <a:pt x="96926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270" b="-53270"/>
              </a:stretch>
            </a:blipFill>
          </p:spPr>
        </p:sp>
        <p:sp>
          <p:nvSpPr>
            <p:cNvPr id="130" name="TextBox 130"/>
            <p:cNvSpPr txBox="1"/>
            <p:nvPr/>
          </p:nvSpPr>
          <p:spPr>
            <a:xfrm>
              <a:off x="0" y="0"/>
              <a:ext cx="9692640" cy="1828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3600"/>
                </a:lnSpc>
              </a:pPr>
              <a:r>
                <a:rPr lang="en-US" sz="3000" b="1">
                  <a:solidFill>
                    <a:srgbClr val="C8A9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Questions &amp; Discussion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1549</Words>
  <Application>Microsoft Office PowerPoint</Application>
  <PresentationFormat>Custom</PresentationFormat>
  <Paragraphs>570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Consolas Bold</vt:lpstr>
      <vt:lpstr>Aptos</vt:lpstr>
      <vt:lpstr>Consolas</vt:lpstr>
      <vt:lpstr>Calibri</vt:lpstr>
      <vt:lpstr>Aptos Bold</vt:lpstr>
      <vt:lpstr>Arial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Library_Management_System_Redesigned.pptx</dc:title>
  <dc:creator>Sujal</dc:creator>
  <cp:lastModifiedBy>Sujal Upadhyay</cp:lastModifiedBy>
  <cp:revision>2</cp:revision>
  <dcterms:created xsi:type="dcterms:W3CDTF">2006-08-16T00:00:00Z</dcterms:created>
  <dcterms:modified xsi:type="dcterms:W3CDTF">2026-10-08T17:51:53Z</dcterms:modified>
  <dc:identifier>DAHXbQxN4iU</dc:identifier>
</cp:coreProperties>
</file>